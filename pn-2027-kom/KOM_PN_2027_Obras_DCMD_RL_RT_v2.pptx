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3" r:id="rId5"/>
  </p:sldMasterIdLst>
  <p:notesMasterIdLst>
    <p:notesMasterId r:id="rId21"/>
  </p:notesMasterIdLst>
  <p:handoutMasterIdLst>
    <p:handoutMasterId r:id="rId22"/>
  </p:handoutMasterIdLst>
  <p:sldIdLst>
    <p:sldId id="257" r:id="rId6"/>
    <p:sldId id="266" r:id="rId7"/>
    <p:sldId id="281" r:id="rId8"/>
    <p:sldId id="267" r:id="rId9"/>
    <p:sldId id="275" r:id="rId10"/>
    <p:sldId id="282" r:id="rId11"/>
    <p:sldId id="269" r:id="rId12"/>
    <p:sldId id="270" r:id="rId13"/>
    <p:sldId id="264" r:id="rId14"/>
    <p:sldId id="276" r:id="rId15"/>
    <p:sldId id="277" r:id="rId16"/>
    <p:sldId id="278" r:id="rId17"/>
    <p:sldId id="279" r:id="rId18"/>
    <p:sldId id="280" r:id="rId19"/>
    <p:sldId id="263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4C"/>
    <a:srgbClr val="2444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D76A45-AA4C-4215-8148-0F357D8B6978}" v="11" dt="2026-10-29T02:12:25.1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4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oenai Aquino Antero" userId="4bf45897-19ac-464e-830f-ed4f3acd2300" providerId="ADAL" clId="{533903EB-207F-4771-BC19-463112F8E3AD}"/>
    <pc:docChg chg="undo custSel modSld">
      <pc:chgData name="Elioenai Aquino Antero" userId="4bf45897-19ac-464e-830f-ed4f3acd2300" providerId="ADAL" clId="{533903EB-207F-4771-BC19-463112F8E3AD}" dt="2026-10-22T14:11:15.677" v="12" actId="20577"/>
      <pc:docMkLst>
        <pc:docMk/>
      </pc:docMkLst>
      <pc:sldChg chg="modSp mod">
        <pc:chgData name="Elioenai Aquino Antero" userId="4bf45897-19ac-464e-830f-ed4f3acd2300" providerId="ADAL" clId="{533903EB-207F-4771-BC19-463112F8E3AD}" dt="2026-10-22T14:11:15.677" v="12" actId="20577"/>
        <pc:sldMkLst>
          <pc:docMk/>
          <pc:sldMk cId="0" sldId="257"/>
        </pc:sldMkLst>
        <pc:spChg chg="mod">
          <ac:chgData name="Elioenai Aquino Antero" userId="4bf45897-19ac-464e-830f-ed4f3acd2300" providerId="ADAL" clId="{533903EB-207F-4771-BC19-463112F8E3AD}" dt="2026-10-22T14:11:15.677" v="12" actId="20577"/>
          <ac:spMkLst>
            <pc:docMk/>
            <pc:sldMk cId="0" sldId="257"/>
            <ac:spMk id="10" creationId="{00000000-0000-0000-0000-000000000000}"/>
          </ac:spMkLst>
        </pc:spChg>
      </pc:sldChg>
    </pc:docChg>
  </pc:docChgLst>
  <pc:docChgLst>
    <pc:chgData name="Sandro Padilha Dias Junior" userId="ed069124-e7da-47f4-b3ce-cd72a7f01ef8" providerId="ADAL" clId="{323C681B-8084-48AB-B293-C3000E6552A1}"/>
    <pc:docChg chg="addSld delSld modSld sldOrd">
      <pc:chgData name="Sandro Padilha Dias Junior" userId="ed069124-e7da-47f4-b3ce-cd72a7f01ef8" providerId="ADAL" clId="{323C681B-8084-48AB-B293-C3000E6552A1}" dt="2026-10-29T02:13:44.215" v="68"/>
      <pc:docMkLst>
        <pc:docMk/>
      </pc:docMkLst>
      <pc:sldChg chg="modSp mod">
        <pc:chgData name="Sandro Padilha Dias Junior" userId="ed069124-e7da-47f4-b3ce-cd72a7f01ef8" providerId="ADAL" clId="{323C681B-8084-48AB-B293-C3000E6552A1}" dt="2026-10-29T01:24:30.366" v="42" actId="403"/>
        <pc:sldMkLst>
          <pc:docMk/>
          <pc:sldMk cId="0" sldId="257"/>
        </pc:sldMkLst>
        <pc:spChg chg="mod">
          <ac:chgData name="Sandro Padilha Dias Junior" userId="ed069124-e7da-47f4-b3ce-cd72a7f01ef8" providerId="ADAL" clId="{323C681B-8084-48AB-B293-C3000E6552A1}" dt="2026-10-29T01:24:30.366" v="42" actId="403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1:22:02.410" v="20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1:22:34.562" v="30" actId="20577"/>
          <ac:spMkLst>
            <pc:docMk/>
            <pc:sldMk cId="0" sldId="257"/>
            <ac:spMk id="27" creationId="{00000000-0000-0000-0000-000000000000}"/>
          </ac:spMkLst>
        </pc:spChg>
      </pc:sldChg>
      <pc:sldChg chg="modSp mod">
        <pc:chgData name="Sandro Padilha Dias Junior" userId="ed069124-e7da-47f4-b3ce-cd72a7f01ef8" providerId="ADAL" clId="{323C681B-8084-48AB-B293-C3000E6552A1}" dt="2026-10-29T02:09:00.812" v="65" actId="403"/>
        <pc:sldMkLst>
          <pc:docMk/>
          <pc:sldMk cId="1748868728" sldId="264"/>
        </pc:sldMkLst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32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39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46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60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74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81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95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102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109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116" creationId="{00000000-0000-0000-0000-000000000000}"/>
          </ac:spMkLst>
        </pc:spChg>
      </pc:sldChg>
      <pc:sldChg chg="modSp mod">
        <pc:chgData name="Sandro Padilha Dias Junior" userId="ed069124-e7da-47f4-b3ce-cd72a7f01ef8" providerId="ADAL" clId="{323C681B-8084-48AB-B293-C3000E6552A1}" dt="2026-10-29T01:27:36.040" v="53" actId="20577"/>
        <pc:sldMkLst>
          <pc:docMk/>
          <pc:sldMk cId="1796060300" sldId="266"/>
        </pc:sldMkLst>
        <pc:spChg chg="mod">
          <ac:chgData name="Sandro Padilha Dias Junior" userId="ed069124-e7da-47f4-b3ce-cd72a7f01ef8" providerId="ADAL" clId="{323C681B-8084-48AB-B293-C3000E6552A1}" dt="2026-10-29T01:25:24.268" v="45"/>
          <ac:spMkLst>
            <pc:docMk/>
            <pc:sldMk cId="1796060300" sldId="266"/>
            <ac:spMk id="10" creationId="{86DCA0B6-2EA3-4735-A929-EE5F974EE69F}"/>
          </ac:spMkLst>
        </pc:spChg>
        <pc:spChg chg="mod">
          <ac:chgData name="Sandro Padilha Dias Junior" userId="ed069124-e7da-47f4-b3ce-cd72a7f01ef8" providerId="ADAL" clId="{323C681B-8084-48AB-B293-C3000E6552A1}" dt="2026-10-29T01:25:44.657" v="49"/>
          <ac:spMkLst>
            <pc:docMk/>
            <pc:sldMk cId="1796060300" sldId="266"/>
            <ac:spMk id="11" creationId="{514081F1-6B01-E4F2-49F8-8C457A834131}"/>
          </ac:spMkLst>
        </pc:spChg>
        <pc:spChg chg="mod">
          <ac:chgData name="Sandro Padilha Dias Junior" userId="ed069124-e7da-47f4-b3ce-cd72a7f01ef8" providerId="ADAL" clId="{323C681B-8084-48AB-B293-C3000E6552A1}" dt="2026-10-29T01:26:04.385" v="52" actId="20577"/>
          <ac:spMkLst>
            <pc:docMk/>
            <pc:sldMk cId="1796060300" sldId="266"/>
            <ac:spMk id="20" creationId="{5244F07B-5E2E-F279-125D-C852056182E0}"/>
          </ac:spMkLst>
        </pc:spChg>
        <pc:spChg chg="mod">
          <ac:chgData name="Sandro Padilha Dias Junior" userId="ed069124-e7da-47f4-b3ce-cd72a7f01ef8" providerId="ADAL" clId="{323C681B-8084-48AB-B293-C3000E6552A1}" dt="2026-10-29T01:27:36.040" v="53" actId="20577"/>
          <ac:spMkLst>
            <pc:docMk/>
            <pc:sldMk cId="1796060300" sldId="266"/>
            <ac:spMk id="25" creationId="{77C0C3D5-11D0-54C1-2D52-E069C1D21F67}"/>
          </ac:spMkLst>
        </pc:spChg>
      </pc:sldChg>
      <pc:sldChg chg="add">
        <pc:chgData name="Sandro Padilha Dias Junior" userId="ed069124-e7da-47f4-b3ce-cd72a7f01ef8" providerId="ADAL" clId="{323C681B-8084-48AB-B293-C3000E6552A1}" dt="2026-10-29T02:12:25.167" v="66"/>
        <pc:sldMkLst>
          <pc:docMk/>
          <pc:sldMk cId="2526851422" sldId="267"/>
        </pc:sldMkLst>
      </pc:sldChg>
      <pc:sldChg chg="del">
        <pc:chgData name="Sandro Padilha Dias Junior" userId="ed069124-e7da-47f4-b3ce-cd72a7f01ef8" providerId="ADAL" clId="{323C681B-8084-48AB-B293-C3000E6552A1}" dt="2026-10-29T02:07:36.789" v="64" actId="47"/>
        <pc:sldMkLst>
          <pc:docMk/>
          <pc:sldMk cId="1460311017" sldId="273"/>
        </pc:sldMkLst>
      </pc:sldChg>
      <pc:sldChg chg="del">
        <pc:chgData name="Sandro Padilha Dias Junior" userId="ed069124-e7da-47f4-b3ce-cd72a7f01ef8" providerId="ADAL" clId="{323C681B-8084-48AB-B293-C3000E6552A1}" dt="2026-10-29T02:07:16.715" v="62" actId="47"/>
        <pc:sldMkLst>
          <pc:docMk/>
          <pc:sldMk cId="0" sldId="274"/>
        </pc:sldMkLst>
      </pc:sldChg>
      <pc:sldChg chg="ord">
        <pc:chgData name="Sandro Padilha Dias Junior" userId="ed069124-e7da-47f4-b3ce-cd72a7f01ef8" providerId="ADAL" clId="{323C681B-8084-48AB-B293-C3000E6552A1}" dt="2026-10-29T02:13:44.215" v="68"/>
        <pc:sldMkLst>
          <pc:docMk/>
          <pc:sldMk cId="0" sldId="275"/>
        </pc:sldMkLst>
      </pc:sldChg>
      <pc:sldChg chg="modSp add mod">
        <pc:chgData name="Sandro Padilha Dias Junior" userId="ed069124-e7da-47f4-b3ce-cd72a7f01ef8" providerId="ADAL" clId="{323C681B-8084-48AB-B293-C3000E6552A1}" dt="2026-10-29T02:06:57.165" v="61" actId="14100"/>
        <pc:sldMkLst>
          <pc:docMk/>
          <pc:sldMk cId="2783556291" sldId="281"/>
        </pc:sldMkLst>
        <pc:graphicFrameChg chg="mod modGraphic">
          <ac:chgData name="Sandro Padilha Dias Junior" userId="ed069124-e7da-47f4-b3ce-cd72a7f01ef8" providerId="ADAL" clId="{323C681B-8084-48AB-B293-C3000E6552A1}" dt="2026-10-29T02:06:57.165" v="61" actId="14100"/>
          <ac:graphicFrameMkLst>
            <pc:docMk/>
            <pc:sldMk cId="2783556291" sldId="281"/>
            <ac:graphicFrameMk id="9" creationId="{00000000-0000-0000-0000-000000000000}"/>
          </ac:graphicFrameMkLst>
        </pc:graphicFrameChg>
      </pc:sldChg>
      <pc:sldChg chg="add">
        <pc:chgData name="Sandro Padilha Dias Junior" userId="ed069124-e7da-47f4-b3ce-cd72a7f01ef8" providerId="ADAL" clId="{323C681B-8084-48AB-B293-C3000E6552A1}" dt="2026-10-29T02:07:29.840" v="63"/>
        <pc:sldMkLst>
          <pc:docMk/>
          <pc:sldMk cId="3190876415" sldId="282"/>
        </pc:sldMkLst>
      </pc:sldChg>
    </pc:docChg>
  </pc:docChgLst>
  <pc:docChgLst>
    <pc:chgData name="Jocileide Rodrigues Dias" userId="1b476cd8-4057-464a-b104-bbab1955e3e0" providerId="ADAL" clId="{039C79BD-B19D-4334-ABA0-7AF91C6D5A59}"/>
    <pc:docChg chg="undo custSel addSld modSld sldOrd">
      <pc:chgData name="Jocileide Rodrigues Dias" userId="1b476cd8-4057-464a-b104-bbab1955e3e0" providerId="ADAL" clId="{039C79BD-B19D-4334-ABA0-7AF91C6D5A59}" dt="2026-10-22T17:23:37.793" v="1237" actId="20577"/>
      <pc:docMkLst>
        <pc:docMk/>
      </pc:docMkLst>
      <pc:sldChg chg="addSp modSp mod">
        <pc:chgData name="Jocileide Rodrigues Dias" userId="1b476cd8-4057-464a-b104-bbab1955e3e0" providerId="ADAL" clId="{039C79BD-B19D-4334-ABA0-7AF91C6D5A59}" dt="2026-10-14T17:14:53.611" v="988" actId="14100"/>
        <pc:sldMkLst>
          <pc:docMk/>
          <pc:sldMk cId="0" sldId="257"/>
        </pc:sldMkLst>
        <pc:spChg chg="mod">
          <ac:chgData name="Jocileide Rodrigues Dias" userId="1b476cd8-4057-464a-b104-bbab1955e3e0" providerId="ADAL" clId="{039C79BD-B19D-4334-ABA0-7AF91C6D5A59}" dt="2026-10-14T17:09:22.529" v="724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Jocileide Rodrigues Dias" userId="1b476cd8-4057-464a-b104-bbab1955e3e0" providerId="ADAL" clId="{039C79BD-B19D-4334-ABA0-7AF91C6D5A59}" dt="2026-10-14T16:59:47.143" v="34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Jocileide Rodrigues Dias" userId="1b476cd8-4057-464a-b104-bbab1955e3e0" providerId="ADAL" clId="{039C79BD-B19D-4334-ABA0-7AF91C6D5A59}" dt="2026-10-14T16:59:52.593" v="44" actId="20577"/>
          <ac:spMkLst>
            <pc:docMk/>
            <pc:sldMk cId="0" sldId="257"/>
            <ac:spMk id="19" creationId="{00000000-0000-0000-0000-000000000000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14T17:15:48.493" v="1012" actId="1076"/>
        <pc:sldMkLst>
          <pc:docMk/>
          <pc:sldMk cId="0" sldId="263"/>
        </pc:sldMkLst>
        <pc:spChg chg="add del mod">
          <ac:chgData name="Jocileide Rodrigues Dias" userId="1b476cd8-4057-464a-b104-bbab1955e3e0" providerId="ADAL" clId="{039C79BD-B19D-4334-ABA0-7AF91C6D5A59}" dt="2026-10-14T17:09:07.182" v="722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Jocileide Rodrigues Dias" userId="1b476cd8-4057-464a-b104-bbab1955e3e0" providerId="ADAL" clId="{039C79BD-B19D-4334-ABA0-7AF91C6D5A59}" dt="2026-10-14T17:08:41.519" v="678" actId="20577"/>
          <ac:spMkLst>
            <pc:docMk/>
            <pc:sldMk cId="0" sldId="263"/>
            <ac:spMk id="14" creationId="{00000000-0000-0000-0000-000000000000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14T17:15:39.692" v="1009" actId="22"/>
        <pc:sldMkLst>
          <pc:docMk/>
          <pc:sldMk cId="1748868728" sldId="264"/>
        </pc:sldMkLst>
        <pc:spChg chg="mod">
          <ac:chgData name="Jocileide Rodrigues Dias" userId="1b476cd8-4057-464a-b104-bbab1955e3e0" providerId="ADAL" clId="{039C79BD-B19D-4334-ABA0-7AF91C6D5A59}" dt="2026-10-14T17:06:14.385" v="578" actId="20577"/>
          <ac:spMkLst>
            <pc:docMk/>
            <pc:sldMk cId="1748868728" sldId="264"/>
            <ac:spMk id="6" creationId="{BBAC4CB0-69CB-452A-4A56-4E4A151CF2C1}"/>
          </ac:spMkLst>
        </pc:spChg>
        <pc:spChg chg="mod">
          <ac:chgData name="Jocileide Rodrigues Dias" userId="1b476cd8-4057-464a-b104-bbab1955e3e0" providerId="ADAL" clId="{039C79BD-B19D-4334-ABA0-7AF91C6D5A59}" dt="2026-10-14T17:05:36.380" v="554" actId="20577"/>
          <ac:spMkLst>
            <pc:docMk/>
            <pc:sldMk cId="1748868728" sldId="264"/>
            <ac:spMk id="7" creationId="{50824C48-A21F-0B29-3A2A-0036E3CE3299}"/>
          </ac:spMkLst>
        </pc:spChg>
        <pc:spChg chg="mod">
          <ac:chgData name="Jocileide Rodrigues Dias" userId="1b476cd8-4057-464a-b104-bbab1955e3e0" providerId="ADAL" clId="{039C79BD-B19D-4334-ABA0-7AF91C6D5A59}" dt="2026-10-14T17:05:21.357" v="523" actId="20577"/>
          <ac:spMkLst>
            <pc:docMk/>
            <pc:sldMk cId="1748868728" sldId="264"/>
            <ac:spMk id="8" creationId="{8F7B4335-BE0B-DF62-CED3-FA23D73E207F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14T17:15:07.386" v="995" actId="1076"/>
        <pc:sldMkLst>
          <pc:docMk/>
          <pc:sldMk cId="1796060300" sldId="266"/>
        </pc:sldMkLst>
        <pc:spChg chg="mod">
          <ac:chgData name="Jocileide Rodrigues Dias" userId="1b476cd8-4057-464a-b104-bbab1955e3e0" providerId="ADAL" clId="{039C79BD-B19D-4334-ABA0-7AF91C6D5A59}" dt="2026-10-14T17:09:35.319" v="756" actId="20577"/>
          <ac:spMkLst>
            <pc:docMk/>
            <pc:sldMk cId="1796060300" sldId="266"/>
            <ac:spMk id="7" creationId="{1037B04D-E3AA-A765-045D-C55C25CDC1C2}"/>
          </ac:spMkLst>
        </pc:spChg>
        <pc:spChg chg="mod">
          <ac:chgData name="Jocileide Rodrigues Dias" userId="1b476cd8-4057-464a-b104-bbab1955e3e0" providerId="ADAL" clId="{039C79BD-B19D-4334-ABA0-7AF91C6D5A59}" dt="2026-10-14T17:12:10.553" v="803" actId="20577"/>
          <ac:spMkLst>
            <pc:docMk/>
            <pc:sldMk cId="1796060300" sldId="266"/>
            <ac:spMk id="10" creationId="{86DCA0B6-2EA3-4735-A929-EE5F974EE69F}"/>
          </ac:spMkLst>
        </pc:spChg>
        <pc:spChg chg="mod">
          <ac:chgData name="Jocileide Rodrigues Dias" userId="1b476cd8-4057-464a-b104-bbab1955e3e0" providerId="ADAL" clId="{039C79BD-B19D-4334-ABA0-7AF91C6D5A59}" dt="2026-10-14T17:11:50.902" v="780" actId="20577"/>
          <ac:spMkLst>
            <pc:docMk/>
            <pc:sldMk cId="1796060300" sldId="266"/>
            <ac:spMk id="11" creationId="{514081F1-6B01-E4F2-49F8-8C457A834131}"/>
          </ac:spMkLst>
        </pc:spChg>
        <pc:spChg chg="mod">
          <ac:chgData name="Jocileide Rodrigues Dias" userId="1b476cd8-4057-464a-b104-bbab1955e3e0" providerId="ADAL" clId="{039C79BD-B19D-4334-ABA0-7AF91C6D5A59}" dt="2026-10-14T17:08:05.431" v="658" actId="20577"/>
          <ac:spMkLst>
            <pc:docMk/>
            <pc:sldMk cId="1796060300" sldId="266"/>
            <ac:spMk id="14" creationId="{5C268436-8097-4732-1F20-97860D124A91}"/>
          </ac:spMkLst>
        </pc:spChg>
        <pc:spChg chg="mod">
          <ac:chgData name="Jocileide Rodrigues Dias" userId="1b476cd8-4057-464a-b104-bbab1955e3e0" providerId="ADAL" clId="{039C79BD-B19D-4334-ABA0-7AF91C6D5A59}" dt="2026-10-14T17:08:11.372" v="659" actId="113"/>
          <ac:spMkLst>
            <pc:docMk/>
            <pc:sldMk cId="1796060300" sldId="266"/>
            <ac:spMk id="20" creationId="{5244F07B-5E2E-F279-125D-C852056182E0}"/>
          </ac:spMkLst>
        </pc:spChg>
        <pc:spChg chg="mod">
          <ac:chgData name="Jocileide Rodrigues Dias" userId="1b476cd8-4057-464a-b104-bbab1955e3e0" providerId="ADAL" clId="{039C79BD-B19D-4334-ABA0-7AF91C6D5A59}" dt="2026-10-14T17:01:04.969" v="130" actId="20577"/>
          <ac:spMkLst>
            <pc:docMk/>
            <pc:sldMk cId="1796060300" sldId="266"/>
            <ac:spMk id="25" creationId="{77C0C3D5-11D0-54C1-2D52-E069C1D21F67}"/>
          </ac:spMkLst>
        </pc:spChg>
        <pc:spChg chg="add">
          <ac:chgData name="Jocileide Rodrigues Dias" userId="1b476cd8-4057-464a-b104-bbab1955e3e0" providerId="ADAL" clId="{039C79BD-B19D-4334-ABA0-7AF91C6D5A59}" dt="2026-10-14T17:09:47.962" v="758" actId="22"/>
          <ac:spMkLst>
            <pc:docMk/>
            <pc:sldMk cId="1796060300" sldId="266"/>
            <ac:spMk id="44" creationId="{A84019CF-0239-5AEB-188F-58D5DB1875B2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14T17:26:40.917" v="1078" actId="20577"/>
        <pc:sldMkLst>
          <pc:docMk/>
          <pc:sldMk cId="772740072" sldId="269"/>
        </pc:sldMkLst>
        <pc:spChg chg="mod">
          <ac:chgData name="Jocileide Rodrigues Dias" userId="1b476cd8-4057-464a-b104-bbab1955e3e0" providerId="ADAL" clId="{039C79BD-B19D-4334-ABA0-7AF91C6D5A59}" dt="2026-10-14T17:04:35.311" v="477" actId="20577"/>
          <ac:spMkLst>
            <pc:docMk/>
            <pc:sldMk cId="772740072" sldId="269"/>
            <ac:spMk id="4" creationId="{F81E71CF-89BA-30B3-477F-D2F80AF6F227}"/>
          </ac:spMkLst>
        </pc:spChg>
        <pc:spChg chg="add">
          <ac:chgData name="Jocileide Rodrigues Dias" userId="1b476cd8-4057-464a-b104-bbab1955e3e0" providerId="ADAL" clId="{039C79BD-B19D-4334-ABA0-7AF91C6D5A59}" dt="2026-10-14T17:05:49.211" v="558" actId="22"/>
          <ac:spMkLst>
            <pc:docMk/>
            <pc:sldMk cId="772740072" sldId="269"/>
            <ac:spMk id="51" creationId="{57A5C123-FC7F-9DB0-067A-7896B2CC5CEA}"/>
          </ac:spMkLst>
        </pc:spChg>
        <pc:spChg chg="add mod">
          <ac:chgData name="Jocileide Rodrigues Dias" userId="1b476cd8-4057-464a-b104-bbab1955e3e0" providerId="ADAL" clId="{039C79BD-B19D-4334-ABA0-7AF91C6D5A59}" dt="2026-10-14T17:26:20.394" v="1063" actId="20577"/>
          <ac:spMkLst>
            <pc:docMk/>
            <pc:sldMk cId="772740072" sldId="269"/>
            <ac:spMk id="57" creationId="{4178120F-E349-5A6B-8708-756E18C942A4}"/>
          </ac:spMkLst>
        </pc:spChg>
        <pc:spChg chg="add mod">
          <ac:chgData name="Jocileide Rodrigues Dias" userId="1b476cd8-4057-464a-b104-bbab1955e3e0" providerId="ADAL" clId="{039C79BD-B19D-4334-ABA0-7AF91C6D5A59}" dt="2026-10-14T17:26:40.917" v="1078" actId="20577"/>
          <ac:spMkLst>
            <pc:docMk/>
            <pc:sldMk cId="772740072" sldId="269"/>
            <ac:spMk id="59" creationId="{76DF6AAB-AB4C-4D83-ACDD-EB56789B7D6F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14T17:15:36.013" v="1008" actId="1076"/>
        <pc:sldMkLst>
          <pc:docMk/>
          <pc:sldMk cId="3976674021" sldId="270"/>
        </pc:sldMkLst>
        <pc:spChg chg="add mod">
          <ac:chgData name="Jocileide Rodrigues Dias" userId="1b476cd8-4057-464a-b104-bbab1955e3e0" providerId="ADAL" clId="{039C79BD-B19D-4334-ABA0-7AF91C6D5A59}" dt="2026-10-14T17:04:46.640" v="484" actId="20577"/>
          <ac:spMkLst>
            <pc:docMk/>
            <pc:sldMk cId="3976674021" sldId="270"/>
            <ac:spMk id="57" creationId="{E531366C-658E-41C2-1864-31F7B0B2EEEA}"/>
          </ac:spMkLst>
        </pc:spChg>
        <pc:spChg chg="add">
          <ac:chgData name="Jocileide Rodrigues Dias" userId="1b476cd8-4057-464a-b104-bbab1955e3e0" providerId="ADAL" clId="{039C79BD-B19D-4334-ABA0-7AF91C6D5A59}" dt="2026-10-14T17:05:45.304" v="556" actId="22"/>
          <ac:spMkLst>
            <pc:docMk/>
            <pc:sldMk cId="3976674021" sldId="270"/>
            <ac:spMk id="59" creationId="{8153AAE6-5FBE-B3C8-72C5-6B5318C75EAE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 sz="900" b="1">
                <a:solidFill>
                  <a:srgbClr val="1F1F4C"/>
                </a:solidFill>
                <a:latin typeface="DM Sans"/>
              </a:rPr>
              <a:t>Desembolso mensal 2027 (R$ mil)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Desembolso mensal (R$ mil)</c:v>
                </c:pt>
              </c:strCache>
            </c:strRef>
          </c:tx>
          <c:spPr>
            <a:solidFill>
              <a:srgbClr val="009FC2"/>
            </a:solidFill>
          </c:spPr>
          <c:invertIfNegative val="1"/>
          <c:dLbls>
            <c:numFmt formatCode="#,##0;;&quot;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4D4D4D"/>
                    </a:solidFill>
                    <a:latin typeface="DM San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122.1</c:v>
                </c:pt>
                <c:pt idx="1">
                  <c:v>855</c:v>
                </c:pt>
                <c:pt idx="2">
                  <c:v>1421.9</c:v>
                </c:pt>
                <c:pt idx="3">
                  <c:v>1386.7</c:v>
                </c:pt>
                <c:pt idx="4">
                  <c:v>710.5</c:v>
                </c:pt>
                <c:pt idx="5">
                  <c:v>384.7</c:v>
                </c:pt>
                <c:pt idx="6">
                  <c:v>345.9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77E-4F56-AFB7-205AA7870A4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800">
                <a:solidFill>
                  <a:srgbClr val="4D4D4D"/>
                </a:solidFill>
                <a:latin typeface="DM Sans"/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87B85EAC-CB96-888F-704D-306C5E5C55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ED3DCBC-CB79-2A81-8F7B-718D87D60B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757D8-F647-4AA4-89F0-71280EDA93C2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EAFEDE5-0EA6-B915-FB88-33DF0D7AE6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3E5C042-78BC-911C-CCB8-DFD7616A99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EC3EE2-C416-4D1C-B06E-2EF753D5DF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9589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F0C563-1A98-44EB-B8BB-BEFF5C7F3E1A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228AB-4BB1-43B1-A5EA-162F51C8BD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45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Riscos que ocorreram no projeto anterior (CM): acidente de trabalho, atraso de projetos/documentos, atraso na execução, comissionamento, abandono de contrato. Novos riscos incorporados das lições: local/aterramento/autorização, cancelamento de desligamentos, laudos/homologação/EO-TS, lead time e rateio. Ver notas do slide 7.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228AB-4BB1-43B1-A5EA-162F51C8BDF2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1203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Base: Lições Aprendidas até 2025 + CM Obras de Distribuição Centro, Norte e Sul.</a:t>
            </a:r>
          </a:p>
          <a:p>
            <a:r>
              <a:t>- PMA/lead time/almoxarifado: ESE 2020 Instalação de Religadores; ESS 2021 Reguladores; ETO Obras Dist. Regional Sul/Centro 2020 (atraso de equipamentos especiais 34,5 kV).</a:t>
            </a:r>
          </a:p>
          <a:p>
            <a:r>
              <a:t>- Margem de 10% p/ rateio e impostos; kit de periféricos: ETO DEOP 2024-09 Aquisição e Instalação de Equipamentos Especiais.</a:t>
            </a:r>
          </a:p>
          <a:p>
            <a:r>
              <a:t>- Local/aterramento/passagem/GPRS: ETO DCMD 2024-01 e 2024-03; 2019 Sul; ESS 2021 Reguladores (DER, GPRS).</a:t>
            </a:r>
          </a:p>
          <a:p>
            <a:r>
              <a:t>- Homologação e laudos: ETO DEOP 2024-09 (Vacufuse); DCMD 2024-01/03 (laudos).</a:t>
            </a:r>
          </a:p>
          <a:p>
            <a:r>
              <a:t>- Capacidade da empreiteira, substituição, multa: ETO DCMD 2021-022, 2022-012/014, 2023-07/08; CM: encerramento de contrato de empreiteiras.</a:t>
            </a:r>
          </a:p>
          <a:p>
            <a:r>
              <a:t>- Medição pelas O.S.: EMT 2017 Instalação de Religadores.</a:t>
            </a:r>
          </a:p>
          <a:p>
            <a:r>
              <a:t>- Inventário e encerramento: ESE 2020; ETO DCMD 2019-009 (contábil até novembro).</a:t>
            </a:r>
          </a:p>
          <a:p>
            <a:r>
              <a:t>- Desligamentos: ETO DCMD 2022-012/013 (cancelamentos); CM: viabilidade de desligamento (atraso de 90 dias).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esenho de um círculo&#10;&#10;O conteúdo gerado por IA pode estar incorreto.">
            <a:extLst>
              <a:ext uri="{FF2B5EF4-FFF2-40B4-BE49-F238E27FC236}">
                <a16:creationId xmlns:a16="http://schemas.microsoft.com/office/drawing/2014/main" id="{34270DB8-0503-3897-1007-0CF6155084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pic>
        <p:nvPicPr>
          <p:cNvPr id="2" name="Imagem 1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7079F1FD-65F2-FE6F-C220-604FEF0883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70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713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Forma&#10;&#10;O conteúdo gerado por IA pode estar incorreto.">
            <a:extLst>
              <a:ext uri="{FF2B5EF4-FFF2-40B4-BE49-F238E27FC236}">
                <a16:creationId xmlns:a16="http://schemas.microsoft.com/office/drawing/2014/main" id="{9A5AB256-5C22-9959-9687-895B709FD4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15E146A-D0E2-EB12-7C02-DF05ADC6E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0" y="557982"/>
            <a:ext cx="10478729" cy="744345"/>
          </a:xfrm>
          <a:prstGeom prst="rect">
            <a:avLst/>
          </a:prstGeom>
        </p:spPr>
        <p:txBody>
          <a:bodyPr anchor="b"/>
          <a:lstStyle>
            <a:lvl1pPr algn="l">
              <a:defRPr sz="4800" b="1">
                <a:solidFill>
                  <a:srgbClr val="1F1F4C"/>
                </a:solidFill>
                <a:latin typeface="DM Sans" pitchFamily="2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164C42-6287-1F7B-00CB-F0C0DE678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5071" y="1406014"/>
            <a:ext cx="10478729" cy="385178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>
                <a:solidFill>
                  <a:srgbClr val="1F1F4C"/>
                </a:solidFill>
                <a:latin typeface="DM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236370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Forma&#10;&#10;O conteúdo gerado por IA pode estar incorreto.">
            <a:extLst>
              <a:ext uri="{FF2B5EF4-FFF2-40B4-BE49-F238E27FC236}">
                <a16:creationId xmlns:a16="http://schemas.microsoft.com/office/drawing/2014/main" id="{35750F48-93E1-C485-1D16-2FEAE02F08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72B985-DEE9-63CF-B160-D8D5B78A8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071" y="1406014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1F1F4C"/>
                </a:solidFill>
                <a:latin typeface="DM Sans" pitchFamily="2" charset="0"/>
              </a:defRPr>
            </a:lvl1pPr>
            <a:lvl2pPr>
              <a:defRPr sz="1800">
                <a:solidFill>
                  <a:srgbClr val="1F1F4C"/>
                </a:solidFill>
                <a:latin typeface="DM Sans" pitchFamily="2" charset="0"/>
              </a:defRPr>
            </a:lvl2pPr>
            <a:lvl3pPr>
              <a:defRPr sz="1800">
                <a:solidFill>
                  <a:srgbClr val="1F1F4C"/>
                </a:solidFill>
                <a:latin typeface="DM Sans" pitchFamily="2" charset="0"/>
              </a:defRPr>
            </a:lvl3pPr>
            <a:lvl4pPr>
              <a:defRPr sz="1800">
                <a:solidFill>
                  <a:srgbClr val="1F1F4C"/>
                </a:solidFill>
                <a:latin typeface="DM Sans" pitchFamily="2" charset="0"/>
              </a:defRPr>
            </a:lvl4pPr>
            <a:lvl5pPr>
              <a:defRPr sz="1800">
                <a:solidFill>
                  <a:srgbClr val="1F1F4C"/>
                </a:solidFill>
                <a:latin typeface="DM Sans" pitchFamily="2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45D52482-D8B5-458B-F167-A1F0FF136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071" y="557983"/>
            <a:ext cx="10515600" cy="848032"/>
          </a:xfrm>
          <a:prstGeom prst="rect">
            <a:avLst/>
          </a:prstGeom>
        </p:spPr>
        <p:txBody>
          <a:bodyPr/>
          <a:lstStyle>
            <a:lvl1pPr>
              <a:defRPr lang="pt-BR" sz="4800" b="1" dirty="0">
                <a:solidFill>
                  <a:srgbClr val="1F1F4C"/>
                </a:solidFill>
                <a:latin typeface="DM Sans" pitchFamily="2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56017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3422563-A520-F9E6-E370-0703979E3D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785"/>
            <a:ext cx="12191999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412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nto – forma">
            <a:extLst>
              <a:ext uri="{FF2B5EF4-FFF2-40B4-BE49-F238E27FC236}">
                <a16:creationId xmlns:a16="http://schemas.microsoft.com/office/drawing/2014/main" id="{892B5431-8425-F44D-483E-AEE258C91DFB}"/>
              </a:ext>
            </a:extLst>
          </p:cNvPr>
          <p:cNvSpPr/>
          <p:nvPr userDrawn="1"/>
        </p:nvSpPr>
        <p:spPr>
          <a:xfrm>
            <a:off x="11109960" y="-502920"/>
            <a:ext cx="1645920" cy="1325880"/>
          </a:xfrm>
          <a:prstGeom prst="round2DiagRect">
            <a:avLst>
              <a:gd name="adj1" fmla="val 45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nto – esfera">
            <a:extLst>
              <a:ext uri="{FF2B5EF4-FFF2-40B4-BE49-F238E27FC236}">
                <a16:creationId xmlns:a16="http://schemas.microsoft.com/office/drawing/2014/main" id="{62CF1D09-6C72-99C4-69BD-061BF287FE72}"/>
              </a:ext>
            </a:extLst>
          </p:cNvPr>
          <p:cNvSpPr/>
          <p:nvPr userDrawn="1"/>
        </p:nvSpPr>
        <p:spPr>
          <a:xfrm>
            <a:off x="11750040" y="320040"/>
            <a:ext cx="822960" cy="822960"/>
          </a:xfrm>
          <a:prstGeom prst="ellipse">
            <a:avLst/>
          </a:prstGeom>
          <a:gradFill rotWithShape="1">
            <a:gsLst>
              <a:gs pos="0">
                <a:srgbClr val="009FC2"/>
              </a:gs>
              <a:gs pos="100000">
                <a:srgbClr val="B5E6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nto – arco">
            <a:extLst>
              <a:ext uri="{FF2B5EF4-FFF2-40B4-BE49-F238E27FC236}">
                <a16:creationId xmlns:a16="http://schemas.microsoft.com/office/drawing/2014/main" id="{F51D8F3B-9606-480D-41B0-6D0087FE8B51}"/>
              </a:ext>
            </a:extLst>
          </p:cNvPr>
          <p:cNvSpPr/>
          <p:nvPr userDrawn="1"/>
        </p:nvSpPr>
        <p:spPr>
          <a:xfrm>
            <a:off x="10561320" y="-1280160"/>
            <a:ext cx="2651760" cy="2651760"/>
          </a:xfrm>
          <a:prstGeom prst="arc">
            <a:avLst>
              <a:gd name="adj1" fmla="val 9000000"/>
              <a:gd name="adj2" fmla="val 18000000"/>
            </a:avLst>
          </a:prstGeom>
          <a:noFill/>
          <a:ln w="15875">
            <a:solidFill>
              <a:srgbClr val="F47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Logo Energisa" descr="logo.png">
            <a:extLst>
              <a:ext uri="{FF2B5EF4-FFF2-40B4-BE49-F238E27FC236}">
                <a16:creationId xmlns:a16="http://schemas.microsoft.com/office/drawing/2014/main" id="{DB0F9A41-0FB3-1023-3196-BA31112591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0192" y="6351905"/>
            <a:ext cx="1143000" cy="37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419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 Energisa" descr="logo.png">
            <a:extLst>
              <a:ext uri="{FF2B5EF4-FFF2-40B4-BE49-F238E27FC236}">
                <a16:creationId xmlns:a16="http://schemas.microsoft.com/office/drawing/2014/main" id="{09D2A2BF-2BBA-982F-01CD-3FB693660B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35468" y="158139"/>
            <a:ext cx="1143000" cy="37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920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F5EFABC3-A164-4C24-78C1-54FF6360BF3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84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0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696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e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pa – fu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9E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58368" y="1783080"/>
            <a:ext cx="6217920" cy="1920240"/>
          </a:xfrm>
        </p:spPr>
        <p:txBody>
          <a:bodyPr wrap="square" lIns="0" tIns="0" rIns="0" bIns="0" anchor="t"/>
          <a:lstStyle/>
          <a:p>
            <a:pPr>
              <a:lnSpc>
                <a:spcPct val="88000"/>
              </a:lnSpc>
            </a:pPr>
            <a:r>
              <a:rPr sz="7200" b="1" i="0" spc="-100" dirty="0">
                <a:solidFill>
                  <a:srgbClr val="1F1F4C"/>
                </a:solidFill>
                <a:latin typeface="DM Sans"/>
              </a:rPr>
              <a:t>KICKOFF</a:t>
            </a:r>
          </a:p>
          <a:p>
            <a:pPr>
              <a:lnSpc>
                <a:spcPct val="88000"/>
              </a:lnSpc>
            </a:pPr>
            <a:r>
              <a:rPr sz="7200" b="1" i="0" spc="-100" dirty="0">
                <a:solidFill>
                  <a:srgbClr val="F47B20"/>
                </a:solidFill>
                <a:latin typeface="DM Sans"/>
              </a:rPr>
              <a:t>MEETING</a:t>
            </a:r>
          </a:p>
        </p:txBody>
      </p:sp>
      <p:sp>
        <p:nvSpPr>
          <p:cNvPr id="5" name="Capa – módulo navy"/>
          <p:cNvSpPr/>
          <p:nvPr/>
        </p:nvSpPr>
        <p:spPr>
          <a:xfrm>
            <a:off x="7635240" y="685800"/>
            <a:ext cx="4343400" cy="6172200"/>
          </a:xfrm>
          <a:prstGeom prst="round2DiagRect">
            <a:avLst>
              <a:gd name="adj1" fmla="val 32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Capa – foto" descr="cover_photo.jpg"/>
          <p:cNvPicPr>
            <a:picLocks noChangeAspect="1"/>
          </p:cNvPicPr>
          <p:nvPr/>
        </p:nvPicPr>
        <p:blipFill>
          <a:blip r:embed="rId2"/>
          <a:srcRect l="2438" r="2438"/>
          <a:stretch>
            <a:fillRect/>
          </a:stretch>
        </p:blipFill>
        <p:spPr>
          <a:xfrm>
            <a:off x="7178040" y="320040"/>
            <a:ext cx="4434840" cy="5989320"/>
          </a:xfrm>
          <a:prstGeom prst="round2DiagRect">
            <a:avLst>
              <a:gd name="adj1" fmla="val 32000"/>
              <a:gd name="adj2" fmla="val 0"/>
            </a:avLst>
          </a:prstGeom>
        </p:spPr>
      </p:pic>
      <p:sp>
        <p:nvSpPr>
          <p:cNvPr id="7" name="Capa – esfera gradiente"/>
          <p:cNvSpPr/>
          <p:nvPr/>
        </p:nvSpPr>
        <p:spPr>
          <a:xfrm>
            <a:off x="11201400" y="5440680"/>
            <a:ext cx="1554480" cy="1554480"/>
          </a:xfrm>
          <a:prstGeom prst="ellipse">
            <a:avLst/>
          </a:prstGeom>
          <a:gradFill rotWithShape="1">
            <a:gsLst>
              <a:gs pos="0">
                <a:srgbClr val="009FC2"/>
              </a:gs>
              <a:gs pos="100000">
                <a:srgbClr val="B5E6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pa – selo projeto"/>
          <p:cNvSpPr/>
          <p:nvPr/>
        </p:nvSpPr>
        <p:spPr>
          <a:xfrm>
            <a:off x="6720840" y="4572000"/>
            <a:ext cx="2514600" cy="1371600"/>
          </a:xfrm>
          <a:prstGeom prst="roundRect">
            <a:avLst>
              <a:gd name="adj" fmla="val 18000"/>
            </a:avLst>
          </a:prstGeom>
          <a:solidFill>
            <a:srgbClr val="1F1F4C"/>
          </a:solidFill>
          <a:ln>
            <a:noFill/>
          </a:ln>
          <a:effectLst>
            <a:outerShdw blurRad="228600" dist="50800" dir="5400000" algn="t" rotWithShape="0">
              <a:srgbClr val="1F1F4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elo rótulo"/>
          <p:cNvSpPr txBox="1"/>
          <p:nvPr/>
        </p:nvSpPr>
        <p:spPr>
          <a:xfrm>
            <a:off x="6949440" y="4727448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DBFF"/>
                </a:solidFill>
                <a:latin typeface="DM Sans"/>
              </a:rPr>
              <a:t>PROJETO</a:t>
            </a:r>
          </a:p>
        </p:txBody>
      </p:sp>
      <p:sp>
        <p:nvSpPr>
          <p:cNvPr id="10" name="Selo código"/>
          <p:cNvSpPr txBox="1"/>
          <p:nvPr/>
        </p:nvSpPr>
        <p:spPr>
          <a:xfrm>
            <a:off x="6949440" y="4910328"/>
            <a:ext cx="210312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dirty="0">
                <a:solidFill>
                  <a:srgbClr val="FFFFFF"/>
                </a:solidFill>
                <a:latin typeface="DM Sans"/>
              </a:rPr>
              <a:t>90811, 91979, 92118, 89267, 92094, 92095, 92101, 92102, 70838, 70978, 89249 e 89307</a:t>
            </a:r>
            <a:endParaRPr sz="1400" b="1" i="0" dirty="0">
              <a:solidFill>
                <a:srgbClr val="FFFFFF"/>
              </a:solidFill>
              <a:latin typeface="DM Sans"/>
            </a:endParaRPr>
          </a:p>
        </p:txBody>
      </p:sp>
      <p:pic>
        <p:nvPicPr>
          <p:cNvPr id="12" name="Logo Energisa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1600200" cy="520954"/>
          </a:xfrm>
          <a:prstGeom prst="rect">
            <a:avLst/>
          </a:prstGeom>
        </p:spPr>
      </p:pic>
      <p:cxnSp>
        <p:nvCxnSpPr>
          <p:cNvPr id="13" name="Capa – linha"/>
          <p:cNvCxnSpPr/>
          <p:nvPr/>
        </p:nvCxnSpPr>
        <p:spPr>
          <a:xfrm>
            <a:off x="685800" y="3886200"/>
            <a:ext cx="2240280" cy="0"/>
          </a:xfrm>
          <a:prstGeom prst="line">
            <a:avLst/>
          </a:prstGeom>
          <a:ln w="19050">
            <a:solidFill>
              <a:srgbClr val="F47B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pa – ponto"/>
          <p:cNvSpPr/>
          <p:nvPr/>
        </p:nvSpPr>
        <p:spPr>
          <a:xfrm>
            <a:off x="2880360" y="3840480"/>
            <a:ext cx="91440" cy="91440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pa – projeto"/>
          <p:cNvSpPr txBox="1"/>
          <p:nvPr/>
        </p:nvSpPr>
        <p:spPr>
          <a:xfrm>
            <a:off x="700888" y="4419671"/>
            <a:ext cx="57607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dirty="0">
                <a:solidFill>
                  <a:srgbClr val="006199"/>
                </a:solidFill>
                <a:latin typeface="DM Sans"/>
              </a:rPr>
              <a:t>Aquisição e Instalação de RL, RT e </a:t>
            </a:r>
            <a:r>
              <a:rPr lang="pt-BR" sz="2000" b="1" i="0" dirty="0" err="1">
                <a:solidFill>
                  <a:srgbClr val="006199"/>
                </a:solidFill>
                <a:latin typeface="DM Sans"/>
              </a:rPr>
              <a:t>TripSaver</a:t>
            </a:r>
            <a:endParaRPr sz="2000" b="0" i="0" dirty="0">
              <a:solidFill>
                <a:srgbClr val="006199"/>
              </a:solidFill>
              <a:latin typeface="DM Sans"/>
            </a:endParaRPr>
          </a:p>
        </p:txBody>
      </p:sp>
      <p:sp>
        <p:nvSpPr>
          <p:cNvPr id="16" name="Pílula"/>
          <p:cNvSpPr/>
          <p:nvPr/>
        </p:nvSpPr>
        <p:spPr>
          <a:xfrm>
            <a:off x="685800" y="5166360"/>
            <a:ext cx="5852160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>
            <a:outerShdw blurRad="177800" dist="38100" dir="5400000" algn="t" rotWithShape="0">
              <a:srgbClr val="1F1F4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adge user"/>
          <p:cNvSpPr/>
          <p:nvPr/>
        </p:nvSpPr>
        <p:spPr>
          <a:xfrm>
            <a:off x="868680" y="5372100"/>
            <a:ext cx="365760" cy="365760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Ícone user" descr="us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463540"/>
            <a:ext cx="182880" cy="182880"/>
          </a:xfrm>
          <a:prstGeom prst="rect">
            <a:avLst/>
          </a:prstGeom>
        </p:spPr>
      </p:pic>
      <p:sp>
        <p:nvSpPr>
          <p:cNvPr id="19" name="Pílula GERENTE DO PROJETO"/>
          <p:cNvSpPr txBox="1"/>
          <p:nvPr/>
        </p:nvSpPr>
        <p:spPr>
          <a:xfrm>
            <a:off x="1325880" y="5330952"/>
            <a:ext cx="1325880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989898"/>
                </a:solidFill>
                <a:latin typeface="DM Sans"/>
              </a:rPr>
              <a:t>GERENTE DO PROJETO</a:t>
            </a:r>
          </a:p>
          <a:p>
            <a:pPr algn="l"/>
            <a:r>
              <a:rPr lang="pt-BR" sz="1200" b="1" i="0">
                <a:solidFill>
                  <a:srgbClr val="1F1F4C"/>
                </a:solidFill>
                <a:latin typeface="DM Sans"/>
              </a:rPr>
              <a:t>Sandro Padilha</a:t>
            </a:r>
            <a:endParaRPr sz="1200" b="1" i="0">
              <a:solidFill>
                <a:srgbClr val="1F1F4C"/>
              </a:solidFill>
              <a:latin typeface="DM Sans"/>
            </a:endParaRPr>
          </a:p>
        </p:txBody>
      </p:sp>
      <p:cxnSp>
        <p:nvCxnSpPr>
          <p:cNvPr id="20" name="Pílula separador"/>
          <p:cNvCxnSpPr/>
          <p:nvPr/>
        </p:nvCxnSpPr>
        <p:spPr>
          <a:xfrm>
            <a:off x="2715768" y="5349240"/>
            <a:ext cx="0" cy="41148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Badge pin"/>
          <p:cNvSpPr/>
          <p:nvPr/>
        </p:nvSpPr>
        <p:spPr>
          <a:xfrm>
            <a:off x="2788920" y="5372100"/>
            <a:ext cx="365760" cy="365760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Ícone pin" descr="p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5463540"/>
            <a:ext cx="182880" cy="182880"/>
          </a:xfrm>
          <a:prstGeom prst="rect">
            <a:avLst/>
          </a:prstGeom>
        </p:spPr>
      </p:pic>
      <p:sp>
        <p:nvSpPr>
          <p:cNvPr id="23" name="Pílula UNIDADE"/>
          <p:cNvSpPr txBox="1"/>
          <p:nvPr/>
        </p:nvSpPr>
        <p:spPr>
          <a:xfrm>
            <a:off x="3246120" y="5330952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989898"/>
                </a:solidFill>
                <a:latin typeface="DM Sans"/>
              </a:rPr>
              <a:t>UNIDADE</a:t>
            </a:r>
          </a:p>
          <a:p>
            <a:pPr algn="l"/>
            <a:r>
              <a:rPr sz="1200" b="1" i="0">
                <a:solidFill>
                  <a:srgbClr val="1F1F4C"/>
                </a:solidFill>
                <a:latin typeface="DM Sans"/>
              </a:rPr>
              <a:t>Energisa Tocantins</a:t>
            </a:r>
          </a:p>
        </p:txBody>
      </p:sp>
      <p:cxnSp>
        <p:nvCxnSpPr>
          <p:cNvPr id="24" name="Pílula separador"/>
          <p:cNvCxnSpPr/>
          <p:nvPr/>
        </p:nvCxnSpPr>
        <p:spPr>
          <a:xfrm>
            <a:off x="4818888" y="5349240"/>
            <a:ext cx="0" cy="41148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Badge cal"/>
          <p:cNvSpPr/>
          <p:nvPr/>
        </p:nvSpPr>
        <p:spPr>
          <a:xfrm>
            <a:off x="4892040" y="5372100"/>
            <a:ext cx="365760" cy="365760"/>
          </a:xfrm>
          <a:prstGeom prst="ellipse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Ícone cal" descr="cal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79" y="5463540"/>
            <a:ext cx="182880" cy="182880"/>
          </a:xfrm>
          <a:prstGeom prst="rect">
            <a:avLst/>
          </a:prstGeom>
        </p:spPr>
      </p:pic>
      <p:sp>
        <p:nvSpPr>
          <p:cNvPr id="27" name="Pílula DATA DA REUNIÃO"/>
          <p:cNvSpPr txBox="1"/>
          <p:nvPr/>
        </p:nvSpPr>
        <p:spPr>
          <a:xfrm>
            <a:off x="5349240" y="5330952"/>
            <a:ext cx="1005840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dirty="0">
                <a:solidFill>
                  <a:srgbClr val="989898"/>
                </a:solidFill>
                <a:latin typeface="DM Sans"/>
              </a:rPr>
              <a:t>DATA DA REUNIÃO</a:t>
            </a:r>
          </a:p>
          <a:p>
            <a:pPr algn="l"/>
            <a:r>
              <a:rPr lang="pt-BR" sz="1200" b="1" i="0" dirty="0">
                <a:solidFill>
                  <a:srgbClr val="1F1F4C"/>
                </a:solidFill>
                <a:latin typeface="DM Sans"/>
              </a:rPr>
              <a:t>04/11/2026</a:t>
            </a:r>
            <a:endParaRPr sz="1200" b="1" i="0" dirty="0">
              <a:solidFill>
                <a:srgbClr val="1F1F4C"/>
              </a:solidFill>
              <a:latin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CB6EF10F-F11F-E65B-7281-26A3CF56BE9A}"/>
              </a:ext>
            </a:extLst>
          </p:cNvPr>
          <p:cNvSpPr txBox="1">
            <a:spLocks/>
          </p:cNvSpPr>
          <p:nvPr/>
        </p:nvSpPr>
        <p:spPr>
          <a:xfrm>
            <a:off x="329183" y="566928"/>
            <a:ext cx="9144000" cy="566737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Dados Básicos</a:t>
            </a:r>
          </a:p>
        </p:txBody>
      </p:sp>
      <p:sp>
        <p:nvSpPr>
          <p:cNvPr id="7" name="Rodapé">
            <a:extLst>
              <a:ext uri="{FF2B5EF4-FFF2-40B4-BE49-F238E27FC236}">
                <a16:creationId xmlns:a16="http://schemas.microsoft.com/office/drawing/2014/main" id="{1037B04D-E3AA-A765-045D-C55C25CDC1C2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02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8" name="Identidade – fundo">
            <a:extLst>
              <a:ext uri="{FF2B5EF4-FFF2-40B4-BE49-F238E27FC236}">
                <a16:creationId xmlns:a16="http://schemas.microsoft.com/office/drawing/2014/main" id="{1BE86BFE-B041-B226-866A-D1F22F7080F2}"/>
              </a:ext>
            </a:extLst>
          </p:cNvPr>
          <p:cNvSpPr/>
          <p:nvPr/>
        </p:nvSpPr>
        <p:spPr>
          <a:xfrm>
            <a:off x="457200" y="1371600"/>
            <a:ext cx="3749039" cy="4800600"/>
          </a:xfrm>
          <a:prstGeom prst="roundRect">
            <a:avLst>
              <a:gd name="adj" fmla="val 600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d rótulo">
            <a:extLst>
              <a:ext uri="{FF2B5EF4-FFF2-40B4-BE49-F238E27FC236}">
                <a16:creationId xmlns:a16="http://schemas.microsoft.com/office/drawing/2014/main" id="{FFA48374-537C-A8BA-2709-014019D17272}"/>
              </a:ext>
            </a:extLst>
          </p:cNvPr>
          <p:cNvSpPr txBox="1"/>
          <p:nvPr/>
        </p:nvSpPr>
        <p:spPr>
          <a:xfrm>
            <a:off x="777240" y="169164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DBFF"/>
                </a:solidFill>
                <a:latin typeface="DM Sans"/>
              </a:rPr>
              <a:t>PROJETO</a:t>
            </a:r>
          </a:p>
        </p:txBody>
      </p:sp>
      <p:sp>
        <p:nvSpPr>
          <p:cNvPr id="10" name="Id código">
            <a:extLst>
              <a:ext uri="{FF2B5EF4-FFF2-40B4-BE49-F238E27FC236}">
                <a16:creationId xmlns:a16="http://schemas.microsoft.com/office/drawing/2014/main" id="{86DCA0B6-2EA3-4735-A929-EE5F974EE69F}"/>
              </a:ext>
            </a:extLst>
          </p:cNvPr>
          <p:cNvSpPr txBox="1"/>
          <p:nvPr/>
        </p:nvSpPr>
        <p:spPr>
          <a:xfrm>
            <a:off x="777240" y="1901952"/>
            <a:ext cx="32004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/>
                <a:ea typeface="+mn-ea"/>
                <a:cs typeface="+mn-cs"/>
              </a:rPr>
              <a:t>90811, 91979, 92118, 89267, 92094, 92095, 92101, 92102, 70838, 70978, 89249 e 89307</a:t>
            </a:r>
          </a:p>
        </p:txBody>
      </p:sp>
      <p:sp>
        <p:nvSpPr>
          <p:cNvPr id="11" name="Id nome">
            <a:extLst>
              <a:ext uri="{FF2B5EF4-FFF2-40B4-BE49-F238E27FC236}">
                <a16:creationId xmlns:a16="http://schemas.microsoft.com/office/drawing/2014/main" id="{514081F1-6B01-E4F2-49F8-8C457A834131}"/>
              </a:ext>
            </a:extLst>
          </p:cNvPr>
          <p:cNvSpPr txBox="1"/>
          <p:nvPr/>
        </p:nvSpPr>
        <p:spPr>
          <a:xfrm>
            <a:off x="795528" y="2759255"/>
            <a:ext cx="32004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500" b="1" dirty="0">
                <a:solidFill>
                  <a:srgbClr val="FFFFFF"/>
                </a:solidFill>
                <a:latin typeface="DM Sans"/>
              </a:rPr>
              <a:t>Aquisição e Instalação de RL, RT e </a:t>
            </a:r>
            <a:r>
              <a:rPr lang="pt-BR" sz="1500" b="1" dirty="0" err="1">
                <a:solidFill>
                  <a:srgbClr val="FFFFFF"/>
                </a:solidFill>
                <a:latin typeface="DM Sans"/>
              </a:rPr>
              <a:t>TripSaver</a:t>
            </a:r>
            <a:endParaRPr lang="pt-BR" sz="1500" b="1" dirty="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12" name="Badge user">
            <a:extLst>
              <a:ext uri="{FF2B5EF4-FFF2-40B4-BE49-F238E27FC236}">
                <a16:creationId xmlns:a16="http://schemas.microsoft.com/office/drawing/2014/main" id="{689C474B-8651-3FB2-78BB-A18F61491371}"/>
              </a:ext>
            </a:extLst>
          </p:cNvPr>
          <p:cNvSpPr/>
          <p:nvPr/>
        </p:nvSpPr>
        <p:spPr>
          <a:xfrm>
            <a:off x="777240" y="3611880"/>
            <a:ext cx="384048" cy="384048"/>
          </a:xfrm>
          <a:prstGeom prst="ellipse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Ícone user" descr="user_white.png">
            <a:extLst>
              <a:ext uri="{FF2B5EF4-FFF2-40B4-BE49-F238E27FC236}">
                <a16:creationId xmlns:a16="http://schemas.microsoft.com/office/drawing/2014/main" id="{972F814A-4DC7-6FC4-D0C4-F34F73651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3707892"/>
            <a:ext cx="192024" cy="192024"/>
          </a:xfrm>
          <a:prstGeom prst="rect">
            <a:avLst/>
          </a:prstGeom>
        </p:spPr>
      </p:pic>
      <p:sp>
        <p:nvSpPr>
          <p:cNvPr id="14" name="Id GERENTE DO PROJETO">
            <a:extLst>
              <a:ext uri="{FF2B5EF4-FFF2-40B4-BE49-F238E27FC236}">
                <a16:creationId xmlns:a16="http://schemas.microsoft.com/office/drawing/2014/main" id="{5C268436-8097-4732-1F20-97860D124A91}"/>
              </a:ext>
            </a:extLst>
          </p:cNvPr>
          <p:cNvSpPr txBox="1"/>
          <p:nvPr/>
        </p:nvSpPr>
        <p:spPr>
          <a:xfrm>
            <a:off x="1298448" y="3593592"/>
            <a:ext cx="2697480" cy="315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0DBFF"/>
                </a:solidFill>
                <a:latin typeface="DM Sans"/>
              </a:rPr>
              <a:t>GERENTE DO PROJETO</a:t>
            </a:r>
          </a:p>
          <a:p>
            <a:pPr algn="l"/>
            <a:r>
              <a:rPr lang="pt-BR" sz="1200" b="0" i="0">
                <a:solidFill>
                  <a:srgbClr val="FFFFFF"/>
                </a:solidFill>
                <a:latin typeface="DM Sans"/>
              </a:rPr>
              <a:t>Sandro Padilha Dias Junior</a:t>
            </a:r>
            <a:endParaRPr sz="1200" b="0" i="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15" name="Badge dept">
            <a:extLst>
              <a:ext uri="{FF2B5EF4-FFF2-40B4-BE49-F238E27FC236}">
                <a16:creationId xmlns:a16="http://schemas.microsoft.com/office/drawing/2014/main" id="{93B7177B-F511-DF50-3837-5FF3BDAD37AF}"/>
              </a:ext>
            </a:extLst>
          </p:cNvPr>
          <p:cNvSpPr/>
          <p:nvPr/>
        </p:nvSpPr>
        <p:spPr>
          <a:xfrm>
            <a:off x="777240" y="4389120"/>
            <a:ext cx="384048" cy="384048"/>
          </a:xfrm>
          <a:prstGeom prst="ellipse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Ícone dept" descr="dept_white.png">
            <a:extLst>
              <a:ext uri="{FF2B5EF4-FFF2-40B4-BE49-F238E27FC236}">
                <a16:creationId xmlns:a16="http://schemas.microsoft.com/office/drawing/2014/main" id="{AA41DD41-F4B9-01E0-4ECB-8306625DA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4485132"/>
            <a:ext cx="192024" cy="192024"/>
          </a:xfrm>
          <a:prstGeom prst="rect">
            <a:avLst/>
          </a:prstGeom>
        </p:spPr>
      </p:pic>
      <p:sp>
        <p:nvSpPr>
          <p:cNvPr id="17" name="Id DEPARTAMENTO">
            <a:extLst>
              <a:ext uri="{FF2B5EF4-FFF2-40B4-BE49-F238E27FC236}">
                <a16:creationId xmlns:a16="http://schemas.microsoft.com/office/drawing/2014/main" id="{B7B0D9D0-FC2A-0A3D-A6A1-45E427E3EB1F}"/>
              </a:ext>
            </a:extLst>
          </p:cNvPr>
          <p:cNvSpPr txBox="1"/>
          <p:nvPr/>
        </p:nvSpPr>
        <p:spPr>
          <a:xfrm>
            <a:off x="1298448" y="4370832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0DBFF"/>
                </a:solidFill>
                <a:latin typeface="DM Sans"/>
              </a:rPr>
              <a:t>DEPARTAMENTO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DM Sans"/>
              </a:rPr>
              <a:t>DCMD</a:t>
            </a:r>
          </a:p>
        </p:txBody>
      </p:sp>
      <p:sp>
        <p:nvSpPr>
          <p:cNvPr id="18" name="Badge target">
            <a:extLst>
              <a:ext uri="{FF2B5EF4-FFF2-40B4-BE49-F238E27FC236}">
                <a16:creationId xmlns:a16="http://schemas.microsoft.com/office/drawing/2014/main" id="{B645B98D-210E-F64B-44FD-F8114182BFF9}"/>
              </a:ext>
            </a:extLst>
          </p:cNvPr>
          <p:cNvSpPr/>
          <p:nvPr/>
        </p:nvSpPr>
        <p:spPr>
          <a:xfrm>
            <a:off x="777240" y="5166359"/>
            <a:ext cx="384048" cy="384048"/>
          </a:xfrm>
          <a:prstGeom prst="ellipse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Ícone target" descr="target_white.png">
            <a:extLst>
              <a:ext uri="{FF2B5EF4-FFF2-40B4-BE49-F238E27FC236}">
                <a16:creationId xmlns:a16="http://schemas.microsoft.com/office/drawing/2014/main" id="{3AC80192-71C9-AAD1-6F2B-46B42D662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5262372"/>
            <a:ext cx="192024" cy="192024"/>
          </a:xfrm>
          <a:prstGeom prst="rect">
            <a:avLst/>
          </a:prstGeom>
        </p:spPr>
      </p:pic>
      <p:sp>
        <p:nvSpPr>
          <p:cNvPr id="20" name="Id OBJETIVO E DESTINAÇÃO">
            <a:extLst>
              <a:ext uri="{FF2B5EF4-FFF2-40B4-BE49-F238E27FC236}">
                <a16:creationId xmlns:a16="http://schemas.microsoft.com/office/drawing/2014/main" id="{5244F07B-5E2E-F279-125D-C852056182E0}"/>
              </a:ext>
            </a:extLst>
          </p:cNvPr>
          <p:cNvSpPr txBox="1"/>
          <p:nvPr/>
        </p:nvSpPr>
        <p:spPr>
          <a:xfrm>
            <a:off x="1298448" y="5148072"/>
            <a:ext cx="2697480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00DBFF"/>
                </a:solidFill>
                <a:latin typeface="DM Sans"/>
              </a:rPr>
              <a:t>OBJETIVO E DESTINAÇÃO</a:t>
            </a:r>
          </a:p>
          <a:p>
            <a:pPr algn="l"/>
            <a:r>
              <a:rPr sz="1200" b="0" i="0" dirty="0" err="1">
                <a:solidFill>
                  <a:srgbClr val="FFFFFF"/>
                </a:solidFill>
                <a:latin typeface="DM Sans"/>
              </a:rPr>
              <a:t>Qualidade</a:t>
            </a:r>
            <a:r>
              <a:rPr sz="1200" b="0" i="0" dirty="0">
                <a:solidFill>
                  <a:srgbClr val="FFFFFF"/>
                </a:solidFill>
                <a:latin typeface="DM Sans"/>
              </a:rPr>
              <a:t> do </a:t>
            </a:r>
            <a:r>
              <a:rPr sz="1200" b="0" i="0" dirty="0" err="1">
                <a:solidFill>
                  <a:srgbClr val="FFFFFF"/>
                </a:solidFill>
                <a:latin typeface="DM Sans"/>
              </a:rPr>
              <a:t>Produto</a:t>
            </a:r>
            <a:r>
              <a:rPr sz="1200" b="0" i="0" dirty="0">
                <a:solidFill>
                  <a:srgbClr val="FFFFFF"/>
                </a:solidFill>
                <a:latin typeface="DM Sans"/>
              </a:rPr>
              <a:t> e </a:t>
            </a:r>
            <a:r>
              <a:rPr sz="1200" b="0" i="0" dirty="0" err="1">
                <a:solidFill>
                  <a:srgbClr val="FFFFFF"/>
                </a:solidFill>
                <a:latin typeface="DM Sans"/>
              </a:rPr>
              <a:t>Qualidade</a:t>
            </a:r>
            <a:r>
              <a:rPr sz="1200" b="0" i="0" dirty="0">
                <a:solidFill>
                  <a:srgbClr val="FFFFFF"/>
                </a:solidFill>
                <a:latin typeface="DM Sans"/>
              </a:rPr>
              <a:t> do </a:t>
            </a:r>
            <a:r>
              <a:rPr sz="1200" b="0" i="0" dirty="0" err="1">
                <a:solidFill>
                  <a:srgbClr val="FFFFFF"/>
                </a:solidFill>
                <a:latin typeface="DM Sans"/>
              </a:rPr>
              <a:t>Serviço</a:t>
            </a:r>
            <a:endParaRPr sz="1200" b="1" i="0" dirty="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21" name="Escopo – fundo">
            <a:extLst>
              <a:ext uri="{FF2B5EF4-FFF2-40B4-BE49-F238E27FC236}">
                <a16:creationId xmlns:a16="http://schemas.microsoft.com/office/drawing/2014/main" id="{18ACCEBA-09AE-C290-75F6-7264BED2F299}"/>
              </a:ext>
            </a:extLst>
          </p:cNvPr>
          <p:cNvSpPr/>
          <p:nvPr/>
        </p:nvSpPr>
        <p:spPr>
          <a:xfrm>
            <a:off x="4434840" y="1371600"/>
            <a:ext cx="7299655" cy="16002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adge scope">
            <a:extLst>
              <a:ext uri="{FF2B5EF4-FFF2-40B4-BE49-F238E27FC236}">
                <a16:creationId xmlns:a16="http://schemas.microsoft.com/office/drawing/2014/main" id="{D16E64A9-94AD-B33F-246D-83F03784F75E}"/>
              </a:ext>
            </a:extLst>
          </p:cNvPr>
          <p:cNvSpPr/>
          <p:nvPr/>
        </p:nvSpPr>
        <p:spPr>
          <a:xfrm>
            <a:off x="4709159" y="1600200"/>
            <a:ext cx="384048" cy="384048"/>
          </a:xfrm>
          <a:prstGeom prst="ellipse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Ícone scope" descr="scope_white.png">
            <a:extLst>
              <a:ext uri="{FF2B5EF4-FFF2-40B4-BE49-F238E27FC236}">
                <a16:creationId xmlns:a16="http://schemas.microsoft.com/office/drawing/2014/main" id="{41B12734-14B1-7F90-D6A4-D5529DDB67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5172" y="1696212"/>
            <a:ext cx="192024" cy="192024"/>
          </a:xfrm>
          <a:prstGeom prst="rect">
            <a:avLst/>
          </a:prstGeom>
        </p:spPr>
      </p:pic>
      <p:sp>
        <p:nvSpPr>
          <p:cNvPr id="24" name="Título Escopo detalhado">
            <a:extLst>
              <a:ext uri="{FF2B5EF4-FFF2-40B4-BE49-F238E27FC236}">
                <a16:creationId xmlns:a16="http://schemas.microsoft.com/office/drawing/2014/main" id="{9F1EFD31-621C-C0D5-26D6-70874878833B}"/>
              </a:ext>
            </a:extLst>
          </p:cNvPr>
          <p:cNvSpPr txBox="1"/>
          <p:nvPr/>
        </p:nvSpPr>
        <p:spPr>
          <a:xfrm>
            <a:off x="5212079" y="160020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80">
                <a:solidFill>
                  <a:srgbClr val="1F1F4C"/>
                </a:solidFill>
                <a:latin typeface="DM Sans"/>
              </a:rPr>
              <a:t>ESCOPO DETALHADO</a:t>
            </a:r>
          </a:p>
        </p:txBody>
      </p:sp>
      <p:sp>
        <p:nvSpPr>
          <p:cNvPr id="25" name="Escopo texto">
            <a:extLst>
              <a:ext uri="{FF2B5EF4-FFF2-40B4-BE49-F238E27FC236}">
                <a16:creationId xmlns:a16="http://schemas.microsoft.com/office/drawing/2014/main" id="{77C0C3D5-11D0-54C1-2D52-E069C1D21F67}"/>
              </a:ext>
            </a:extLst>
          </p:cNvPr>
          <p:cNvSpPr txBox="1"/>
          <p:nvPr/>
        </p:nvSpPr>
        <p:spPr>
          <a:xfrm>
            <a:off x="4709159" y="2148840"/>
            <a:ext cx="675101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200" b="0" i="0" dirty="0">
                <a:solidFill>
                  <a:srgbClr val="4D4D4D"/>
                </a:solidFill>
                <a:latin typeface="DM Sans"/>
              </a:rPr>
              <a:t>Instalação de 12 religadores (RL) e 9 reguladores de tensão (RT) em 34,5 kV e 13,8 kV, além de 3 </a:t>
            </a:r>
            <a:r>
              <a:rPr lang="pt-BR" sz="1200" b="0" i="0" dirty="0" err="1">
                <a:solidFill>
                  <a:srgbClr val="4D4D4D"/>
                </a:solidFill>
                <a:latin typeface="DM Sans"/>
              </a:rPr>
              <a:t>TripSaver</a:t>
            </a:r>
            <a:r>
              <a:rPr lang="pt-BR" sz="1200" b="0" i="0" dirty="0">
                <a:solidFill>
                  <a:srgbClr val="4D4D4D"/>
                </a:solidFill>
                <a:latin typeface="DM Sans"/>
              </a:rPr>
              <a:t> e 1 remanejamento de RL</a:t>
            </a:r>
            <a:endParaRPr sz="1250" b="0" i="0" dirty="0">
              <a:solidFill>
                <a:srgbClr val="4D4D4D"/>
              </a:solidFill>
              <a:latin typeface="DM Sans"/>
            </a:endParaRPr>
          </a:p>
        </p:txBody>
      </p:sp>
      <p:sp>
        <p:nvSpPr>
          <p:cNvPr id="26" name="Orçamento – fundo">
            <a:extLst>
              <a:ext uri="{FF2B5EF4-FFF2-40B4-BE49-F238E27FC236}">
                <a16:creationId xmlns:a16="http://schemas.microsoft.com/office/drawing/2014/main" id="{E35C3491-A050-D20A-E830-323A2C3714A1}"/>
              </a:ext>
            </a:extLst>
          </p:cNvPr>
          <p:cNvSpPr/>
          <p:nvPr/>
        </p:nvSpPr>
        <p:spPr>
          <a:xfrm>
            <a:off x="4434840" y="3200400"/>
            <a:ext cx="3535527" cy="297180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Badge money">
            <a:extLst>
              <a:ext uri="{FF2B5EF4-FFF2-40B4-BE49-F238E27FC236}">
                <a16:creationId xmlns:a16="http://schemas.microsoft.com/office/drawing/2014/main" id="{59F982B8-76C0-CCD8-DE05-3065117739E5}"/>
              </a:ext>
            </a:extLst>
          </p:cNvPr>
          <p:cNvSpPr/>
          <p:nvPr/>
        </p:nvSpPr>
        <p:spPr>
          <a:xfrm>
            <a:off x="4709159" y="3429000"/>
            <a:ext cx="384048" cy="384048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Ícone money" descr="money_white.png">
            <a:extLst>
              <a:ext uri="{FF2B5EF4-FFF2-40B4-BE49-F238E27FC236}">
                <a16:creationId xmlns:a16="http://schemas.microsoft.com/office/drawing/2014/main" id="{D8962F72-8A36-C717-419F-72619A4982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5172" y="3525012"/>
            <a:ext cx="192024" cy="192024"/>
          </a:xfrm>
          <a:prstGeom prst="rect">
            <a:avLst/>
          </a:prstGeom>
        </p:spPr>
      </p:pic>
      <p:sp>
        <p:nvSpPr>
          <p:cNvPr id="29" name="Título Orçamento">
            <a:extLst>
              <a:ext uri="{FF2B5EF4-FFF2-40B4-BE49-F238E27FC236}">
                <a16:creationId xmlns:a16="http://schemas.microsoft.com/office/drawing/2014/main" id="{E1C56DDD-D6C1-1A63-CA8F-138F992C8B60}"/>
              </a:ext>
            </a:extLst>
          </p:cNvPr>
          <p:cNvSpPr txBox="1"/>
          <p:nvPr/>
        </p:nvSpPr>
        <p:spPr>
          <a:xfrm>
            <a:off x="5212079" y="342900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80">
                <a:solidFill>
                  <a:srgbClr val="1F1F4C"/>
                </a:solidFill>
                <a:latin typeface="DM Sans"/>
              </a:rPr>
              <a:t>ORÇAMENTO</a:t>
            </a:r>
          </a:p>
        </p:txBody>
      </p:sp>
      <p:sp>
        <p:nvSpPr>
          <p:cNvPr id="30" name="Orç rótulo">
            <a:extLst>
              <a:ext uri="{FF2B5EF4-FFF2-40B4-BE49-F238E27FC236}">
                <a16:creationId xmlns:a16="http://schemas.microsoft.com/office/drawing/2014/main" id="{08595D4B-B4AD-DD9E-D2E4-67F2B08AC223}"/>
              </a:ext>
            </a:extLst>
          </p:cNvPr>
          <p:cNvSpPr txBox="1"/>
          <p:nvPr/>
        </p:nvSpPr>
        <p:spPr>
          <a:xfrm>
            <a:off x="4709159" y="4069080"/>
            <a:ext cx="29868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89898"/>
                </a:solidFill>
                <a:latin typeface="DM Sans"/>
              </a:rPr>
              <a:t>ORÇAMENTO 2027 (CURVA OUT/26)</a:t>
            </a:r>
          </a:p>
        </p:txBody>
      </p:sp>
      <p:sp>
        <p:nvSpPr>
          <p:cNvPr id="31" name="Orç total">
            <a:extLst>
              <a:ext uri="{FF2B5EF4-FFF2-40B4-BE49-F238E27FC236}">
                <a16:creationId xmlns:a16="http://schemas.microsoft.com/office/drawing/2014/main" id="{B88225F7-5E17-EAEC-0C2A-CF04FE626D59}"/>
              </a:ext>
            </a:extLst>
          </p:cNvPr>
          <p:cNvSpPr txBox="1"/>
          <p:nvPr/>
        </p:nvSpPr>
        <p:spPr>
          <a:xfrm>
            <a:off x="4709159" y="4279392"/>
            <a:ext cx="2986887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47B20"/>
                </a:solidFill>
                <a:latin typeface="DM Sans"/>
              </a:rPr>
              <a:t>R$ 5,23 mi</a:t>
            </a:r>
          </a:p>
        </p:txBody>
      </p:sp>
      <p:sp>
        <p:nvSpPr>
          <p:cNvPr id="32" name="Benefícios – fundo">
            <a:extLst>
              <a:ext uri="{FF2B5EF4-FFF2-40B4-BE49-F238E27FC236}">
                <a16:creationId xmlns:a16="http://schemas.microsoft.com/office/drawing/2014/main" id="{FB6EE6C9-7BAC-4A9F-59E5-3B4102C9B668}"/>
              </a:ext>
            </a:extLst>
          </p:cNvPr>
          <p:cNvSpPr/>
          <p:nvPr/>
        </p:nvSpPr>
        <p:spPr>
          <a:xfrm>
            <a:off x="8198967" y="3200400"/>
            <a:ext cx="3535527" cy="297180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Badge chart">
            <a:extLst>
              <a:ext uri="{FF2B5EF4-FFF2-40B4-BE49-F238E27FC236}">
                <a16:creationId xmlns:a16="http://schemas.microsoft.com/office/drawing/2014/main" id="{10BAB9E1-BA81-E625-A17C-5429DB773DBA}"/>
              </a:ext>
            </a:extLst>
          </p:cNvPr>
          <p:cNvSpPr/>
          <p:nvPr/>
        </p:nvSpPr>
        <p:spPr>
          <a:xfrm>
            <a:off x="8473287" y="3429000"/>
            <a:ext cx="384048" cy="384048"/>
          </a:xfrm>
          <a:prstGeom prst="ellipse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Ícone chart" descr="chart_white.png">
            <a:extLst>
              <a:ext uri="{FF2B5EF4-FFF2-40B4-BE49-F238E27FC236}">
                <a16:creationId xmlns:a16="http://schemas.microsoft.com/office/drawing/2014/main" id="{33E974B0-5B48-E2CB-7BAA-B476B10262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9299" y="3525012"/>
            <a:ext cx="192024" cy="192024"/>
          </a:xfrm>
          <a:prstGeom prst="rect">
            <a:avLst/>
          </a:prstGeom>
        </p:spPr>
      </p:pic>
      <p:sp>
        <p:nvSpPr>
          <p:cNvPr id="35" name="Ben rótulo">
            <a:extLst>
              <a:ext uri="{FF2B5EF4-FFF2-40B4-BE49-F238E27FC236}">
                <a16:creationId xmlns:a16="http://schemas.microsoft.com/office/drawing/2014/main" id="{39945EE4-5CF4-0D5C-817A-76A1AC8988BC}"/>
              </a:ext>
            </a:extLst>
          </p:cNvPr>
          <p:cNvSpPr txBox="1"/>
          <p:nvPr/>
        </p:nvSpPr>
        <p:spPr>
          <a:xfrm>
            <a:off x="8473287" y="4069080"/>
            <a:ext cx="29868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89898"/>
                </a:solidFill>
                <a:latin typeface="DM Sans"/>
              </a:rPr>
              <a:t>EQUIPAMENTOS ESPECIAIS</a:t>
            </a:r>
          </a:p>
        </p:txBody>
      </p:sp>
      <p:sp>
        <p:nvSpPr>
          <p:cNvPr id="36" name="Ben KPI">
            <a:extLst>
              <a:ext uri="{FF2B5EF4-FFF2-40B4-BE49-F238E27FC236}">
                <a16:creationId xmlns:a16="http://schemas.microsoft.com/office/drawing/2014/main" id="{62DEAB31-5DEA-E199-062A-E3AAB2C3C539}"/>
              </a:ext>
            </a:extLst>
          </p:cNvPr>
          <p:cNvSpPr txBox="1"/>
          <p:nvPr/>
        </p:nvSpPr>
        <p:spPr>
          <a:xfrm>
            <a:off x="8473287" y="4279392"/>
            <a:ext cx="2986887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989898"/>
                </a:solidFill>
                <a:latin typeface="DM Sans"/>
              </a:rPr>
              <a:t>12 RL · 9 RT</a:t>
            </a:r>
            <a:endParaRPr sz="3000" b="1" i="0">
              <a:solidFill>
                <a:srgbClr val="628C0E"/>
              </a:solidFill>
              <a:latin typeface="DM Sans"/>
            </a:endParaRPr>
          </a:p>
        </p:txBody>
      </p:sp>
      <p:sp>
        <p:nvSpPr>
          <p:cNvPr id="37" name="Ben texto">
            <a:extLst>
              <a:ext uri="{FF2B5EF4-FFF2-40B4-BE49-F238E27FC236}">
                <a16:creationId xmlns:a16="http://schemas.microsoft.com/office/drawing/2014/main" id="{D9DF7BAA-8D65-F7F9-4CE4-375731223865}"/>
              </a:ext>
            </a:extLst>
          </p:cNvPr>
          <p:cNvSpPr txBox="1"/>
          <p:nvPr/>
        </p:nvSpPr>
        <p:spPr>
          <a:xfrm>
            <a:off x="8473287" y="5074920"/>
            <a:ext cx="2986887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err="1">
                <a:solidFill>
                  <a:srgbClr val="4D4D4D"/>
                </a:solidFill>
                <a:latin typeface="DM Sans"/>
              </a:rPr>
              <a:t>Tensão: RT elevam o perfil para 0,945–0,97 pu. Continuidade: RL reduzem DEC/FEC nos conjuntos atendidos, conforme fichas do PN.</a:t>
            </a:r>
          </a:p>
        </p:txBody>
      </p:sp>
      <p:sp>
        <p:nvSpPr>
          <p:cNvPr id="44" name="Eyebrow">
            <a:extLst>
              <a:ext uri="{FF2B5EF4-FFF2-40B4-BE49-F238E27FC236}">
                <a16:creationId xmlns:a16="http://schemas.microsoft.com/office/drawing/2014/main" id="{A84019CF-0239-5AEB-188F-58D5DB1875B2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59" y="5000000"/>
            <a:ext cx="2986887" cy="900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/>
            <a:r>
              <a:rPr sz="1000" b="0" i="0">
                <a:solidFill>
                  <a:srgbClr val="4D4D4D"/>
                </a:solidFill>
                <a:latin typeface="DM Sans"/>
              </a:rPr>
              <a:t>Mensalização CAPEX de 08/10/2026.</a:t>
            </a:r>
          </a:p>
          <a:p>
            <a:pPr algn="l"/>
            <a:r>
              <a:rPr sz="1000" b="0" i="0">
                <a:solidFill>
                  <a:srgbClr val="4D4D4D"/>
                </a:solidFill>
                <a:latin typeface="DM Sans"/>
              </a:rPr>
              <a:t>Base de ago/26: R$ 6,02 mi (antes da capitalização).</a:t>
            </a:r>
          </a:p>
        </p:txBody>
      </p:sp>
    </p:spTree>
    <p:extLst>
      <p:ext uri="{BB962C8B-B14F-4D97-AF65-F5344CB8AC3E}">
        <p14:creationId xmlns:p14="http://schemas.microsoft.com/office/powerpoint/2010/main" val="1796060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892F2-413B-FB08-F734-3432928B2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9A7A9CB9-DB87-EDEF-FF05-2F8A56908B5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10058400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Escopo e orçamento por SIGCO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6570C7F-46D1-416F-022D-99F82A30AF7B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5812CB6B-1816-43D3-C1AD-B01D7C3F16F7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03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graphicFrame>
        <p:nvGraphicFramePr>
          <p:cNvPr id="9" name="Tabela escop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475299"/>
              </p:ext>
            </p:extLst>
          </p:nvPr>
        </p:nvGraphicFramePr>
        <p:xfrm>
          <a:off x="148281" y="1133856"/>
          <a:ext cx="11837771" cy="51572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5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3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52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44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121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 dirty="0">
                          <a:solidFill>
                            <a:srgbClr val="1F1F4C"/>
                          </a:solidFill>
                          <a:latin typeface="DM Sans"/>
                        </a:rPr>
                        <a:t>SIGCO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Projeto (Cadastro CAPEX)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Regional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Escopo físico (fichas 2027)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Energ.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Orçamento 08.10 (R$)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Benefício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92118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Estudo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de QS - 4 de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Araguaína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IV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Norte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 religador automático 13,8 kV (ID# E.O 551144)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mai/27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110.736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DEC -0,0775 h | FEC -0,0300 (base conjunto)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89267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Instalação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de RT - LD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Xambioá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II -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Araguanã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- 2XB2 -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Norte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2 reguladores de tensão 34,5 kV (ID# E.O 298105 e 38281041)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mai/27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802.322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Tensão 0,929 → 0,945 pu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89249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- LD Araguaína - Babaçulândia - 2AR0 -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Norte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 regulador de tensão 34,5 kV (ID# E.O 535352)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ago/27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399.614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Tensão 0,921 → 0,953 pu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764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90811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RL e RT - LD UHE Isamu - Ponte Alta - 1UI1 -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4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religadores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34,5 kV; 0,25 km RD MT 3#1/0 AWG; 1 poste; 2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chaves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faca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(NA/NF); 3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reguladores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de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tensão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34,5 kV (ID# E.O 33356216, 498478 e CH 8810033256)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abr/27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1.801.605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Tensão 0,91 → 0,95 pu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92095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LD Palmas - Lajeado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1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religador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automático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34,5 kV (ID# E.O 425776)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jun/27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130.250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DEC -0,3251 h | FEC -0,0694 (base conjunto)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92101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- 8 de Palmas IV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1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religador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automático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13,8 kV N.A (CH 8861680122)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jun/27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110.736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DEC -0,1405 h | FEC -0,0756 (base conjunto)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70838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- LD Cristalândia - Lagoa da Confusão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1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regulador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de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tensão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34,5 kV (ID# E.O 740431)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jun/27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399.614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Tensão 0,91 → 0,96 pu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92102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- 6 de Palmas IV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 religador automático 13,8 kV N.F (CH 8803933122)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jun/27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110.736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DEC -0,0430 h | FEC -0,0174 (base conjunto)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70978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e Balanceamento de Fase - LD Paraíso I - Caseara - 2PR0 -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 regulador de tensão 34,5 kV; troca de fase (A→C) em 3 ramais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dirty="0" err="1">
                          <a:solidFill>
                            <a:srgbClr val="F47B20"/>
                          </a:solidFill>
                          <a:latin typeface="DM Sans"/>
                        </a:rPr>
                        <a:t>jun</a:t>
                      </a:r>
                      <a:r>
                        <a:rPr sz="900" b="1" i="0" dirty="0">
                          <a:solidFill>
                            <a:srgbClr val="F47B20"/>
                          </a:solidFill>
                          <a:latin typeface="DM Sans"/>
                        </a:rPr>
                        <a:t>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399.914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Tensão 0,91 → 0,97 pu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92094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LD Palmas - Aparecida do Rio Negro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3 religadores automáticos 34,5 kV (CH 8800756083, 8841714092 e ID# E.O 49973587)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jun/27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390.750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DEC -0,4015 h | FEC -0,2040 (base conjunto)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91979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LD Gurupi - Dueré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Sul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 religador rural 34,5 kV (CH 3300246076); 3 TripSavers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mai/27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239.582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DEC -0,5568 h | FEC -0,1037 (base conjunto)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89307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- 1 de Figueirópolis - 2FGR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Sul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 regulador de tensão 13,8 kV (EO 241355); remanejamento do RL 7924620047; manobras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ago/27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330.989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Tensão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0,92 → 0,96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pu</a:t>
                      </a:r>
                      <a:endParaRPr sz="900" b="0" i="0" dirty="0">
                        <a:solidFill>
                          <a:srgbClr val="4D4D4D"/>
                        </a:solidFill>
                        <a:latin typeface="DM Sans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6385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Total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12 SIGCOs · 13 blocos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240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12 RL · 9 RT · 3 TripSaver · 1 remanejamento de RL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240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dirty="0">
                          <a:solidFill>
                            <a:srgbClr val="1F1F4C"/>
                          </a:solidFill>
                          <a:latin typeface="DM Sans"/>
                        </a:rPr>
                        <a:t>5.226.849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2400" dirty="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3556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A39E0F86-B360-70BF-A50A-5869E5515F01}"/>
              </a:ext>
            </a:extLst>
          </p:cNvPr>
          <p:cNvSpPr txBox="1">
            <a:spLocks/>
          </p:cNvSpPr>
          <p:nvPr/>
        </p:nvSpPr>
        <p:spPr>
          <a:xfrm>
            <a:off x="274320" y="329184"/>
            <a:ext cx="9692640" cy="36576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>
                <a:solidFill>
                  <a:srgbClr val="1F1F4C"/>
                </a:solidFill>
                <a:latin typeface="DM Sans"/>
              </a:rPr>
              <a:t>PN 2027 – Aquisição e Instalação de RL, RT e TripSaver</a:t>
            </a:r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04D5C91B-9D0E-7E04-A04D-C3F1FA77A9E1}"/>
              </a:ext>
            </a:extLst>
          </p:cNvPr>
          <p:cNvSpPr txBox="1"/>
          <p:nvPr/>
        </p:nvSpPr>
        <p:spPr>
          <a:xfrm>
            <a:off x="274320" y="91440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F47B20"/>
                </a:solidFill>
                <a:latin typeface="DM Sans"/>
              </a:rPr>
              <a:t>KICKOFF MEETING</a:t>
            </a:r>
          </a:p>
        </p:txBody>
      </p:sp>
      <p:sp>
        <p:nvSpPr>
          <p:cNvPr id="6" name="Dados da reunião">
            <a:extLst>
              <a:ext uri="{FF2B5EF4-FFF2-40B4-BE49-F238E27FC236}">
                <a16:creationId xmlns:a16="http://schemas.microsoft.com/office/drawing/2014/main" id="{FD1F72A8-98F3-2327-62BD-72DF0CBB9BCB}"/>
              </a:ext>
            </a:extLst>
          </p:cNvPr>
          <p:cNvSpPr txBox="1"/>
          <p:nvPr/>
        </p:nvSpPr>
        <p:spPr>
          <a:xfrm>
            <a:off x="274320" y="731520"/>
            <a:ext cx="96926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89898"/>
                </a:solidFill>
                <a:latin typeface="DM Sans"/>
              </a:rPr>
              <a:t>Gerente do projeto: Sandro Padilha Dias Junior   ·   DCMD   ·   KOM 29/10/2026   ·   Orçamento 2027: R$ 5.226.849 (base 08/10)</a:t>
            </a:r>
            <a:endParaRPr sz="850" b="1" i="0">
              <a:solidFill>
                <a:srgbClr val="1F1F4C"/>
              </a:solidFill>
              <a:latin typeface="DM Sans"/>
            </a:endParaRPr>
          </a:p>
        </p:txBody>
      </p:sp>
      <p:sp>
        <p:nvSpPr>
          <p:cNvPr id="8" name="Stakeholders – fundo">
            <a:extLst>
              <a:ext uri="{FF2B5EF4-FFF2-40B4-BE49-F238E27FC236}">
                <a16:creationId xmlns:a16="http://schemas.microsoft.com/office/drawing/2014/main" id="{972BDA19-9A98-FFC6-7367-0434BB2EEEAE}"/>
              </a:ext>
            </a:extLst>
          </p:cNvPr>
          <p:cNvSpPr/>
          <p:nvPr/>
        </p:nvSpPr>
        <p:spPr>
          <a:xfrm>
            <a:off x="274320" y="1024128"/>
            <a:ext cx="2331720" cy="5605272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takeholders – título">
            <a:extLst>
              <a:ext uri="{FF2B5EF4-FFF2-40B4-BE49-F238E27FC236}">
                <a16:creationId xmlns:a16="http://schemas.microsoft.com/office/drawing/2014/main" id="{D0DA4EBB-A99A-EF5A-5BB8-7FC4048C6077}"/>
              </a:ext>
            </a:extLst>
          </p:cNvPr>
          <p:cNvSpPr/>
          <p:nvPr/>
        </p:nvSpPr>
        <p:spPr>
          <a:xfrm>
            <a:off x="274320" y="1024128"/>
            <a:ext cx="2331720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Stakeholders</a:t>
            </a:r>
          </a:p>
        </p:txBody>
      </p:sp>
      <p:sp>
        <p:nvSpPr>
          <p:cNvPr id="10" name="Internos rótulo">
            <a:extLst>
              <a:ext uri="{FF2B5EF4-FFF2-40B4-BE49-F238E27FC236}">
                <a16:creationId xmlns:a16="http://schemas.microsoft.com/office/drawing/2014/main" id="{8F1C1DEC-6BF0-2B02-759F-DB06E8A32FEB}"/>
              </a:ext>
            </a:extLst>
          </p:cNvPr>
          <p:cNvSpPr txBox="1"/>
          <p:nvPr/>
        </p:nvSpPr>
        <p:spPr>
          <a:xfrm>
            <a:off x="384048" y="143560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9FC2"/>
                </a:solidFill>
                <a:latin typeface="DM Sans"/>
              </a:rPr>
              <a:t>INTERNOS</a:t>
            </a:r>
          </a:p>
        </p:txBody>
      </p:sp>
      <p:sp>
        <p:nvSpPr>
          <p:cNvPr id="11" name="Internos 1–8">
            <a:extLst>
              <a:ext uri="{FF2B5EF4-FFF2-40B4-BE49-F238E27FC236}">
                <a16:creationId xmlns:a16="http://schemas.microsoft.com/office/drawing/2014/main" id="{DED81C95-4657-B15D-BBB1-9FF2A05222ED}"/>
              </a:ext>
            </a:extLst>
          </p:cNvPr>
          <p:cNvSpPr txBox="1"/>
          <p:nvPr/>
        </p:nvSpPr>
        <p:spPr>
          <a:xfrm>
            <a:off x="384048" y="1682496"/>
            <a:ext cx="1056131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DPRE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DTEC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DIEO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GGPP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DECS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COPO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DEOP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DCMD</a:t>
            </a:r>
          </a:p>
        </p:txBody>
      </p:sp>
      <p:sp>
        <p:nvSpPr>
          <p:cNvPr id="12" name="Internos 9–16">
            <a:extLst>
              <a:ext uri="{FF2B5EF4-FFF2-40B4-BE49-F238E27FC236}">
                <a16:creationId xmlns:a16="http://schemas.microsoft.com/office/drawing/2014/main" id="{45673731-C15F-3D63-1986-9AA1D7E720D7}"/>
              </a:ext>
            </a:extLst>
          </p:cNvPr>
          <p:cNvSpPr txBox="1"/>
          <p:nvPr/>
        </p:nvSpPr>
        <p:spPr>
          <a:xfrm>
            <a:off x="1440179" y="1682496"/>
            <a:ext cx="1056131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SESMT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DCSU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ASPO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ASGP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CGC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DMSL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DECF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GGA</a:t>
            </a:r>
          </a:p>
        </p:txBody>
      </p:sp>
      <p:sp>
        <p:nvSpPr>
          <p:cNvPr id="13" name="Externos rótulo">
            <a:extLst>
              <a:ext uri="{FF2B5EF4-FFF2-40B4-BE49-F238E27FC236}">
                <a16:creationId xmlns:a16="http://schemas.microsoft.com/office/drawing/2014/main" id="{DC3BAEC1-1AE3-7DCC-D21E-DED2409E48F7}"/>
              </a:ext>
            </a:extLst>
          </p:cNvPr>
          <p:cNvSpPr txBox="1"/>
          <p:nvPr/>
        </p:nvSpPr>
        <p:spPr>
          <a:xfrm>
            <a:off x="384048" y="363016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F47B20"/>
                </a:solidFill>
                <a:latin typeface="DM Sans"/>
              </a:rPr>
              <a:t>EXTERNOS</a:t>
            </a:r>
          </a:p>
        </p:txBody>
      </p:sp>
      <p:sp>
        <p:nvSpPr>
          <p:cNvPr id="14" name="Externos">
            <a:extLst>
              <a:ext uri="{FF2B5EF4-FFF2-40B4-BE49-F238E27FC236}">
                <a16:creationId xmlns:a16="http://schemas.microsoft.com/office/drawing/2014/main" id="{27F4C90E-F622-C017-884C-D4BD0209E339}"/>
              </a:ext>
            </a:extLst>
          </p:cNvPr>
          <p:cNvSpPr txBox="1"/>
          <p:nvPr/>
        </p:nvSpPr>
        <p:spPr>
          <a:xfrm>
            <a:off x="384048" y="3877056"/>
            <a:ext cx="2112263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 err="1">
                <a:solidFill>
                  <a:srgbClr val="4D4D4D"/>
                </a:solidFill>
                <a:latin typeface="DM Sans"/>
              </a:rPr>
              <a:t>Construtoras</a:t>
            </a:r>
            <a:r>
              <a:rPr sz="900" b="0" i="0">
                <a:solidFill>
                  <a:srgbClr val="4D4D4D"/>
                </a:solidFill>
                <a:latin typeface="DM Sans"/>
              </a:rPr>
              <a:t> / </a:t>
            </a:r>
            <a:r>
              <a:rPr sz="900" b="0" i="0" err="1">
                <a:solidFill>
                  <a:srgbClr val="4D4D4D"/>
                </a:solidFill>
                <a:latin typeface="DM Sans"/>
              </a:rPr>
              <a:t>Empreiteiras</a:t>
            </a:r>
            <a:endParaRPr sz="900" b="0" i="0">
              <a:solidFill>
                <a:srgbClr val="4D4D4D"/>
              </a:solidFill>
              <a:latin typeface="DM Sans"/>
            </a:endParaRP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 err="1">
                <a:solidFill>
                  <a:srgbClr val="4D4D4D"/>
                </a:solidFill>
                <a:latin typeface="DM Sans"/>
              </a:rPr>
              <a:t>Fornecedores</a:t>
            </a:r>
            <a:endParaRPr sz="900" b="0" i="0">
              <a:solidFill>
                <a:srgbClr val="4D4D4D"/>
              </a:solidFill>
              <a:latin typeface="DM Sans"/>
            </a:endParaRP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Delos / Valor Real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ANEEL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 err="1">
                <a:solidFill>
                  <a:srgbClr val="4D4D4D"/>
                </a:solidFill>
                <a:latin typeface="DM Sans"/>
              </a:rPr>
              <a:t>Prefeituras</a:t>
            </a:r>
            <a:endParaRPr sz="900" b="0" i="0">
              <a:solidFill>
                <a:srgbClr val="4D4D4D"/>
              </a:solidFill>
              <a:latin typeface="DM Sans"/>
            </a:endParaRPr>
          </a:p>
        </p:txBody>
      </p:sp>
      <p:sp>
        <p:nvSpPr>
          <p:cNvPr id="15" name="Premissas – fundo">
            <a:extLst>
              <a:ext uri="{FF2B5EF4-FFF2-40B4-BE49-F238E27FC236}">
                <a16:creationId xmlns:a16="http://schemas.microsoft.com/office/drawing/2014/main" id="{F4458BE4-18FF-2EB3-199F-D3B2E0545CE8}"/>
              </a:ext>
            </a:extLst>
          </p:cNvPr>
          <p:cNvSpPr/>
          <p:nvPr/>
        </p:nvSpPr>
        <p:spPr>
          <a:xfrm>
            <a:off x="2743199" y="1024128"/>
            <a:ext cx="425196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remissas – título">
            <a:extLst>
              <a:ext uri="{FF2B5EF4-FFF2-40B4-BE49-F238E27FC236}">
                <a16:creationId xmlns:a16="http://schemas.microsoft.com/office/drawing/2014/main" id="{F1997538-4BAF-AA99-6F07-07D38580BB5C}"/>
              </a:ext>
            </a:extLst>
          </p:cNvPr>
          <p:cNvSpPr/>
          <p:nvPr/>
        </p:nvSpPr>
        <p:spPr>
          <a:xfrm>
            <a:off x="2743199" y="1024128"/>
            <a:ext cx="4251960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Premissas</a:t>
            </a:r>
          </a:p>
        </p:txBody>
      </p:sp>
      <p:sp>
        <p:nvSpPr>
          <p:cNvPr id="17" name="Premissas lista">
            <a:extLst>
              <a:ext uri="{FF2B5EF4-FFF2-40B4-BE49-F238E27FC236}">
                <a16:creationId xmlns:a16="http://schemas.microsoft.com/office/drawing/2014/main" id="{265D68F4-99F8-9555-28D7-A2E73F58EF24}"/>
              </a:ext>
            </a:extLst>
          </p:cNvPr>
          <p:cNvSpPr txBox="1"/>
          <p:nvPr/>
        </p:nvSpPr>
        <p:spPr>
          <a:xfrm>
            <a:off x="2871215" y="1408176"/>
            <a:ext cx="3995928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O projeto será executado conforme orçamento aprovado (base CAPEX 08/10/2026); desvios de rateio/impostos (até 10%) absorvidos pelo departamento.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EPS com capacidade executiva (90 dias) mobilizará somente após geração e assinatura da O.S.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Execução de cada bloco em 30 dias (45 dias para o bloco com 4 RL).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Equipamentos recebidos até 21/01, 19/03 e 28/05/2027 (lotes 1, 2 e 3).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Aprovação das LSS e análise de documentos de terceiros (10 dias corridos) pelo SESMT ETO no prazo.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Manutenção do escopo das fichas 2027, sem serviços não previstos.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Ausência de acidentes com paralisação; EPS atende aos procedimentos de segurança e ITs.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PMA emitido após a aprovação do PN, com almoxarifado de destino conferido e kit completo de periféricos.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Local, autorização de passagem, aterramento e sinal GPRS validados antes da execução.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Equipamentos homologados e laudos validados; DEOP, DMSL e GAT disponíveis para proteção e comissionamento.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Disponibilidade de equipe de Linha Viva ETO e de desligamentos programados aprovados.</a:t>
            </a:r>
          </a:p>
        </p:txBody>
      </p:sp>
      <p:sp>
        <p:nvSpPr>
          <p:cNvPr id="18" name="Restrições – fundo">
            <a:extLst>
              <a:ext uri="{FF2B5EF4-FFF2-40B4-BE49-F238E27FC236}">
                <a16:creationId xmlns:a16="http://schemas.microsoft.com/office/drawing/2014/main" id="{B68B8775-9107-8F96-6E9D-E48650148CED}"/>
              </a:ext>
            </a:extLst>
          </p:cNvPr>
          <p:cNvSpPr/>
          <p:nvPr/>
        </p:nvSpPr>
        <p:spPr>
          <a:xfrm>
            <a:off x="2743199" y="4133088"/>
            <a:ext cx="42519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strições – título">
            <a:extLst>
              <a:ext uri="{FF2B5EF4-FFF2-40B4-BE49-F238E27FC236}">
                <a16:creationId xmlns:a16="http://schemas.microsoft.com/office/drawing/2014/main" id="{3F3D02DE-EA93-BF12-3492-AD769F385E4A}"/>
              </a:ext>
            </a:extLst>
          </p:cNvPr>
          <p:cNvSpPr/>
          <p:nvPr/>
        </p:nvSpPr>
        <p:spPr>
          <a:xfrm>
            <a:off x="2743199" y="4133088"/>
            <a:ext cx="4251960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Restrições</a:t>
            </a:r>
          </a:p>
        </p:txBody>
      </p:sp>
      <p:sp>
        <p:nvSpPr>
          <p:cNvPr id="20" name="Restrições lista">
            <a:extLst>
              <a:ext uri="{FF2B5EF4-FFF2-40B4-BE49-F238E27FC236}">
                <a16:creationId xmlns:a16="http://schemas.microsoft.com/office/drawing/2014/main" id="{7171FDE9-6801-316D-59F2-277FB927AC64}"/>
              </a:ext>
            </a:extLst>
          </p:cNvPr>
          <p:cNvSpPr txBox="1"/>
          <p:nvPr/>
        </p:nvSpPr>
        <p:spPr>
          <a:xfrm>
            <a:off x="2871215" y="4517136"/>
            <a:ext cx="399592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Iniciar a obra somente após assinatura do contrato com a empreiteira executora.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Energização dentro do mês definido pela ASPO (abr, mai, jun e ago/2027).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Instalar somente com local e desligamento validados.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Encerramento técnico antes do inventário; contábil após fiscalização da Gestão de Ativos, até 17/11/2027.</a:t>
            </a:r>
          </a:p>
        </p:txBody>
      </p:sp>
      <p:sp>
        <p:nvSpPr>
          <p:cNvPr id="21" name="Penalidades – fundo">
            <a:extLst>
              <a:ext uri="{FF2B5EF4-FFF2-40B4-BE49-F238E27FC236}">
                <a16:creationId xmlns:a16="http://schemas.microsoft.com/office/drawing/2014/main" id="{E927446E-CC41-D1CF-CEC4-791B87F5422C}"/>
              </a:ext>
            </a:extLst>
          </p:cNvPr>
          <p:cNvSpPr/>
          <p:nvPr/>
        </p:nvSpPr>
        <p:spPr>
          <a:xfrm>
            <a:off x="2743199" y="5367528"/>
            <a:ext cx="4251960" cy="1261871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enalidades – título">
            <a:extLst>
              <a:ext uri="{FF2B5EF4-FFF2-40B4-BE49-F238E27FC236}">
                <a16:creationId xmlns:a16="http://schemas.microsoft.com/office/drawing/2014/main" id="{BCBBAF5E-7D7F-1719-A464-FCB22FDABE23}"/>
              </a:ext>
            </a:extLst>
          </p:cNvPr>
          <p:cNvSpPr/>
          <p:nvPr/>
        </p:nvSpPr>
        <p:spPr>
          <a:xfrm>
            <a:off x="2743199" y="5367528"/>
            <a:ext cx="4251960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Penalidades</a:t>
            </a:r>
          </a:p>
        </p:txBody>
      </p:sp>
      <p:sp>
        <p:nvSpPr>
          <p:cNvPr id="23" name="Penalidades lista">
            <a:extLst>
              <a:ext uri="{FF2B5EF4-FFF2-40B4-BE49-F238E27FC236}">
                <a16:creationId xmlns:a16="http://schemas.microsoft.com/office/drawing/2014/main" id="{6D2D5C70-AA4A-7679-0929-2377308B0E5B}"/>
              </a:ext>
            </a:extLst>
          </p:cNvPr>
          <p:cNvSpPr txBox="1"/>
          <p:nvPr/>
        </p:nvSpPr>
        <p:spPr>
          <a:xfrm>
            <a:off x="2871215" y="5751576"/>
            <a:ext cx="3995928" cy="8046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Multa às prestadoras de serviço e fornecedores, após notificação, em caso de descumprimento do contrato.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Substituição da empreiteira e remanejamento de equipes por baixa capacidade ou atraso.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Medição pelas O.S. se a empreiteira não enviar as medições no prazo.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Não atingimento do benefício esperado pela unidade.</a:t>
            </a:r>
          </a:p>
        </p:txBody>
      </p:sp>
      <p:sp>
        <p:nvSpPr>
          <p:cNvPr id="24" name="Interface AT MT – fundo">
            <a:extLst>
              <a:ext uri="{FF2B5EF4-FFF2-40B4-BE49-F238E27FC236}">
                <a16:creationId xmlns:a16="http://schemas.microsoft.com/office/drawing/2014/main" id="{52A63B44-3F1A-2A72-CA8B-914AF619676F}"/>
              </a:ext>
            </a:extLst>
          </p:cNvPr>
          <p:cNvSpPr/>
          <p:nvPr/>
        </p:nvSpPr>
        <p:spPr>
          <a:xfrm>
            <a:off x="7132320" y="1024128"/>
            <a:ext cx="4785055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Interface AT MT – título">
            <a:extLst>
              <a:ext uri="{FF2B5EF4-FFF2-40B4-BE49-F238E27FC236}">
                <a16:creationId xmlns:a16="http://schemas.microsoft.com/office/drawing/2014/main" id="{96057607-F34C-C47B-FAFF-5498B448C1EF}"/>
              </a:ext>
            </a:extLst>
          </p:cNvPr>
          <p:cNvSpPr/>
          <p:nvPr/>
        </p:nvSpPr>
        <p:spPr>
          <a:xfrm>
            <a:off x="7132320" y="1024128"/>
            <a:ext cx="4785055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Datas de Interface – AT e MT</a:t>
            </a:r>
          </a:p>
        </p:txBody>
      </p:sp>
      <p:graphicFrame>
        <p:nvGraphicFramePr>
          <p:cNvPr id="26" name="Tabela interface">
            <a:extLst>
              <a:ext uri="{FF2B5EF4-FFF2-40B4-BE49-F238E27FC236}">
                <a16:creationId xmlns:a16="http://schemas.microsoft.com/office/drawing/2014/main" id="{7BB32449-40DB-25D0-EDDD-76C40CB32718}"/>
              </a:ext>
            </a:extLst>
          </p:cNvPr>
          <p:cNvGraphicFramePr>
            <a:graphicFrameLocks noGrp="1"/>
          </p:cNvGraphicFramePr>
          <p:nvPr/>
        </p:nvGraphicFramePr>
        <p:xfrm>
          <a:off x="7242048" y="1389888"/>
          <a:ext cx="4565599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9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Nível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Marco / atividade de interface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Data prevista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Responsável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Status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MT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Desligamento – 1º bloco (B4)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28/01/2027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COI / DCMD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A iniciar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MT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Ajuste de proteção – 1º bloco (B5)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01/04/2027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DEOP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A iniciar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MT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Comissionamento / GAT – 1º bloco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01/04/2027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DMSL / GAT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A iniciar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MT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Energização – último bloco (B3)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20/08/2027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DCMD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A iniciar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Curva orçamentária – fundo">
            <a:extLst>
              <a:ext uri="{FF2B5EF4-FFF2-40B4-BE49-F238E27FC236}">
                <a16:creationId xmlns:a16="http://schemas.microsoft.com/office/drawing/2014/main" id="{77C18B2D-7865-B25E-3A9C-1AAE36FFBDC7}"/>
              </a:ext>
            </a:extLst>
          </p:cNvPr>
          <p:cNvSpPr/>
          <p:nvPr/>
        </p:nvSpPr>
        <p:spPr>
          <a:xfrm>
            <a:off x="7132320" y="2578608"/>
            <a:ext cx="4785055" cy="124358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urva orçamentária – título">
            <a:extLst>
              <a:ext uri="{FF2B5EF4-FFF2-40B4-BE49-F238E27FC236}">
                <a16:creationId xmlns:a16="http://schemas.microsoft.com/office/drawing/2014/main" id="{0A739096-434D-632E-5DBB-411C0BBE920B}"/>
              </a:ext>
            </a:extLst>
          </p:cNvPr>
          <p:cNvSpPr/>
          <p:nvPr/>
        </p:nvSpPr>
        <p:spPr>
          <a:xfrm>
            <a:off x="7132320" y="2578608"/>
            <a:ext cx="4785055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Curva Orçamentária (R$ mil)</a:t>
            </a:r>
          </a:p>
        </p:txBody>
      </p:sp>
      <p:sp>
        <p:nvSpPr>
          <p:cNvPr id="30" name="Aquisições – fundo">
            <a:extLst>
              <a:ext uri="{FF2B5EF4-FFF2-40B4-BE49-F238E27FC236}">
                <a16:creationId xmlns:a16="http://schemas.microsoft.com/office/drawing/2014/main" id="{DF6CF142-9BB0-CBE7-F31F-DBFC7831627C}"/>
              </a:ext>
            </a:extLst>
          </p:cNvPr>
          <p:cNvSpPr/>
          <p:nvPr/>
        </p:nvSpPr>
        <p:spPr>
          <a:xfrm>
            <a:off x="7132320" y="3959352"/>
            <a:ext cx="4785055" cy="123444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Aquisições – título">
            <a:extLst>
              <a:ext uri="{FF2B5EF4-FFF2-40B4-BE49-F238E27FC236}">
                <a16:creationId xmlns:a16="http://schemas.microsoft.com/office/drawing/2014/main" id="{1E92373D-F470-FDD8-1116-6653DC378456}"/>
              </a:ext>
            </a:extLst>
          </p:cNvPr>
          <p:cNvSpPr/>
          <p:nvPr/>
        </p:nvSpPr>
        <p:spPr>
          <a:xfrm>
            <a:off x="7132320" y="3959352"/>
            <a:ext cx="4785055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Aquisições e Contratações</a:t>
            </a:r>
          </a:p>
        </p:txBody>
      </p:sp>
      <p:graphicFrame>
        <p:nvGraphicFramePr>
          <p:cNvPr id="32" name="Tabela aquisições">
            <a:extLst>
              <a:ext uri="{FF2B5EF4-FFF2-40B4-BE49-F238E27FC236}">
                <a16:creationId xmlns:a16="http://schemas.microsoft.com/office/drawing/2014/main" id="{315BE59F-8FD7-8A86-5AB1-2F3DD0E40592}"/>
              </a:ext>
            </a:extLst>
          </p:cNvPr>
          <p:cNvGraphicFramePr>
            <a:graphicFrameLocks noGrp="1"/>
          </p:cNvGraphicFramePr>
          <p:nvPr/>
        </p:nvGraphicFramePr>
        <p:xfrm>
          <a:off x="7242048" y="4251960"/>
          <a:ext cx="4565599" cy="877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96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Item / serviço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Tipo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Data necessária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Status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1F1F4C"/>
                          </a:solidFill>
                          <a:latin typeface="DM Sans"/>
                        </a:rPr>
                        <a:t>Religadores (12) e TripSaver (3)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Equipamento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21/01/2027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1F1F4C"/>
                          </a:solidFill>
                          <a:latin typeface="DM Sans"/>
                        </a:rPr>
                        <a:t>PMA a emitir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1F1F4C"/>
                          </a:solidFill>
                          <a:latin typeface="DM Sans"/>
                        </a:rPr>
                        <a:t>Reguladores de tensão (9)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Equipamento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21/01/2027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1F1F4C"/>
                          </a:solidFill>
                          <a:latin typeface="DM Sans"/>
                        </a:rPr>
                        <a:t>PMA a emitir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1F1F4C"/>
                          </a:solidFill>
                          <a:latin typeface="DM Sans"/>
                        </a:rPr>
                        <a:t>Empreiteira executora (EPS) – O.S. lote 1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Contratação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27/01/2027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1F1F4C"/>
                          </a:solidFill>
                          <a:latin typeface="DM Sans"/>
                        </a:rPr>
                        <a:t>A emitir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Riscos – fundo">
            <a:extLst>
              <a:ext uri="{FF2B5EF4-FFF2-40B4-BE49-F238E27FC236}">
                <a16:creationId xmlns:a16="http://schemas.microsoft.com/office/drawing/2014/main" id="{9F4418D2-D2C3-EA04-62A5-E70B381104C1}"/>
              </a:ext>
            </a:extLst>
          </p:cNvPr>
          <p:cNvSpPr/>
          <p:nvPr/>
        </p:nvSpPr>
        <p:spPr>
          <a:xfrm>
            <a:off x="7132320" y="5330952"/>
            <a:ext cx="4785055" cy="1298448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iscos – título">
            <a:extLst>
              <a:ext uri="{FF2B5EF4-FFF2-40B4-BE49-F238E27FC236}">
                <a16:creationId xmlns:a16="http://schemas.microsoft.com/office/drawing/2014/main" id="{50507711-E53B-7D5F-873D-CFE0A26AB425}"/>
              </a:ext>
            </a:extLst>
          </p:cNvPr>
          <p:cNvSpPr/>
          <p:nvPr/>
        </p:nvSpPr>
        <p:spPr>
          <a:xfrm>
            <a:off x="7132320" y="5330952"/>
            <a:ext cx="4785055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Principais Riscos do Projeto</a:t>
            </a:r>
          </a:p>
        </p:txBody>
      </p:sp>
      <p:sp>
        <p:nvSpPr>
          <p:cNvPr id="35" name="Riscos lista">
            <a:extLst>
              <a:ext uri="{FF2B5EF4-FFF2-40B4-BE49-F238E27FC236}">
                <a16:creationId xmlns:a16="http://schemas.microsoft.com/office/drawing/2014/main" id="{9799A25D-AF93-0FB0-C3C1-3121AACFE4ED}"/>
              </a:ext>
            </a:extLst>
          </p:cNvPr>
          <p:cNvSpPr txBox="1"/>
          <p:nvPr/>
        </p:nvSpPr>
        <p:spPr>
          <a:xfrm>
            <a:off x="7260336" y="5715000"/>
            <a:ext cx="4529023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Atraso no fornecimento de RL/RT e IEDs (lead time de até 210 dias – SEL).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Prazo curto do 90811 (energização abr/27, execução a partir de 28/01/2027).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Concentração de comissionamentos em jun/27 (6 blocos na Regional Centro).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Indisponibilidade de Linha Viva / cancelamento de desligamentos programados.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Local sem validação prévia ou empreiteira sem capacidade executiva.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Acidente de trabalho com paralisação da obra.</a:t>
            </a:r>
          </a:p>
        </p:txBody>
      </p:sp>
      <p:graphicFrame>
        <p:nvGraphicFramePr>
          <p:cNvPr id="3" name="Tabela curva orçamentária">
            <a:extLst>
              <a:ext uri="{FF2B5EF4-FFF2-40B4-BE49-F238E27FC236}">
                <a16:creationId xmlns:a16="http://schemas.microsoft.com/office/drawing/2014/main" id="{7DFBEB2F-F1D0-01F1-F9B5-20B36C8ABC38}"/>
              </a:ext>
            </a:extLst>
          </p:cNvPr>
          <p:cNvGraphicFramePr>
            <a:graphicFrameLocks noGrp="1"/>
          </p:cNvGraphicFramePr>
          <p:nvPr/>
        </p:nvGraphicFramePr>
        <p:xfrm>
          <a:off x="7216648" y="2893568"/>
          <a:ext cx="4565592" cy="877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Reg.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SIGCOs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Jan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Fev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Mar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Abr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Mai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Jun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Jul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Ago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Set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Out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Nov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Dez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Total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Norte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3 SIGCOs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433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480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182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218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4D4D4D"/>
                          </a:solidFill>
                          <a:latin typeface="DM Sans"/>
                        </a:rPr>
                        <a:t>1.313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Centro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7 SIGCOs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122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855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842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814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711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4D4D4D"/>
                          </a:solidFill>
                          <a:latin typeface="DM Sans"/>
                        </a:rPr>
                        <a:t>3.344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Sul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2 SIGCOs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147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93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203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128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4D4D4D"/>
                          </a:solidFill>
                          <a:latin typeface="DM Sans"/>
                        </a:rPr>
                        <a:t>571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6851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Aquisições e Contratações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05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00000"/>
          <a:ext cx="11200000" cy="33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DM Sans"/>
                        </a:rPr>
                        <a:t>Material / serviço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DM Sans"/>
                        </a:rPr>
                        <a:t>Qtd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DM Sans"/>
                        </a:rPr>
                        <a:t>SIGCO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DM Sans"/>
                        </a:rPr>
                        <a:t>Necessário até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DM Sans"/>
                        </a:rPr>
                        <a:t>Status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DM Sans"/>
                        </a:rPr>
                        <a:t>Nº PMA / RFP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Religador (RL)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91979, 92094, 92095, 90811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16/02/2027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A confirmar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Religador (RL) 13,8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92118, 92101, 92102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16/03/2027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A confirmar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Regulador de tensão (RT)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8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89267, 70838, 70978, 90811, 89249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16/02/2027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A confirmar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Regulador de tensão (RT) 13,8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89307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22/06/2027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A confirmar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 dirty="0" err="1">
                          <a:solidFill>
                            <a:srgbClr val="4D4D4D"/>
                          </a:solidFill>
                          <a:latin typeface="DM Sans"/>
                        </a:rPr>
                        <a:t>TripSaver</a:t>
                      </a:r>
                      <a:endParaRPr sz="1000" dirty="0">
                        <a:solidFill>
                          <a:srgbClr val="4D4D4D"/>
                        </a:solidFill>
                        <a:latin typeface="DM Sans"/>
                      </a:endParaRP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4D4D4D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91979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16/03/2027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A confirmar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Remanejamento de religador (RL)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89307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22/06/2027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Sem aquisição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 dirty="0" err="1">
                          <a:solidFill>
                            <a:srgbClr val="4D4D4D"/>
                          </a:solidFill>
                          <a:latin typeface="DM Sans"/>
                        </a:rPr>
                        <a:t>Empreiteira</a:t>
                      </a:r>
                      <a:r>
                        <a:rPr sz="1000" dirty="0">
                          <a:solidFill>
                            <a:srgbClr val="4D4D4D"/>
                          </a:solidFill>
                          <a:latin typeface="DM Sans"/>
                        </a:rPr>
                        <a:t> </a:t>
                      </a:r>
                      <a:r>
                        <a:rPr sz="1000" dirty="0" err="1">
                          <a:solidFill>
                            <a:srgbClr val="4D4D4D"/>
                          </a:solidFill>
                          <a:latin typeface="DM Sans"/>
                        </a:rPr>
                        <a:t>executora</a:t>
                      </a:r>
                      <a:r>
                        <a:rPr sz="1000" dirty="0">
                          <a:solidFill>
                            <a:srgbClr val="4D4D4D"/>
                          </a:solidFill>
                          <a:latin typeface="DM Sans"/>
                        </a:rPr>
                        <a:t> da </a:t>
                      </a:r>
                      <a:r>
                        <a:rPr sz="1000" dirty="0" err="1">
                          <a:solidFill>
                            <a:srgbClr val="4D4D4D"/>
                          </a:solidFill>
                          <a:latin typeface="DM Sans"/>
                        </a:rPr>
                        <a:t>obra</a:t>
                      </a:r>
                      <a:r>
                        <a:rPr sz="1000" dirty="0">
                          <a:solidFill>
                            <a:srgbClr val="4D4D4D"/>
                          </a:solidFill>
                          <a:latin typeface="DM Sans"/>
                        </a:rPr>
                        <a:t> (</a:t>
                      </a:r>
                      <a:r>
                        <a:rPr sz="1000" dirty="0" err="1">
                          <a:solidFill>
                            <a:srgbClr val="4D4D4D"/>
                          </a:solidFill>
                          <a:latin typeface="DM Sans"/>
                        </a:rPr>
                        <a:t>contrato</a:t>
                      </a:r>
                      <a:r>
                        <a:rPr sz="1000" dirty="0">
                          <a:solidFill>
                            <a:srgbClr val="4D4D4D"/>
                          </a:solidFill>
                          <a:latin typeface="DM Sans"/>
                        </a:rPr>
                        <a:t> </a:t>
                      </a:r>
                      <a:r>
                        <a:rPr sz="1000" dirty="0" err="1">
                          <a:solidFill>
                            <a:srgbClr val="4D4D4D"/>
                          </a:solidFill>
                          <a:latin typeface="DM Sans"/>
                        </a:rPr>
                        <a:t>vigente</a:t>
                      </a:r>
                      <a:r>
                        <a:rPr sz="1000" dirty="0">
                          <a:solidFill>
                            <a:srgbClr val="4D4D4D"/>
                          </a:solidFill>
                          <a:latin typeface="DM Sans"/>
                        </a:rPr>
                        <a:t>)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Todos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16/02/2027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Contrato vigente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880000"/>
            <a:ext cx="11200000" cy="450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/>
            <a:r>
              <a:rPr sz="900" b="0" i="1">
                <a:solidFill>
                  <a:srgbClr val="4D4D4D"/>
                </a:solidFill>
                <a:latin typeface="DM Sans"/>
              </a:rPr>
              <a:t>"Necessário até" = início da execução do bloco mais cedo que usa o item (WBS). Status e nº de PMA/RFP a confirmar com Suprimentos – informações não constam nas planilhas recebidas.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1B19FA-C361-4AEA-63D3-A4D5E83BA84A}"/>
              </a:ext>
            </a:extLst>
          </p:cNvPr>
          <p:cNvSpPr txBox="1">
            <a:spLocks/>
          </p:cNvSpPr>
          <p:nvPr/>
        </p:nvSpPr>
        <p:spPr>
          <a:xfrm>
            <a:off x="374904" y="448056"/>
            <a:ext cx="9144000" cy="566737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Curva orçamentária 2027</a:t>
            </a:r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C16A34ED-02F0-3BE2-B643-C37922915AC6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graphicFrame>
        <p:nvGraphicFramePr>
          <p:cNvPr id="6" name="Tabela curva"/>
          <p:cNvGraphicFramePr>
            <a:graphicFrameLocks noGrp="1"/>
          </p:cNvGraphicFramePr>
          <p:nvPr/>
        </p:nvGraphicFramePr>
        <p:xfrm>
          <a:off x="457200" y="1234440"/>
          <a:ext cx="11274552" cy="3136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8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SIGCO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Projeto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Reg.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Jan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Fev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Mar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Abr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Mai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Jun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Jul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Ago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Set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Out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Nov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Dez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Total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92118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- 4 de Araguaína IV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Norte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67.952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42.784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110.736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89267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- LD Xambioá II - Araguanã - 2XB2 -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Norte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364.692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437.630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802.322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89249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- LD Araguaína - Babaçulândia - 2AR0 -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Norte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181.643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217.971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399.614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90811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RL e RT - LD UHE Isamu - Ponte Alta - 1UI1 -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122.143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854.999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824.463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1.801.605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92095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LD Palmas - Lajeado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17.761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88.807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23.682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130.250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92101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- 8 de Palmas IV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72.985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37.751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110.736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70838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- LD Cristalândia - Lagoa da Confusão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263.382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136.232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399.614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92102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- 6 de Palmas IV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55.368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55.368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110.736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70978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e Balanceamento de Fase - LD Paraíso I - Caseara - 2PR0 -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199.957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199.957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399.914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92094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LD Palmas - Aparecida do Rio Negro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133.210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257.540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390.750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91979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LD Gurupi - Dueré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Sul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147.016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92.566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239.582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89307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- 1 de Figueirópolis - 2FGR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Sul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203.107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127.882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330.989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Total (R$)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122.143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854.999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1.421.884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1.386.690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710.530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384.750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345.854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 dirty="0">
                          <a:solidFill>
                            <a:srgbClr val="F47B20"/>
                          </a:solidFill>
                          <a:latin typeface="DM Sans"/>
                        </a:rPr>
                        <a:t>5.226.849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7" name="Gráfico curva"/>
          <p:cNvGraphicFramePr>
            <a:graphicFrameLocks noGrp="1"/>
          </p:cNvGraphicFramePr>
          <p:nvPr/>
        </p:nvGraphicFramePr>
        <p:xfrm>
          <a:off x="457200" y="4434840"/>
          <a:ext cx="7589520" cy="18745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Curva destaque"/>
          <p:cNvSpPr/>
          <p:nvPr/>
        </p:nvSpPr>
        <p:spPr>
          <a:xfrm>
            <a:off x="8321040" y="4526280"/>
            <a:ext cx="3410712" cy="17373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49640" y="464515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89898"/>
                </a:solidFill>
                <a:latin typeface="DM Sans"/>
              </a:rPr>
              <a:t>ORÇAMENTO 2027 · BASE 08/10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486460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47B20"/>
                </a:solidFill>
                <a:latin typeface="DM Sans"/>
              </a:rPr>
              <a:t>R$ </a:t>
            </a:r>
            <a:r>
              <a:rPr sz="2200" b="1" i="0">
                <a:solidFill>
                  <a:srgbClr val="1F1F4C"/>
                </a:solidFill>
                <a:latin typeface="DM Sans"/>
              </a:rPr>
              <a:t>5,23 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539496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4D4D4D"/>
                </a:solidFill>
                <a:latin typeface="DM Sans"/>
              </a:rPr>
              <a:t>72% do desembolso até abril/27 e 100% até julho/27.</a:t>
            </a:r>
          </a:p>
          <a:p>
            <a:pPr algn="l"/>
            <a:r>
              <a:rPr sz="850" b="0" i="0">
                <a:solidFill>
                  <a:srgbClr val="4D4D4D"/>
                </a:solidFill>
                <a:latin typeface="DM Sans"/>
              </a:rPr>
              <a:t>Distribuição em dias corridos entre o início da execução e o fim da fiscalização de cada bloco.</a:t>
            </a:r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F81E71CF-89BA-30B3-477F-D2F80AF6F227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06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190876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F822F467-8F1C-A3F0-64D5-01DA4CEAC475}"/>
              </a:ext>
            </a:extLst>
          </p:cNvPr>
          <p:cNvSpPr txBox="1">
            <a:spLocks/>
          </p:cNvSpPr>
          <p:nvPr/>
        </p:nvSpPr>
        <p:spPr>
          <a:xfrm>
            <a:off x="374904" y="448056"/>
            <a:ext cx="9144000" cy="566737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Premissas, Restrições e Penalidades</a:t>
            </a:r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F81E71CF-89BA-30B3-477F-D2F80AF6F227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07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5" name="Premissas – fundo">
            <a:extLst>
              <a:ext uri="{FF2B5EF4-FFF2-40B4-BE49-F238E27FC236}">
                <a16:creationId xmlns:a16="http://schemas.microsoft.com/office/drawing/2014/main" id="{1E2FE0A5-4414-68E2-D4FE-2EB081A6CA1E}"/>
              </a:ext>
            </a:extLst>
          </p:cNvPr>
          <p:cNvSpPr/>
          <p:nvPr/>
        </p:nvSpPr>
        <p:spPr>
          <a:xfrm>
            <a:off x="457200" y="1371600"/>
            <a:ext cx="6903720" cy="48006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adge check">
            <a:extLst>
              <a:ext uri="{FF2B5EF4-FFF2-40B4-BE49-F238E27FC236}">
                <a16:creationId xmlns:a16="http://schemas.microsoft.com/office/drawing/2014/main" id="{FE65446A-E693-3191-3AC7-451831992F5B}"/>
              </a:ext>
            </a:extLst>
          </p:cNvPr>
          <p:cNvSpPr/>
          <p:nvPr/>
        </p:nvSpPr>
        <p:spPr>
          <a:xfrm>
            <a:off x="731520" y="1572768"/>
            <a:ext cx="384048" cy="384048"/>
          </a:xfrm>
          <a:prstGeom prst="ellipse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Ícone check" descr="check_white.png">
            <a:extLst>
              <a:ext uri="{FF2B5EF4-FFF2-40B4-BE49-F238E27FC236}">
                <a16:creationId xmlns:a16="http://schemas.microsoft.com/office/drawing/2014/main" id="{AD96684F-8183-23FC-61BF-4FD74FD5D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" y="1668780"/>
            <a:ext cx="192024" cy="192024"/>
          </a:xfrm>
          <a:prstGeom prst="rect">
            <a:avLst/>
          </a:prstGeom>
        </p:spPr>
      </p:pic>
      <p:sp>
        <p:nvSpPr>
          <p:cNvPr id="8" name="Título Premissas">
            <a:extLst>
              <a:ext uri="{FF2B5EF4-FFF2-40B4-BE49-F238E27FC236}">
                <a16:creationId xmlns:a16="http://schemas.microsoft.com/office/drawing/2014/main" id="{9EDF45E4-580C-6B40-11B6-E916BC72937D}"/>
              </a:ext>
            </a:extLst>
          </p:cNvPr>
          <p:cNvSpPr txBox="1"/>
          <p:nvPr/>
        </p:nvSpPr>
        <p:spPr>
          <a:xfrm>
            <a:off x="1234440" y="1572768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80">
                <a:solidFill>
                  <a:srgbClr val="1F1F4C"/>
                </a:solidFill>
                <a:latin typeface="DM Sans"/>
              </a:rPr>
              <a:t>PREMISSAS</a:t>
            </a:r>
          </a:p>
        </p:txBody>
      </p:sp>
      <p:sp>
        <p:nvSpPr>
          <p:cNvPr id="9" name="Premissa 1 – nº">
            <a:extLst>
              <a:ext uri="{FF2B5EF4-FFF2-40B4-BE49-F238E27FC236}">
                <a16:creationId xmlns:a16="http://schemas.microsoft.com/office/drawing/2014/main" id="{25FE24D6-0982-B318-8C7F-E893AFB57E09}"/>
              </a:ext>
            </a:extLst>
          </p:cNvPr>
          <p:cNvSpPr/>
          <p:nvPr/>
        </p:nvSpPr>
        <p:spPr>
          <a:xfrm>
            <a:off x="731520" y="210312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remissa 1 – nº texto">
            <a:extLst>
              <a:ext uri="{FF2B5EF4-FFF2-40B4-BE49-F238E27FC236}">
                <a16:creationId xmlns:a16="http://schemas.microsoft.com/office/drawing/2014/main" id="{FC11B2E7-C410-E36D-4AB8-3C75074264B3}"/>
              </a:ext>
            </a:extLst>
          </p:cNvPr>
          <p:cNvSpPr txBox="1"/>
          <p:nvPr/>
        </p:nvSpPr>
        <p:spPr>
          <a:xfrm>
            <a:off x="731520" y="210312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1</a:t>
            </a:r>
          </a:p>
        </p:txBody>
      </p:sp>
      <p:sp>
        <p:nvSpPr>
          <p:cNvPr id="11" name="Premissa 1">
            <a:extLst>
              <a:ext uri="{FF2B5EF4-FFF2-40B4-BE49-F238E27FC236}">
                <a16:creationId xmlns:a16="http://schemas.microsoft.com/office/drawing/2014/main" id="{6EDF869A-86E5-2F94-99E3-9ACDEBBC4607}"/>
              </a:ext>
            </a:extLst>
          </p:cNvPr>
          <p:cNvSpPr txBox="1"/>
          <p:nvPr/>
        </p:nvSpPr>
        <p:spPr>
          <a:xfrm>
            <a:off x="1143000" y="2084832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O projeto será executado conforme orçamento aprovado (base CAPEX 08/10/2026); desvios de rateio de materiais e impostos (referência: até 10%) são absorvidos no orçamento do departamento.</a:t>
            </a:r>
          </a:p>
        </p:txBody>
      </p:sp>
      <p:sp>
        <p:nvSpPr>
          <p:cNvPr id="12" name="Premissa 2 – nº">
            <a:extLst>
              <a:ext uri="{FF2B5EF4-FFF2-40B4-BE49-F238E27FC236}">
                <a16:creationId xmlns:a16="http://schemas.microsoft.com/office/drawing/2014/main" id="{47BF487E-BBE2-26F8-CE59-A78D82AB61E2}"/>
              </a:ext>
            </a:extLst>
          </p:cNvPr>
          <p:cNvSpPr/>
          <p:nvPr/>
        </p:nvSpPr>
        <p:spPr>
          <a:xfrm>
            <a:off x="731520" y="246430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remissa 2 – nº texto">
            <a:extLst>
              <a:ext uri="{FF2B5EF4-FFF2-40B4-BE49-F238E27FC236}">
                <a16:creationId xmlns:a16="http://schemas.microsoft.com/office/drawing/2014/main" id="{105DFF82-EE01-CF60-6601-63E171195C2A}"/>
              </a:ext>
            </a:extLst>
          </p:cNvPr>
          <p:cNvSpPr txBox="1"/>
          <p:nvPr/>
        </p:nvSpPr>
        <p:spPr>
          <a:xfrm>
            <a:off x="731520" y="246430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2</a:t>
            </a:r>
          </a:p>
        </p:txBody>
      </p:sp>
      <p:sp>
        <p:nvSpPr>
          <p:cNvPr id="14" name="Premissa 2">
            <a:extLst>
              <a:ext uri="{FF2B5EF4-FFF2-40B4-BE49-F238E27FC236}">
                <a16:creationId xmlns:a16="http://schemas.microsoft.com/office/drawing/2014/main" id="{A75170D3-5CA2-9262-3B0C-1A9161851CC2}"/>
              </a:ext>
            </a:extLst>
          </p:cNvPr>
          <p:cNvSpPr txBox="1"/>
          <p:nvPr/>
        </p:nvSpPr>
        <p:spPr>
          <a:xfrm>
            <a:off x="1143000" y="2446020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EPS com capacidade executiva comprovada para o horizonte de 90 dias; mobilizará somente após geração e assinatura da O.S.</a:t>
            </a:r>
          </a:p>
        </p:txBody>
      </p:sp>
      <p:sp>
        <p:nvSpPr>
          <p:cNvPr id="15" name="Premissa 3 – nº">
            <a:extLst>
              <a:ext uri="{FF2B5EF4-FFF2-40B4-BE49-F238E27FC236}">
                <a16:creationId xmlns:a16="http://schemas.microsoft.com/office/drawing/2014/main" id="{D298E947-F1C4-1A3C-BEFA-82324A66A69F}"/>
              </a:ext>
            </a:extLst>
          </p:cNvPr>
          <p:cNvSpPr/>
          <p:nvPr/>
        </p:nvSpPr>
        <p:spPr>
          <a:xfrm>
            <a:off x="731520" y="282549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remissa 3 – nº texto">
            <a:extLst>
              <a:ext uri="{FF2B5EF4-FFF2-40B4-BE49-F238E27FC236}">
                <a16:creationId xmlns:a16="http://schemas.microsoft.com/office/drawing/2014/main" id="{D33CDE8E-DCD2-22BF-C3C2-02DBE0AC5B67}"/>
              </a:ext>
            </a:extLst>
          </p:cNvPr>
          <p:cNvSpPr txBox="1"/>
          <p:nvPr/>
        </p:nvSpPr>
        <p:spPr>
          <a:xfrm>
            <a:off x="731520" y="28254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3</a:t>
            </a:r>
          </a:p>
        </p:txBody>
      </p:sp>
      <p:sp>
        <p:nvSpPr>
          <p:cNvPr id="17" name="Premissa 3">
            <a:extLst>
              <a:ext uri="{FF2B5EF4-FFF2-40B4-BE49-F238E27FC236}">
                <a16:creationId xmlns:a16="http://schemas.microsoft.com/office/drawing/2014/main" id="{8DE99607-9A20-3306-C3D8-68F66D1F1248}"/>
              </a:ext>
            </a:extLst>
          </p:cNvPr>
          <p:cNvSpPr txBox="1"/>
          <p:nvPr/>
        </p:nvSpPr>
        <p:spPr>
          <a:xfrm>
            <a:off x="1143000" y="2807208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Cumprimento dos prazos dos blocos de instalação de equipamentos especiais (RL/RT) definidos na WBS.</a:t>
            </a:r>
          </a:p>
        </p:txBody>
      </p:sp>
      <p:sp>
        <p:nvSpPr>
          <p:cNvPr id="18" name="Premissa 4 – nº">
            <a:extLst>
              <a:ext uri="{FF2B5EF4-FFF2-40B4-BE49-F238E27FC236}">
                <a16:creationId xmlns:a16="http://schemas.microsoft.com/office/drawing/2014/main" id="{6A3C957C-44D0-EF12-3FBB-166620330E42}"/>
              </a:ext>
            </a:extLst>
          </p:cNvPr>
          <p:cNvSpPr/>
          <p:nvPr/>
        </p:nvSpPr>
        <p:spPr>
          <a:xfrm>
            <a:off x="731520" y="318668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Premissa 4 – nº texto">
            <a:extLst>
              <a:ext uri="{FF2B5EF4-FFF2-40B4-BE49-F238E27FC236}">
                <a16:creationId xmlns:a16="http://schemas.microsoft.com/office/drawing/2014/main" id="{B12F91DC-6C45-CD2C-1990-A474580C74AB}"/>
              </a:ext>
            </a:extLst>
          </p:cNvPr>
          <p:cNvSpPr txBox="1"/>
          <p:nvPr/>
        </p:nvSpPr>
        <p:spPr>
          <a:xfrm>
            <a:off x="731520" y="31866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4</a:t>
            </a:r>
          </a:p>
        </p:txBody>
      </p:sp>
      <p:sp>
        <p:nvSpPr>
          <p:cNvPr id="20" name="Premissa 4">
            <a:extLst>
              <a:ext uri="{FF2B5EF4-FFF2-40B4-BE49-F238E27FC236}">
                <a16:creationId xmlns:a16="http://schemas.microsoft.com/office/drawing/2014/main" id="{674DC50A-26C8-9773-342A-0910EDA26D3C}"/>
              </a:ext>
            </a:extLst>
          </p:cNvPr>
          <p:cNvSpPr txBox="1"/>
          <p:nvPr/>
        </p:nvSpPr>
        <p:spPr>
          <a:xfrm>
            <a:off x="1143000" y="3168396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Contratação de empresas com capacidade técnica e financeira, considerando as obras reguladas concorrentes na mesma empreiteira.</a:t>
            </a:r>
          </a:p>
        </p:txBody>
      </p:sp>
      <p:sp>
        <p:nvSpPr>
          <p:cNvPr id="21" name="Premissa 5 – nº">
            <a:extLst>
              <a:ext uri="{FF2B5EF4-FFF2-40B4-BE49-F238E27FC236}">
                <a16:creationId xmlns:a16="http://schemas.microsoft.com/office/drawing/2014/main" id="{FA2878B2-FC15-FF04-B828-93E6526A109F}"/>
              </a:ext>
            </a:extLst>
          </p:cNvPr>
          <p:cNvSpPr/>
          <p:nvPr/>
        </p:nvSpPr>
        <p:spPr>
          <a:xfrm>
            <a:off x="731520" y="354787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remissa 5 – nº texto">
            <a:extLst>
              <a:ext uri="{FF2B5EF4-FFF2-40B4-BE49-F238E27FC236}">
                <a16:creationId xmlns:a16="http://schemas.microsoft.com/office/drawing/2014/main" id="{CAE0570F-C73B-D867-B8C1-2054A67601B0}"/>
              </a:ext>
            </a:extLst>
          </p:cNvPr>
          <p:cNvSpPr txBox="1"/>
          <p:nvPr/>
        </p:nvSpPr>
        <p:spPr>
          <a:xfrm>
            <a:off x="731520" y="35478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5</a:t>
            </a:r>
          </a:p>
        </p:txBody>
      </p:sp>
      <p:sp>
        <p:nvSpPr>
          <p:cNvPr id="23" name="Premissa 5">
            <a:extLst>
              <a:ext uri="{FF2B5EF4-FFF2-40B4-BE49-F238E27FC236}">
                <a16:creationId xmlns:a16="http://schemas.microsoft.com/office/drawing/2014/main" id="{C8684D72-CD5A-C4F6-6D6C-67EAA513D42A}"/>
              </a:ext>
            </a:extLst>
          </p:cNvPr>
          <p:cNvSpPr txBox="1"/>
          <p:nvPr/>
        </p:nvSpPr>
        <p:spPr>
          <a:xfrm>
            <a:off x="1143000" y="3529584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Aprovação das LSS e análise da documentação de terceiros pelo SESMT ETO (10 dias corridos) dentro do prazo solicitado.</a:t>
            </a:r>
          </a:p>
        </p:txBody>
      </p:sp>
      <p:sp>
        <p:nvSpPr>
          <p:cNvPr id="24" name="Premissa 6 – nº">
            <a:extLst>
              <a:ext uri="{FF2B5EF4-FFF2-40B4-BE49-F238E27FC236}">
                <a16:creationId xmlns:a16="http://schemas.microsoft.com/office/drawing/2014/main" id="{0AF73073-83D5-E2EC-C3AF-FFB240A4830D}"/>
              </a:ext>
            </a:extLst>
          </p:cNvPr>
          <p:cNvSpPr/>
          <p:nvPr/>
        </p:nvSpPr>
        <p:spPr>
          <a:xfrm>
            <a:off x="731520" y="390906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Premissa 6 – nº texto">
            <a:extLst>
              <a:ext uri="{FF2B5EF4-FFF2-40B4-BE49-F238E27FC236}">
                <a16:creationId xmlns:a16="http://schemas.microsoft.com/office/drawing/2014/main" id="{7EDF757D-D07F-5385-2811-68027B64B53A}"/>
              </a:ext>
            </a:extLst>
          </p:cNvPr>
          <p:cNvSpPr txBox="1"/>
          <p:nvPr/>
        </p:nvSpPr>
        <p:spPr>
          <a:xfrm>
            <a:off x="731520" y="39090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6</a:t>
            </a:r>
          </a:p>
        </p:txBody>
      </p:sp>
      <p:sp>
        <p:nvSpPr>
          <p:cNvPr id="26" name="Premissa 6">
            <a:extLst>
              <a:ext uri="{FF2B5EF4-FFF2-40B4-BE49-F238E27FC236}">
                <a16:creationId xmlns:a16="http://schemas.microsoft.com/office/drawing/2014/main" id="{1284D406-7A88-5FDD-B47E-505A8119356F}"/>
              </a:ext>
            </a:extLst>
          </p:cNvPr>
          <p:cNvSpPr txBox="1"/>
          <p:nvPr/>
        </p:nvSpPr>
        <p:spPr>
          <a:xfrm>
            <a:off x="1143000" y="3890772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Manutenção do escopo do projeto, sem inclusão de serviços não previstos inicialmente.</a:t>
            </a:r>
          </a:p>
        </p:txBody>
      </p:sp>
      <p:sp>
        <p:nvSpPr>
          <p:cNvPr id="27" name="Premissa 7 – nº">
            <a:extLst>
              <a:ext uri="{FF2B5EF4-FFF2-40B4-BE49-F238E27FC236}">
                <a16:creationId xmlns:a16="http://schemas.microsoft.com/office/drawing/2014/main" id="{5ED2610B-049C-4FD4-5D41-7FE5E17469CF}"/>
              </a:ext>
            </a:extLst>
          </p:cNvPr>
          <p:cNvSpPr/>
          <p:nvPr/>
        </p:nvSpPr>
        <p:spPr>
          <a:xfrm>
            <a:off x="731520" y="427024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Premissa 7 – nº texto">
            <a:extLst>
              <a:ext uri="{FF2B5EF4-FFF2-40B4-BE49-F238E27FC236}">
                <a16:creationId xmlns:a16="http://schemas.microsoft.com/office/drawing/2014/main" id="{1BC8035C-29A2-30A2-ACCE-F2C352CBEB93}"/>
              </a:ext>
            </a:extLst>
          </p:cNvPr>
          <p:cNvSpPr txBox="1"/>
          <p:nvPr/>
        </p:nvSpPr>
        <p:spPr>
          <a:xfrm>
            <a:off x="731520" y="427024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7</a:t>
            </a:r>
          </a:p>
        </p:txBody>
      </p:sp>
      <p:sp>
        <p:nvSpPr>
          <p:cNvPr id="29" name="Premissa 7">
            <a:extLst>
              <a:ext uri="{FF2B5EF4-FFF2-40B4-BE49-F238E27FC236}">
                <a16:creationId xmlns:a16="http://schemas.microsoft.com/office/drawing/2014/main" id="{F0FEBDA2-BDB1-A555-3AA0-EABAB5B7EADB}"/>
              </a:ext>
            </a:extLst>
          </p:cNvPr>
          <p:cNvSpPr txBox="1"/>
          <p:nvPr/>
        </p:nvSpPr>
        <p:spPr>
          <a:xfrm>
            <a:off x="1143000" y="4251960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Ausência de acidentes de trabalho que ocasionem paralisação; EPS atende a todos os procedimentos de segurança e às ITs.</a:t>
            </a:r>
          </a:p>
        </p:txBody>
      </p:sp>
      <p:sp>
        <p:nvSpPr>
          <p:cNvPr id="30" name="Premissa 8 – nº">
            <a:extLst>
              <a:ext uri="{FF2B5EF4-FFF2-40B4-BE49-F238E27FC236}">
                <a16:creationId xmlns:a16="http://schemas.microsoft.com/office/drawing/2014/main" id="{F4E74FAB-7009-C1E9-93CB-3E7893EA1A53}"/>
              </a:ext>
            </a:extLst>
          </p:cNvPr>
          <p:cNvSpPr/>
          <p:nvPr/>
        </p:nvSpPr>
        <p:spPr>
          <a:xfrm>
            <a:off x="731520" y="463143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Premissa 8 – nº texto">
            <a:extLst>
              <a:ext uri="{FF2B5EF4-FFF2-40B4-BE49-F238E27FC236}">
                <a16:creationId xmlns:a16="http://schemas.microsoft.com/office/drawing/2014/main" id="{8A286EBD-098D-D854-4DEB-82829F2F1A64}"/>
              </a:ext>
            </a:extLst>
          </p:cNvPr>
          <p:cNvSpPr txBox="1"/>
          <p:nvPr/>
        </p:nvSpPr>
        <p:spPr>
          <a:xfrm>
            <a:off x="731520" y="463143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8</a:t>
            </a:r>
          </a:p>
        </p:txBody>
      </p:sp>
      <p:sp>
        <p:nvSpPr>
          <p:cNvPr id="32" name="Premissa 8">
            <a:extLst>
              <a:ext uri="{FF2B5EF4-FFF2-40B4-BE49-F238E27FC236}">
                <a16:creationId xmlns:a16="http://schemas.microsoft.com/office/drawing/2014/main" id="{E12162C8-D0C2-615D-894E-8C45237A2BB3}"/>
              </a:ext>
            </a:extLst>
          </p:cNvPr>
          <p:cNvSpPr txBox="1"/>
          <p:nvPr/>
        </p:nvSpPr>
        <p:spPr>
          <a:xfrm>
            <a:off x="1143000" y="4613148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PMA dos equipamentos emitido logo após a aprovação do PN, com almoxarifado de destino conferido e kit completo de materiais periféricos.</a:t>
            </a:r>
          </a:p>
        </p:txBody>
      </p:sp>
      <p:sp>
        <p:nvSpPr>
          <p:cNvPr id="33" name="Premissa 9 – nº">
            <a:extLst>
              <a:ext uri="{FF2B5EF4-FFF2-40B4-BE49-F238E27FC236}">
                <a16:creationId xmlns:a16="http://schemas.microsoft.com/office/drawing/2014/main" id="{C2FD9C06-6212-F996-9250-06E1F15FB8AC}"/>
              </a:ext>
            </a:extLst>
          </p:cNvPr>
          <p:cNvSpPr/>
          <p:nvPr/>
        </p:nvSpPr>
        <p:spPr>
          <a:xfrm>
            <a:off x="731520" y="4992623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Premissa 9 – nº texto">
            <a:extLst>
              <a:ext uri="{FF2B5EF4-FFF2-40B4-BE49-F238E27FC236}">
                <a16:creationId xmlns:a16="http://schemas.microsoft.com/office/drawing/2014/main" id="{5296B540-361D-AFB8-ADC4-14461EA1CBED}"/>
              </a:ext>
            </a:extLst>
          </p:cNvPr>
          <p:cNvSpPr txBox="1"/>
          <p:nvPr/>
        </p:nvSpPr>
        <p:spPr>
          <a:xfrm>
            <a:off x="731520" y="4992623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9</a:t>
            </a:r>
          </a:p>
        </p:txBody>
      </p:sp>
      <p:sp>
        <p:nvSpPr>
          <p:cNvPr id="35" name="Premissa 9">
            <a:extLst>
              <a:ext uri="{FF2B5EF4-FFF2-40B4-BE49-F238E27FC236}">
                <a16:creationId xmlns:a16="http://schemas.microsoft.com/office/drawing/2014/main" id="{8C7D109F-5B69-DB11-BB2E-46A8C92ADECF}"/>
              </a:ext>
            </a:extLst>
          </p:cNvPr>
          <p:cNvSpPr txBox="1"/>
          <p:nvPr/>
        </p:nvSpPr>
        <p:spPr>
          <a:xfrm>
            <a:off x="1143000" y="4974336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Local de instalação, autorização de passagem, medição de aterramento e sinal GPRS validados (ASPO, COPC e Operação) antes da execução.</a:t>
            </a:r>
          </a:p>
        </p:txBody>
      </p:sp>
      <p:sp>
        <p:nvSpPr>
          <p:cNvPr id="36" name="Premissa 10 – nº">
            <a:extLst>
              <a:ext uri="{FF2B5EF4-FFF2-40B4-BE49-F238E27FC236}">
                <a16:creationId xmlns:a16="http://schemas.microsoft.com/office/drawing/2014/main" id="{AE4FEF8C-2AAE-D12F-D6E3-4765CDDF407E}"/>
              </a:ext>
            </a:extLst>
          </p:cNvPr>
          <p:cNvSpPr/>
          <p:nvPr/>
        </p:nvSpPr>
        <p:spPr>
          <a:xfrm>
            <a:off x="731520" y="5353811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Premissa 10 – nº texto">
            <a:extLst>
              <a:ext uri="{FF2B5EF4-FFF2-40B4-BE49-F238E27FC236}">
                <a16:creationId xmlns:a16="http://schemas.microsoft.com/office/drawing/2014/main" id="{B0A57933-8288-BE8F-F893-2E6D6DFBBD6B}"/>
              </a:ext>
            </a:extLst>
          </p:cNvPr>
          <p:cNvSpPr txBox="1"/>
          <p:nvPr/>
        </p:nvSpPr>
        <p:spPr>
          <a:xfrm>
            <a:off x="731520" y="5353811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10</a:t>
            </a:r>
          </a:p>
        </p:txBody>
      </p:sp>
      <p:sp>
        <p:nvSpPr>
          <p:cNvPr id="38" name="Premissa 10">
            <a:extLst>
              <a:ext uri="{FF2B5EF4-FFF2-40B4-BE49-F238E27FC236}">
                <a16:creationId xmlns:a16="http://schemas.microsoft.com/office/drawing/2014/main" id="{B59F88FE-1D10-AE7A-5B4F-FFBBDFF99F29}"/>
              </a:ext>
            </a:extLst>
          </p:cNvPr>
          <p:cNvSpPr txBox="1"/>
          <p:nvPr/>
        </p:nvSpPr>
        <p:spPr>
          <a:xfrm>
            <a:off x="1143000" y="5335523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Equipamentos homologados na base de ativos e laudos validados antes do cadastro; DEOP, DMSL e GAT disponíveis para proteção e comissionamento.</a:t>
            </a:r>
          </a:p>
        </p:txBody>
      </p:sp>
      <p:sp>
        <p:nvSpPr>
          <p:cNvPr id="39" name="Premissa 11 – nº">
            <a:extLst>
              <a:ext uri="{FF2B5EF4-FFF2-40B4-BE49-F238E27FC236}">
                <a16:creationId xmlns:a16="http://schemas.microsoft.com/office/drawing/2014/main" id="{6C16CC5C-7345-AAAB-E828-FA263646C0CD}"/>
              </a:ext>
            </a:extLst>
          </p:cNvPr>
          <p:cNvSpPr/>
          <p:nvPr/>
        </p:nvSpPr>
        <p:spPr>
          <a:xfrm>
            <a:off x="731520" y="5714999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Premissa 11 – nº texto">
            <a:extLst>
              <a:ext uri="{FF2B5EF4-FFF2-40B4-BE49-F238E27FC236}">
                <a16:creationId xmlns:a16="http://schemas.microsoft.com/office/drawing/2014/main" id="{22AFE68D-F222-DAEF-FE8C-5809E5DB89D8}"/>
              </a:ext>
            </a:extLst>
          </p:cNvPr>
          <p:cNvSpPr txBox="1"/>
          <p:nvPr/>
        </p:nvSpPr>
        <p:spPr>
          <a:xfrm>
            <a:off x="731520" y="571499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11</a:t>
            </a:r>
          </a:p>
        </p:txBody>
      </p:sp>
      <p:sp>
        <p:nvSpPr>
          <p:cNvPr id="41" name="Premissa 11">
            <a:extLst>
              <a:ext uri="{FF2B5EF4-FFF2-40B4-BE49-F238E27FC236}">
                <a16:creationId xmlns:a16="http://schemas.microsoft.com/office/drawing/2014/main" id="{139FD980-1BB7-B442-ECFA-6A6B1A88624F}"/>
              </a:ext>
            </a:extLst>
          </p:cNvPr>
          <p:cNvSpPr txBox="1"/>
          <p:nvPr/>
        </p:nvSpPr>
        <p:spPr>
          <a:xfrm>
            <a:off x="1143000" y="5696711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Disponibilidade de equipe de Linha Viva ETO e de desligamentos programados aprovados, garantindo continuidade nas áreas energizadas.</a:t>
            </a:r>
          </a:p>
        </p:txBody>
      </p:sp>
      <p:sp>
        <p:nvSpPr>
          <p:cNvPr id="42" name="Restrições – fundo">
            <a:extLst>
              <a:ext uri="{FF2B5EF4-FFF2-40B4-BE49-F238E27FC236}">
                <a16:creationId xmlns:a16="http://schemas.microsoft.com/office/drawing/2014/main" id="{7AEB1B0D-D48B-7F79-9449-A98F28083915}"/>
              </a:ext>
            </a:extLst>
          </p:cNvPr>
          <p:cNvSpPr/>
          <p:nvPr/>
        </p:nvSpPr>
        <p:spPr>
          <a:xfrm>
            <a:off x="7589520" y="1371600"/>
            <a:ext cx="4144975" cy="2377440"/>
          </a:xfrm>
          <a:prstGeom prst="roundRect">
            <a:avLst>
              <a:gd name="adj" fmla="val 700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Badge lock">
            <a:extLst>
              <a:ext uri="{FF2B5EF4-FFF2-40B4-BE49-F238E27FC236}">
                <a16:creationId xmlns:a16="http://schemas.microsoft.com/office/drawing/2014/main" id="{4AC73F76-8B55-743B-6213-1D0CC062F801}"/>
              </a:ext>
            </a:extLst>
          </p:cNvPr>
          <p:cNvSpPr/>
          <p:nvPr/>
        </p:nvSpPr>
        <p:spPr>
          <a:xfrm>
            <a:off x="7863840" y="1572768"/>
            <a:ext cx="384048" cy="384048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Ícone lock" descr="lock_white.png">
            <a:extLst>
              <a:ext uri="{FF2B5EF4-FFF2-40B4-BE49-F238E27FC236}">
                <a16:creationId xmlns:a16="http://schemas.microsoft.com/office/drawing/2014/main" id="{6AD75AF9-9AB2-15BA-CA1A-0DB280AA8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852" y="1668780"/>
            <a:ext cx="192024" cy="192024"/>
          </a:xfrm>
          <a:prstGeom prst="rect">
            <a:avLst/>
          </a:prstGeom>
        </p:spPr>
      </p:pic>
      <p:sp>
        <p:nvSpPr>
          <p:cNvPr id="45" name="Restrições lista">
            <a:extLst>
              <a:ext uri="{FF2B5EF4-FFF2-40B4-BE49-F238E27FC236}">
                <a16:creationId xmlns:a16="http://schemas.microsoft.com/office/drawing/2014/main" id="{DDDDFFB4-94D0-80A6-C89E-F2F20E475045}"/>
              </a:ext>
            </a:extLst>
          </p:cNvPr>
          <p:cNvSpPr txBox="1"/>
          <p:nvPr/>
        </p:nvSpPr>
        <p:spPr>
          <a:xfrm>
            <a:off x="7863840" y="2148840"/>
            <a:ext cx="3596335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  <a:buClr>
                <a:srgbClr val="00DBFF"/>
              </a:buClr>
              <a:buFont typeface="DM Sans"/>
              <a:buAutoNum type="arabicPeriod"/>
            </a:pPr>
            <a:r>
              <a:rPr sz="900" b="0" i="0">
                <a:solidFill>
                  <a:srgbClr val="FFFFFF"/>
                </a:solidFill>
                <a:latin typeface="DM Sans"/>
              </a:rPr>
              <a:t>Iniciar a obra somente após assinatura do contrato de prestação de serviços com a empreiteira executora.</a:t>
            </a:r>
          </a:p>
          <a:p>
            <a:pPr marL="219456" indent="-219456">
              <a:spcAft>
                <a:spcPts val="600"/>
              </a:spcAft>
              <a:buClr>
                <a:srgbClr val="00DBFF"/>
              </a:buClr>
              <a:buFont typeface="DM Sans"/>
              <a:buAutoNum type="arabicPeriod"/>
            </a:pPr>
            <a:r>
              <a:rPr sz="900" b="0" i="0">
                <a:solidFill>
                  <a:srgbClr val="FFFFFF"/>
                </a:solidFill>
                <a:latin typeface="DM Sans"/>
              </a:rPr>
              <a:t>Energização dentro do mês definido pela ASPO (abr, mai, jun e ago/2027).</a:t>
            </a:r>
          </a:p>
          <a:p>
            <a:pPr marL="219456" indent="-219456">
              <a:spcAft>
                <a:spcPts val="600"/>
              </a:spcAft>
              <a:buClr>
                <a:srgbClr val="00DBFF"/>
              </a:buClr>
              <a:buFont typeface="DM Sans"/>
              <a:buAutoNum type="arabicPeriod"/>
            </a:pPr>
            <a:r>
              <a:rPr sz="900" b="0" i="0">
                <a:solidFill>
                  <a:srgbClr val="FFFFFF"/>
                </a:solidFill>
                <a:latin typeface="DM Sans"/>
              </a:rPr>
              <a:t>Instalar equipamentos somente com o local e o desligamento programado validados.</a:t>
            </a:r>
          </a:p>
          <a:p>
            <a:pPr marL="219456" indent="-219456">
              <a:spcAft>
                <a:spcPts val="600"/>
              </a:spcAft>
              <a:buClr>
                <a:srgbClr val="00DBFF"/>
              </a:buClr>
              <a:buFont typeface="DM Sans"/>
              <a:buAutoNum type="arabicPeriod"/>
            </a:pPr>
            <a:r>
              <a:rPr sz="900" b="0" i="0">
                <a:solidFill>
                  <a:srgbClr val="FFFFFF"/>
                </a:solidFill>
                <a:latin typeface="DM Sans"/>
              </a:rPr>
              <a:t>Encerramento técnico antes do inventário anual do almoxarifado; contábil após fiscalização da Gestão de Ativos e até 17/11/2027.</a:t>
            </a:r>
          </a:p>
        </p:txBody>
      </p:sp>
      <p:sp>
        <p:nvSpPr>
          <p:cNvPr id="46" name="Penalidades – fundo">
            <a:extLst>
              <a:ext uri="{FF2B5EF4-FFF2-40B4-BE49-F238E27FC236}">
                <a16:creationId xmlns:a16="http://schemas.microsoft.com/office/drawing/2014/main" id="{8F31998F-6B35-3169-F48C-CD21A09844A7}"/>
              </a:ext>
            </a:extLst>
          </p:cNvPr>
          <p:cNvSpPr/>
          <p:nvPr/>
        </p:nvSpPr>
        <p:spPr>
          <a:xfrm>
            <a:off x="7589520" y="3977639"/>
            <a:ext cx="4144975" cy="219456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 w="12700">
            <a:solidFill>
              <a:srgbClr val="F47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Badge gavel">
            <a:extLst>
              <a:ext uri="{FF2B5EF4-FFF2-40B4-BE49-F238E27FC236}">
                <a16:creationId xmlns:a16="http://schemas.microsoft.com/office/drawing/2014/main" id="{6676DB65-E47A-A755-1A60-D7A4C31FB9E8}"/>
              </a:ext>
            </a:extLst>
          </p:cNvPr>
          <p:cNvSpPr/>
          <p:nvPr/>
        </p:nvSpPr>
        <p:spPr>
          <a:xfrm>
            <a:off x="7863840" y="4178807"/>
            <a:ext cx="384048" cy="384048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Ícone gavel" descr="gavel_white.png">
            <a:extLst>
              <a:ext uri="{FF2B5EF4-FFF2-40B4-BE49-F238E27FC236}">
                <a16:creationId xmlns:a16="http://schemas.microsoft.com/office/drawing/2014/main" id="{6B9EADB7-3CDB-5D71-53AA-6AC5DE16A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852" y="4274820"/>
            <a:ext cx="192024" cy="192024"/>
          </a:xfrm>
          <a:prstGeom prst="rect">
            <a:avLst/>
          </a:prstGeom>
        </p:spPr>
      </p:pic>
      <p:sp>
        <p:nvSpPr>
          <p:cNvPr id="49" name="Penalidades lista">
            <a:extLst>
              <a:ext uri="{FF2B5EF4-FFF2-40B4-BE49-F238E27FC236}">
                <a16:creationId xmlns:a16="http://schemas.microsoft.com/office/drawing/2014/main" id="{27A68997-AFD0-5AE2-184A-20FF744EFA34}"/>
              </a:ext>
            </a:extLst>
          </p:cNvPr>
          <p:cNvSpPr txBox="1"/>
          <p:nvPr/>
        </p:nvSpPr>
        <p:spPr>
          <a:xfrm>
            <a:off x="7863840" y="4754879"/>
            <a:ext cx="359633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  <a:buClr>
                <a:srgbClr val="F47B20"/>
              </a:buClr>
              <a:buFont typeface="DM Sans"/>
              <a:buAutoNum type="arabicPeriod"/>
            </a:pPr>
            <a:r>
              <a:rPr sz="950" b="0" i="0" err="1">
                <a:solidFill>
                  <a:srgbClr val="4D4D4D"/>
                </a:solidFill>
                <a:latin typeface="DM Sans"/>
              </a:rPr>
              <a:t>Aplicação de multa às prestadoras de serviço e fornecedores, após notificação, em caso de descumprimento do contrato.</a:t>
            </a:r>
          </a:p>
          <a:p>
            <a:pPr marL="219456" indent="-219456">
              <a:spcAft>
                <a:spcPts val="600"/>
              </a:spcAft>
              <a:buClr>
                <a:srgbClr val="F47B20"/>
              </a:buClr>
              <a:buFont typeface="DM Sans"/>
              <a:buAutoNum type="arabicPeriod"/>
            </a:pPr>
            <a:r>
              <a:rPr sz="950" b="0" i="0">
                <a:solidFill>
                  <a:srgbClr val="4D4D4D"/>
                </a:solidFill>
                <a:latin typeface="DM Sans"/>
              </a:rPr>
              <a:t>Substituição da empreiteira e remanejamento de equipes por baixa capacidade ou atraso; medição pelas O.S. se faltar medição no prazo.</a:t>
            </a:r>
          </a:p>
          <a:p>
            <a:pPr marL="219456" indent="-219456">
              <a:spcAft>
                <a:spcPts val="600"/>
              </a:spcAft>
              <a:buClr>
                <a:srgbClr val="F47B20"/>
              </a:buClr>
              <a:buFont typeface="DM Sans"/>
              <a:buAutoNum type="arabicPeriod"/>
            </a:pPr>
            <a:r>
              <a:rPr sz="950" b="0" i="0">
                <a:solidFill>
                  <a:srgbClr val="4D4D4D"/>
                </a:solidFill>
                <a:latin typeface="DM Sans"/>
              </a:rPr>
              <a:t>Não atingimento do benefício esperado pela unidade.</a:t>
            </a:r>
          </a:p>
        </p:txBody>
      </p:sp>
      <p:sp>
        <p:nvSpPr>
          <p:cNvPr id="51" name="Eyebrow">
            <a:extLst>
              <a:ext uri="{FF2B5EF4-FFF2-40B4-BE49-F238E27FC236}">
                <a16:creationId xmlns:a16="http://schemas.microsoft.com/office/drawing/2014/main" id="{57A5C123-FC7F-9DB0-067A-7896B2CC5CEA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57" name="Título Premissas">
            <a:extLst>
              <a:ext uri="{FF2B5EF4-FFF2-40B4-BE49-F238E27FC236}">
                <a16:creationId xmlns:a16="http://schemas.microsoft.com/office/drawing/2014/main" id="{4178120F-E349-5A6B-8708-756E18C942A4}"/>
              </a:ext>
            </a:extLst>
          </p:cNvPr>
          <p:cNvSpPr txBox="1"/>
          <p:nvPr/>
        </p:nvSpPr>
        <p:spPr>
          <a:xfrm>
            <a:off x="8343900" y="4292215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spc="80">
                <a:solidFill>
                  <a:srgbClr val="1F1F4C"/>
                </a:solidFill>
                <a:latin typeface="DM Sans"/>
              </a:rPr>
              <a:t>PENALIDADES</a:t>
            </a:r>
            <a:endParaRPr sz="1200" b="1" i="0" spc="80">
              <a:solidFill>
                <a:srgbClr val="1F1F4C"/>
              </a:solidFill>
              <a:latin typeface="DM Sans"/>
            </a:endParaRPr>
          </a:p>
        </p:txBody>
      </p:sp>
      <p:sp>
        <p:nvSpPr>
          <p:cNvPr id="59" name="Título Premissas">
            <a:extLst>
              <a:ext uri="{FF2B5EF4-FFF2-40B4-BE49-F238E27FC236}">
                <a16:creationId xmlns:a16="http://schemas.microsoft.com/office/drawing/2014/main" id="{76DF6AAB-AB4C-4D83-ACDD-EB56789B7D6F}"/>
              </a:ext>
            </a:extLst>
          </p:cNvPr>
          <p:cNvSpPr txBox="1"/>
          <p:nvPr/>
        </p:nvSpPr>
        <p:spPr>
          <a:xfrm>
            <a:off x="8410575" y="1681698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spc="80">
                <a:solidFill>
                  <a:schemeClr val="bg1"/>
                </a:solidFill>
                <a:latin typeface="DM Sans"/>
              </a:rPr>
              <a:t>RESTRIÇÕES</a:t>
            </a:r>
            <a:endParaRPr sz="1200" b="1" i="0" spc="80">
              <a:solidFill>
                <a:schemeClr val="bg1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772740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073C3E49-823F-34B0-1428-10D6FD755195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9144000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Principais Riscos do Projeto</a:t>
            </a:r>
          </a:p>
        </p:txBody>
      </p:sp>
      <p:sp>
        <p:nvSpPr>
          <p:cNvPr id="5" name="Canto – esfera">
            <a:extLst>
              <a:ext uri="{FF2B5EF4-FFF2-40B4-BE49-F238E27FC236}">
                <a16:creationId xmlns:a16="http://schemas.microsoft.com/office/drawing/2014/main" id="{9C4FE39E-B17F-49F5-B9C3-FB4650F3F906}"/>
              </a:ext>
            </a:extLst>
          </p:cNvPr>
          <p:cNvSpPr/>
          <p:nvPr/>
        </p:nvSpPr>
        <p:spPr>
          <a:xfrm>
            <a:off x="11750040" y="320040"/>
            <a:ext cx="822960" cy="822960"/>
          </a:xfrm>
          <a:prstGeom prst="ellipse">
            <a:avLst/>
          </a:prstGeom>
          <a:gradFill rotWithShape="1">
            <a:gsLst>
              <a:gs pos="0">
                <a:srgbClr val="009FC2"/>
              </a:gs>
              <a:gs pos="100000">
                <a:srgbClr val="B5E6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adge alert">
            <a:extLst>
              <a:ext uri="{FF2B5EF4-FFF2-40B4-BE49-F238E27FC236}">
                <a16:creationId xmlns:a16="http://schemas.microsoft.com/office/drawing/2014/main" id="{6F9F7F4E-7062-7003-D34B-76C1F1E95D20}"/>
              </a:ext>
            </a:extLst>
          </p:cNvPr>
          <p:cNvSpPr/>
          <p:nvPr/>
        </p:nvSpPr>
        <p:spPr>
          <a:xfrm>
            <a:off x="594360" y="1298448"/>
            <a:ext cx="310896" cy="310896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Ícone alert" descr="alert_white.png">
            <a:extLst>
              <a:ext uri="{FF2B5EF4-FFF2-40B4-BE49-F238E27FC236}">
                <a16:creationId xmlns:a16="http://schemas.microsoft.com/office/drawing/2014/main" id="{98D33186-2FF4-B753-5473-ECB3CFB79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1376172"/>
            <a:ext cx="155448" cy="155448"/>
          </a:xfrm>
          <a:prstGeom prst="rect">
            <a:avLst/>
          </a:prstGeom>
        </p:spPr>
      </p:pic>
      <p:sp>
        <p:nvSpPr>
          <p:cNvPr id="11" name="Cab Risco">
            <a:extLst>
              <a:ext uri="{FF2B5EF4-FFF2-40B4-BE49-F238E27FC236}">
                <a16:creationId xmlns:a16="http://schemas.microsoft.com/office/drawing/2014/main" id="{F5006289-02ED-947D-A8F1-8A12950996E8}"/>
              </a:ext>
            </a:extLst>
          </p:cNvPr>
          <p:cNvSpPr txBox="1"/>
          <p:nvPr/>
        </p:nvSpPr>
        <p:spPr>
          <a:xfrm>
            <a:off x="1005840" y="1298448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80">
                <a:solidFill>
                  <a:srgbClr val="1F1F4C"/>
                </a:solidFill>
                <a:latin typeface="DM Sans"/>
              </a:rPr>
              <a:t>RISCO</a:t>
            </a:r>
          </a:p>
        </p:txBody>
      </p:sp>
      <p:sp>
        <p:nvSpPr>
          <p:cNvPr id="12" name="Badge shield">
            <a:extLst>
              <a:ext uri="{FF2B5EF4-FFF2-40B4-BE49-F238E27FC236}">
                <a16:creationId xmlns:a16="http://schemas.microsoft.com/office/drawing/2014/main" id="{7AA98296-EB5B-1EFE-C32B-91583FEFF819}"/>
              </a:ext>
            </a:extLst>
          </p:cNvPr>
          <p:cNvSpPr/>
          <p:nvPr/>
        </p:nvSpPr>
        <p:spPr>
          <a:xfrm>
            <a:off x="4572000" y="1298448"/>
            <a:ext cx="310896" cy="310896"/>
          </a:xfrm>
          <a:prstGeom prst="ellipse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Ícone shield" descr="shield_white.png">
            <a:extLst>
              <a:ext uri="{FF2B5EF4-FFF2-40B4-BE49-F238E27FC236}">
                <a16:creationId xmlns:a16="http://schemas.microsoft.com/office/drawing/2014/main" id="{A989290C-7300-673C-EF01-982D13209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724" y="1376172"/>
            <a:ext cx="155448" cy="155448"/>
          </a:xfrm>
          <a:prstGeom prst="rect">
            <a:avLst/>
          </a:prstGeom>
        </p:spPr>
      </p:pic>
      <p:sp>
        <p:nvSpPr>
          <p:cNvPr id="14" name="Cab Plano atenuante">
            <a:extLst>
              <a:ext uri="{FF2B5EF4-FFF2-40B4-BE49-F238E27FC236}">
                <a16:creationId xmlns:a16="http://schemas.microsoft.com/office/drawing/2014/main" id="{C57EA16B-0AF5-E47B-B32B-57ABF4DBB566}"/>
              </a:ext>
            </a:extLst>
          </p:cNvPr>
          <p:cNvSpPr txBox="1"/>
          <p:nvPr/>
        </p:nvSpPr>
        <p:spPr>
          <a:xfrm>
            <a:off x="4983479" y="1298448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80">
                <a:solidFill>
                  <a:srgbClr val="1F1F4C"/>
                </a:solidFill>
                <a:latin typeface="DM Sans"/>
              </a:rPr>
              <a:t>PLANO ATENUANTE</a:t>
            </a:r>
          </a:p>
        </p:txBody>
      </p:sp>
      <p:sp>
        <p:nvSpPr>
          <p:cNvPr id="15" name="Badge life">
            <a:extLst>
              <a:ext uri="{FF2B5EF4-FFF2-40B4-BE49-F238E27FC236}">
                <a16:creationId xmlns:a16="http://schemas.microsoft.com/office/drawing/2014/main" id="{381D5181-AB06-30A4-1ED9-9C00E4242710}"/>
              </a:ext>
            </a:extLst>
          </p:cNvPr>
          <p:cNvSpPr/>
          <p:nvPr/>
        </p:nvSpPr>
        <p:spPr>
          <a:xfrm>
            <a:off x="8321040" y="1298448"/>
            <a:ext cx="310896" cy="310896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Ícone life" descr="life_white.png">
            <a:extLst>
              <a:ext uri="{FF2B5EF4-FFF2-40B4-BE49-F238E27FC236}">
                <a16:creationId xmlns:a16="http://schemas.microsoft.com/office/drawing/2014/main" id="{B021BBD6-1929-F269-317D-13C936153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764" y="1376172"/>
            <a:ext cx="155448" cy="155448"/>
          </a:xfrm>
          <a:prstGeom prst="rect">
            <a:avLst/>
          </a:prstGeom>
        </p:spPr>
      </p:pic>
      <p:sp>
        <p:nvSpPr>
          <p:cNvPr id="17" name="Cab Plano de contingência">
            <a:extLst>
              <a:ext uri="{FF2B5EF4-FFF2-40B4-BE49-F238E27FC236}">
                <a16:creationId xmlns:a16="http://schemas.microsoft.com/office/drawing/2014/main" id="{FC31A474-6CE7-87C5-7C60-EA94B6B6A416}"/>
              </a:ext>
            </a:extLst>
          </p:cNvPr>
          <p:cNvSpPr txBox="1"/>
          <p:nvPr/>
        </p:nvSpPr>
        <p:spPr>
          <a:xfrm>
            <a:off x="8732519" y="1298448"/>
            <a:ext cx="2999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80">
                <a:solidFill>
                  <a:srgbClr val="1F1F4C"/>
                </a:solidFill>
                <a:latin typeface="DM Sans"/>
              </a:rPr>
              <a:t>PLANO DE CONTINGÊNCIA</a:t>
            </a:r>
          </a:p>
        </p:txBody>
      </p:sp>
      <p:sp>
        <p:nvSpPr>
          <p:cNvPr id="18" name="Risco 1 – fundo">
            <a:extLst>
              <a:ext uri="{FF2B5EF4-FFF2-40B4-BE49-F238E27FC236}">
                <a16:creationId xmlns:a16="http://schemas.microsoft.com/office/drawing/2014/main" id="{DD4780C5-3D01-8397-E72B-F229D3164AFB}"/>
              </a:ext>
            </a:extLst>
          </p:cNvPr>
          <p:cNvSpPr/>
          <p:nvPr/>
        </p:nvSpPr>
        <p:spPr>
          <a:xfrm>
            <a:off x="457200" y="1755648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sco 1 – nº">
            <a:extLst>
              <a:ext uri="{FF2B5EF4-FFF2-40B4-BE49-F238E27FC236}">
                <a16:creationId xmlns:a16="http://schemas.microsoft.com/office/drawing/2014/main" id="{DD5EAF01-2F0B-3208-330E-322045312BF1}"/>
              </a:ext>
            </a:extLst>
          </p:cNvPr>
          <p:cNvSpPr/>
          <p:nvPr/>
        </p:nvSpPr>
        <p:spPr>
          <a:xfrm>
            <a:off x="612648" y="1901952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sco 1 – nº texto">
            <a:extLst>
              <a:ext uri="{FF2B5EF4-FFF2-40B4-BE49-F238E27FC236}">
                <a16:creationId xmlns:a16="http://schemas.microsoft.com/office/drawing/2014/main" id="{5DAFEE27-936D-6894-A915-636A1E3BFD5A}"/>
              </a:ext>
            </a:extLst>
          </p:cNvPr>
          <p:cNvSpPr txBox="1"/>
          <p:nvPr/>
        </p:nvSpPr>
        <p:spPr>
          <a:xfrm>
            <a:off x="612648" y="19019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1</a:t>
            </a:r>
          </a:p>
        </p:txBody>
      </p:sp>
      <p:sp>
        <p:nvSpPr>
          <p:cNvPr id="21" name="Risco 1 – título">
            <a:extLst>
              <a:ext uri="{FF2B5EF4-FFF2-40B4-BE49-F238E27FC236}">
                <a16:creationId xmlns:a16="http://schemas.microsoft.com/office/drawing/2014/main" id="{BBE52ECE-5A73-C853-2A2C-549797008954}"/>
              </a:ext>
            </a:extLst>
          </p:cNvPr>
          <p:cNvSpPr txBox="1"/>
          <p:nvPr/>
        </p:nvSpPr>
        <p:spPr>
          <a:xfrm>
            <a:off x="1143000" y="1810512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Acidente de trabalho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Acidente de trabalho durante a execução da obra</a:t>
            </a:r>
          </a:p>
        </p:txBody>
      </p:sp>
      <p:sp>
        <p:nvSpPr>
          <p:cNvPr id="22" name="Risco 1 – plano">
            <a:extLst>
              <a:ext uri="{FF2B5EF4-FFF2-40B4-BE49-F238E27FC236}">
                <a16:creationId xmlns:a16="http://schemas.microsoft.com/office/drawing/2014/main" id="{1DD33862-EC4E-DB38-25F6-0B5E67F8C75B}"/>
              </a:ext>
            </a:extLst>
          </p:cNvPr>
          <p:cNvSpPr txBox="1"/>
          <p:nvPr/>
        </p:nvSpPr>
        <p:spPr>
          <a:xfrm>
            <a:off x="4572000" y="1810512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Reunião de integração com a empreiteira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Inspeções periódicas e DDS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Paradas de segurança trimestrais</a:t>
            </a:r>
          </a:p>
        </p:txBody>
      </p:sp>
      <p:sp>
        <p:nvSpPr>
          <p:cNvPr id="23" name="Risco 1 – plano">
            <a:extLst>
              <a:ext uri="{FF2B5EF4-FFF2-40B4-BE49-F238E27FC236}">
                <a16:creationId xmlns:a16="http://schemas.microsoft.com/office/drawing/2014/main" id="{032ACACF-3E76-B785-BC31-C33322F3890B}"/>
              </a:ext>
            </a:extLst>
          </p:cNvPr>
          <p:cNvSpPr txBox="1"/>
          <p:nvPr/>
        </p:nvSpPr>
        <p:spPr>
          <a:xfrm>
            <a:off x="8321040" y="1810512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Paralisar qualquer atividade executada de forma insegura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Acionar o SESMT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Investigar o ocorrido</a:t>
            </a:r>
          </a:p>
        </p:txBody>
      </p:sp>
      <p:sp>
        <p:nvSpPr>
          <p:cNvPr id="24" name="Risco 2 – fundo">
            <a:extLst>
              <a:ext uri="{FF2B5EF4-FFF2-40B4-BE49-F238E27FC236}">
                <a16:creationId xmlns:a16="http://schemas.microsoft.com/office/drawing/2014/main" id="{B8E792EF-29E1-1F50-C126-CAF044FC4FD2}"/>
              </a:ext>
            </a:extLst>
          </p:cNvPr>
          <p:cNvSpPr/>
          <p:nvPr/>
        </p:nvSpPr>
        <p:spPr>
          <a:xfrm>
            <a:off x="457200" y="2505456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sco 2 – nº">
            <a:extLst>
              <a:ext uri="{FF2B5EF4-FFF2-40B4-BE49-F238E27FC236}">
                <a16:creationId xmlns:a16="http://schemas.microsoft.com/office/drawing/2014/main" id="{3A5C20EF-2307-1A64-D030-9A38FF99FB2E}"/>
              </a:ext>
            </a:extLst>
          </p:cNvPr>
          <p:cNvSpPr/>
          <p:nvPr/>
        </p:nvSpPr>
        <p:spPr>
          <a:xfrm>
            <a:off x="612648" y="2651760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sco 2 – nº texto">
            <a:extLst>
              <a:ext uri="{FF2B5EF4-FFF2-40B4-BE49-F238E27FC236}">
                <a16:creationId xmlns:a16="http://schemas.microsoft.com/office/drawing/2014/main" id="{710C6512-55B0-932F-AA89-1297266CF19C}"/>
              </a:ext>
            </a:extLst>
          </p:cNvPr>
          <p:cNvSpPr txBox="1"/>
          <p:nvPr/>
        </p:nvSpPr>
        <p:spPr>
          <a:xfrm>
            <a:off x="612648" y="26517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2</a:t>
            </a:r>
          </a:p>
        </p:txBody>
      </p:sp>
      <p:sp>
        <p:nvSpPr>
          <p:cNvPr id="27" name="Risco 2 – título">
            <a:extLst>
              <a:ext uri="{FF2B5EF4-FFF2-40B4-BE49-F238E27FC236}">
                <a16:creationId xmlns:a16="http://schemas.microsoft.com/office/drawing/2014/main" id="{8234EAFE-037E-C3BC-10D6-0DBD82068830}"/>
              </a:ext>
            </a:extLst>
          </p:cNvPr>
          <p:cNvSpPr txBox="1"/>
          <p:nvPr/>
        </p:nvSpPr>
        <p:spPr>
          <a:xfrm>
            <a:off x="1143000" y="2560320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Atraso em projeto, LSS e documentos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Projeto executivo, local sem autorização ou aterramento inadequado e LSS/documentos do SESMT</a:t>
            </a:r>
          </a:p>
        </p:txBody>
      </p:sp>
      <p:sp>
        <p:nvSpPr>
          <p:cNvPr id="28" name="Risco 2 – plano">
            <a:extLst>
              <a:ext uri="{FF2B5EF4-FFF2-40B4-BE49-F238E27FC236}">
                <a16:creationId xmlns:a16="http://schemas.microsoft.com/office/drawing/2014/main" id="{0D3ED5F1-6F63-5812-25DC-076D4412D999}"/>
              </a:ext>
            </a:extLst>
          </p:cNvPr>
          <p:cNvSpPr txBox="1"/>
          <p:nvPr/>
        </p:nvSpPr>
        <p:spPr>
          <a:xfrm>
            <a:off x="4572000" y="2560320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Validar o local com ASPO, COPC e Operação antes da execução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Mapear autorizações de passagem; medir o aterramento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Antecipar os documentos (SESMT: 10 dias)</a:t>
            </a:r>
          </a:p>
        </p:txBody>
      </p:sp>
      <p:sp>
        <p:nvSpPr>
          <p:cNvPr id="29" name="Risco 2 – plano">
            <a:extLst>
              <a:ext uri="{FF2B5EF4-FFF2-40B4-BE49-F238E27FC236}">
                <a16:creationId xmlns:a16="http://schemas.microsoft.com/office/drawing/2014/main" id="{EE659EFD-790F-1231-551E-533E5EAED51E}"/>
              </a:ext>
            </a:extLst>
          </p:cNvPr>
          <p:cNvSpPr txBox="1"/>
          <p:nvPr/>
        </p:nvSpPr>
        <p:spPr>
          <a:xfrm>
            <a:off x="8321040" y="2560320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Remanejar o equipamento / definir novo ponto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Ampliar a malha de aterramento (poço/concreto)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Antecipar outras atividades da obra</a:t>
            </a:r>
          </a:p>
        </p:txBody>
      </p:sp>
      <p:sp>
        <p:nvSpPr>
          <p:cNvPr id="30" name="Risco 3 – fundo">
            <a:extLst>
              <a:ext uri="{FF2B5EF4-FFF2-40B4-BE49-F238E27FC236}">
                <a16:creationId xmlns:a16="http://schemas.microsoft.com/office/drawing/2014/main" id="{CB37453F-355B-3A29-E1E4-E9D594F6E216}"/>
              </a:ext>
            </a:extLst>
          </p:cNvPr>
          <p:cNvSpPr/>
          <p:nvPr/>
        </p:nvSpPr>
        <p:spPr>
          <a:xfrm>
            <a:off x="457200" y="3255263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sco 3 – nº">
            <a:extLst>
              <a:ext uri="{FF2B5EF4-FFF2-40B4-BE49-F238E27FC236}">
                <a16:creationId xmlns:a16="http://schemas.microsoft.com/office/drawing/2014/main" id="{D047DA21-6AD7-2862-E793-6019298F0380}"/>
              </a:ext>
            </a:extLst>
          </p:cNvPr>
          <p:cNvSpPr/>
          <p:nvPr/>
        </p:nvSpPr>
        <p:spPr>
          <a:xfrm>
            <a:off x="612648" y="3401568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isco 3 – nº texto">
            <a:extLst>
              <a:ext uri="{FF2B5EF4-FFF2-40B4-BE49-F238E27FC236}">
                <a16:creationId xmlns:a16="http://schemas.microsoft.com/office/drawing/2014/main" id="{3D44F698-58E4-A1D5-EB11-351365E73B60}"/>
              </a:ext>
            </a:extLst>
          </p:cNvPr>
          <p:cNvSpPr txBox="1"/>
          <p:nvPr/>
        </p:nvSpPr>
        <p:spPr>
          <a:xfrm>
            <a:off x="612648" y="34015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3</a:t>
            </a:r>
          </a:p>
        </p:txBody>
      </p:sp>
      <p:sp>
        <p:nvSpPr>
          <p:cNvPr id="33" name="Risco 3 – título">
            <a:extLst>
              <a:ext uri="{FF2B5EF4-FFF2-40B4-BE49-F238E27FC236}">
                <a16:creationId xmlns:a16="http://schemas.microsoft.com/office/drawing/2014/main" id="{0FC8B7F5-470C-BE35-2C60-AC269594A12D}"/>
              </a:ext>
            </a:extLst>
          </p:cNvPr>
          <p:cNvSpPr txBox="1"/>
          <p:nvPr/>
        </p:nvSpPr>
        <p:spPr>
          <a:xfrm>
            <a:off x="1143000" y="3310127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Atraso de materiais e equipamentos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RL/RT/TripSaver e kit de periféricos fora das datas da WBS (lead time de até 210 dias)</a:t>
            </a:r>
          </a:p>
        </p:txBody>
      </p:sp>
      <p:sp>
        <p:nvSpPr>
          <p:cNvPr id="34" name="Risco 3 – plano">
            <a:extLst>
              <a:ext uri="{FF2B5EF4-FFF2-40B4-BE49-F238E27FC236}">
                <a16:creationId xmlns:a16="http://schemas.microsoft.com/office/drawing/2014/main" id="{6E90C081-FA0D-9059-B8AC-5204D75984BF}"/>
              </a:ext>
            </a:extLst>
          </p:cNvPr>
          <p:cNvSpPr txBox="1"/>
          <p:nvPr/>
        </p:nvSpPr>
        <p:spPr>
          <a:xfrm>
            <a:off x="4572000" y="3310127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PMA logo após o PN; conferir o almoxarifado de destino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Diligenciar fornecedores e compras; kit completo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Acompanhar o forecast (rateio e impostos)</a:t>
            </a:r>
          </a:p>
        </p:txBody>
      </p:sp>
      <p:sp>
        <p:nvSpPr>
          <p:cNvPr id="35" name="Risco 3 – plano">
            <a:extLst>
              <a:ext uri="{FF2B5EF4-FFF2-40B4-BE49-F238E27FC236}">
                <a16:creationId xmlns:a16="http://schemas.microsoft.com/office/drawing/2014/main" id="{83C614E1-DEC1-4426-F4E7-888C757C2C09}"/>
              </a:ext>
            </a:extLst>
          </p:cNvPr>
          <p:cNvSpPr txBox="1"/>
          <p:nvPr/>
        </p:nvSpPr>
        <p:spPr>
          <a:xfrm>
            <a:off x="8321040" y="3310127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Adiantar estruturas enquanto o equipamento não chega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Priorizar frentes pela meta de energização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Avaliar fornecedor homologado alternativo</a:t>
            </a:r>
          </a:p>
        </p:txBody>
      </p:sp>
      <p:sp>
        <p:nvSpPr>
          <p:cNvPr id="36" name="Risco 4 – fundo">
            <a:extLst>
              <a:ext uri="{FF2B5EF4-FFF2-40B4-BE49-F238E27FC236}">
                <a16:creationId xmlns:a16="http://schemas.microsoft.com/office/drawing/2014/main" id="{C4BA10C2-17D4-0DAD-45AF-4D7FDA60AC05}"/>
              </a:ext>
            </a:extLst>
          </p:cNvPr>
          <p:cNvSpPr/>
          <p:nvPr/>
        </p:nvSpPr>
        <p:spPr>
          <a:xfrm>
            <a:off x="457200" y="4005072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isco 4 – nº">
            <a:extLst>
              <a:ext uri="{FF2B5EF4-FFF2-40B4-BE49-F238E27FC236}">
                <a16:creationId xmlns:a16="http://schemas.microsoft.com/office/drawing/2014/main" id="{F363E88C-74C6-808B-6051-2E5443599F0B}"/>
              </a:ext>
            </a:extLst>
          </p:cNvPr>
          <p:cNvSpPr/>
          <p:nvPr/>
        </p:nvSpPr>
        <p:spPr>
          <a:xfrm>
            <a:off x="612648" y="4151376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isco 4 – nº texto">
            <a:extLst>
              <a:ext uri="{FF2B5EF4-FFF2-40B4-BE49-F238E27FC236}">
                <a16:creationId xmlns:a16="http://schemas.microsoft.com/office/drawing/2014/main" id="{6F8E2B3C-DEBB-7656-D4D8-012313D3F5E5}"/>
              </a:ext>
            </a:extLst>
          </p:cNvPr>
          <p:cNvSpPr txBox="1"/>
          <p:nvPr/>
        </p:nvSpPr>
        <p:spPr>
          <a:xfrm>
            <a:off x="612648" y="415137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4</a:t>
            </a:r>
          </a:p>
        </p:txBody>
      </p:sp>
      <p:sp>
        <p:nvSpPr>
          <p:cNvPr id="39" name="Risco 4 – título">
            <a:extLst>
              <a:ext uri="{FF2B5EF4-FFF2-40B4-BE49-F238E27FC236}">
                <a16:creationId xmlns:a16="http://schemas.microsoft.com/office/drawing/2014/main" id="{1975D767-A08F-20B7-DA5A-F483C49C1588}"/>
              </a:ext>
            </a:extLst>
          </p:cNvPr>
          <p:cNvSpPr txBox="1"/>
          <p:nvPr/>
        </p:nvSpPr>
        <p:spPr>
          <a:xfrm>
            <a:off x="1143000" y="4059935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Linha Viva e desligamentos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Falta de equipe de Linha Viva ETO e cancelamento de desligamentos programados</a:t>
            </a:r>
          </a:p>
        </p:txBody>
      </p:sp>
      <p:sp>
        <p:nvSpPr>
          <p:cNvPr id="40" name="Risco 4 – plano">
            <a:extLst>
              <a:ext uri="{FF2B5EF4-FFF2-40B4-BE49-F238E27FC236}">
                <a16:creationId xmlns:a16="http://schemas.microsoft.com/office/drawing/2014/main" id="{C540BF30-8232-6DB0-21A7-DD0B6FFFAB18}"/>
              </a:ext>
            </a:extLst>
          </p:cNvPr>
          <p:cNvSpPr txBox="1"/>
          <p:nvPr/>
        </p:nvSpPr>
        <p:spPr>
          <a:xfrm>
            <a:off x="4572000" y="4059935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Estudo prévio de viabilidade de desligamento e transferência de carga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Programar Linha Viva e COI com antecedência</a:t>
            </a:r>
          </a:p>
        </p:txBody>
      </p:sp>
      <p:sp>
        <p:nvSpPr>
          <p:cNvPr id="41" name="Risco 4 – plano">
            <a:extLst>
              <a:ext uri="{FF2B5EF4-FFF2-40B4-BE49-F238E27FC236}">
                <a16:creationId xmlns:a16="http://schemas.microsoft.com/office/drawing/2014/main" id="{BDC42145-2152-71CB-13B2-D09B30089F57}"/>
              </a:ext>
            </a:extLst>
          </p:cNvPr>
          <p:cNvSpPr txBox="1"/>
          <p:nvPr/>
        </p:nvSpPr>
        <p:spPr>
          <a:xfrm>
            <a:off x="8321040" y="4059935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Intensificar o apoio de Linha Viva; reprogramar desligamentos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Ajustar a sequência das frentes</a:t>
            </a:r>
          </a:p>
        </p:txBody>
      </p:sp>
      <p:sp>
        <p:nvSpPr>
          <p:cNvPr id="42" name="Risco 5 – fundo">
            <a:extLst>
              <a:ext uri="{FF2B5EF4-FFF2-40B4-BE49-F238E27FC236}">
                <a16:creationId xmlns:a16="http://schemas.microsoft.com/office/drawing/2014/main" id="{E51A9335-BDFC-2E13-4950-B7F7E697FA98}"/>
              </a:ext>
            </a:extLst>
          </p:cNvPr>
          <p:cNvSpPr/>
          <p:nvPr/>
        </p:nvSpPr>
        <p:spPr>
          <a:xfrm>
            <a:off x="457200" y="4754880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isco 5 – nº">
            <a:extLst>
              <a:ext uri="{FF2B5EF4-FFF2-40B4-BE49-F238E27FC236}">
                <a16:creationId xmlns:a16="http://schemas.microsoft.com/office/drawing/2014/main" id="{4BE1B83F-B298-D737-856E-3EDBB1F3DEA0}"/>
              </a:ext>
            </a:extLst>
          </p:cNvPr>
          <p:cNvSpPr/>
          <p:nvPr/>
        </p:nvSpPr>
        <p:spPr>
          <a:xfrm>
            <a:off x="612648" y="4901184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isco 5 – nº texto">
            <a:extLst>
              <a:ext uri="{FF2B5EF4-FFF2-40B4-BE49-F238E27FC236}">
                <a16:creationId xmlns:a16="http://schemas.microsoft.com/office/drawing/2014/main" id="{DF066F9B-F232-D1EC-99B4-D196AE2922FA}"/>
              </a:ext>
            </a:extLst>
          </p:cNvPr>
          <p:cNvSpPr txBox="1"/>
          <p:nvPr/>
        </p:nvSpPr>
        <p:spPr>
          <a:xfrm>
            <a:off x="612648" y="49011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5</a:t>
            </a:r>
          </a:p>
        </p:txBody>
      </p:sp>
      <p:sp>
        <p:nvSpPr>
          <p:cNvPr id="45" name="Risco 5 – título">
            <a:extLst>
              <a:ext uri="{FF2B5EF4-FFF2-40B4-BE49-F238E27FC236}">
                <a16:creationId xmlns:a16="http://schemas.microsoft.com/office/drawing/2014/main" id="{953B94CB-6B38-CABE-1E8C-49916BD8169B}"/>
              </a:ext>
            </a:extLst>
          </p:cNvPr>
          <p:cNvSpPr txBox="1"/>
          <p:nvPr/>
        </p:nvSpPr>
        <p:spPr>
          <a:xfrm>
            <a:off x="1143000" y="4809744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Atraso no comissionamento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Laudos inconsistentes, equipamento não homologado, falha no EO/TS e comissionamentos concentrados em jun/27</a:t>
            </a:r>
          </a:p>
        </p:txBody>
      </p:sp>
      <p:sp>
        <p:nvSpPr>
          <p:cNvPr id="46" name="Risco 5 – plano">
            <a:extLst>
              <a:ext uri="{FF2B5EF4-FFF2-40B4-BE49-F238E27FC236}">
                <a16:creationId xmlns:a16="http://schemas.microsoft.com/office/drawing/2014/main" id="{EBD2F9C0-8E04-FA5B-AE36-B48F7B85503C}"/>
              </a:ext>
            </a:extLst>
          </p:cNvPr>
          <p:cNvSpPr txBox="1"/>
          <p:nvPr/>
        </p:nvSpPr>
        <p:spPr>
          <a:xfrm>
            <a:off x="4572000" y="4809744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Fluxo completo antes da SS ao DMSL (aterramento, EO/SIGOT, proteção, SCADA)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Validar laudos e homologação; reunião semanal</a:t>
            </a:r>
          </a:p>
        </p:txBody>
      </p:sp>
      <p:sp>
        <p:nvSpPr>
          <p:cNvPr id="47" name="Risco 5 – plano">
            <a:extLst>
              <a:ext uri="{FF2B5EF4-FFF2-40B4-BE49-F238E27FC236}">
                <a16:creationId xmlns:a16="http://schemas.microsoft.com/office/drawing/2014/main" id="{1EAAA1C1-E40C-259F-74B0-0EA381C442EE}"/>
              </a:ext>
            </a:extLst>
          </p:cNvPr>
          <p:cNvSpPr txBox="1"/>
          <p:nvPr/>
        </p:nvSpPr>
        <p:spPr>
          <a:xfrm>
            <a:off x="8321040" y="4809744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Comissionar em bancada / linha de produção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Chamado à TI/GTD para cadastro; reavaliar a programação</a:t>
            </a:r>
          </a:p>
        </p:txBody>
      </p:sp>
      <p:sp>
        <p:nvSpPr>
          <p:cNvPr id="48" name="Risco 6 – fundo">
            <a:extLst>
              <a:ext uri="{FF2B5EF4-FFF2-40B4-BE49-F238E27FC236}">
                <a16:creationId xmlns:a16="http://schemas.microsoft.com/office/drawing/2014/main" id="{F99F1B40-744B-27E6-7077-2BCD72A3B2F8}"/>
              </a:ext>
            </a:extLst>
          </p:cNvPr>
          <p:cNvSpPr/>
          <p:nvPr/>
        </p:nvSpPr>
        <p:spPr>
          <a:xfrm>
            <a:off x="457200" y="5504688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isco 6 – nº">
            <a:extLst>
              <a:ext uri="{FF2B5EF4-FFF2-40B4-BE49-F238E27FC236}">
                <a16:creationId xmlns:a16="http://schemas.microsoft.com/office/drawing/2014/main" id="{B5F17DE4-D078-94CD-142E-9B96197BD65E}"/>
              </a:ext>
            </a:extLst>
          </p:cNvPr>
          <p:cNvSpPr/>
          <p:nvPr/>
        </p:nvSpPr>
        <p:spPr>
          <a:xfrm>
            <a:off x="612648" y="5650992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isco 6 – nº texto">
            <a:extLst>
              <a:ext uri="{FF2B5EF4-FFF2-40B4-BE49-F238E27FC236}">
                <a16:creationId xmlns:a16="http://schemas.microsoft.com/office/drawing/2014/main" id="{634F2688-9FDF-46E4-5F17-C45E4CE45D30}"/>
              </a:ext>
            </a:extLst>
          </p:cNvPr>
          <p:cNvSpPr txBox="1"/>
          <p:nvPr/>
        </p:nvSpPr>
        <p:spPr>
          <a:xfrm>
            <a:off x="612648" y="56509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6</a:t>
            </a:r>
          </a:p>
        </p:txBody>
      </p:sp>
      <p:sp>
        <p:nvSpPr>
          <p:cNvPr id="51" name="Risco 6 – título">
            <a:extLst>
              <a:ext uri="{FF2B5EF4-FFF2-40B4-BE49-F238E27FC236}">
                <a16:creationId xmlns:a16="http://schemas.microsoft.com/office/drawing/2014/main" id="{B0EBF816-0838-60F5-B9AD-593D992704DF}"/>
              </a:ext>
            </a:extLst>
          </p:cNvPr>
          <p:cNvSpPr txBox="1"/>
          <p:nvPr/>
        </p:nvSpPr>
        <p:spPr>
          <a:xfrm>
            <a:off x="1143000" y="5559552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Atraso na execução / abandono de contrato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Baixa capacidade, desmobilização ou fim de contrato da empreiteira, com obras reguladas concorrentes</a:t>
            </a:r>
          </a:p>
        </p:txBody>
      </p:sp>
      <p:sp>
        <p:nvSpPr>
          <p:cNvPr id="52" name="Risco 6 – plano">
            <a:extLst>
              <a:ext uri="{FF2B5EF4-FFF2-40B4-BE49-F238E27FC236}">
                <a16:creationId xmlns:a16="http://schemas.microsoft.com/office/drawing/2014/main" id="{DA587AB9-ACD1-35A5-9550-855BB6AB8081}"/>
              </a:ext>
            </a:extLst>
          </p:cNvPr>
          <p:cNvSpPr txBox="1"/>
          <p:nvPr/>
        </p:nvSpPr>
        <p:spPr>
          <a:xfrm>
            <a:off x="4572000" y="5559552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Acompanhar capacidade executiva (90 dias) e cronograma semanal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Evitar frentes em contratos próximos do fim; abertura de RFP</a:t>
            </a:r>
          </a:p>
        </p:txBody>
      </p:sp>
      <p:sp>
        <p:nvSpPr>
          <p:cNvPr id="53" name="Risco 6 – plano">
            <a:extLst>
              <a:ext uri="{FF2B5EF4-FFF2-40B4-BE49-F238E27FC236}">
                <a16:creationId xmlns:a16="http://schemas.microsoft.com/office/drawing/2014/main" id="{059FF739-AC0F-2C5B-7A84-651FF2CDADF0}"/>
              </a:ext>
            </a:extLst>
          </p:cNvPr>
          <p:cNvSpPr txBox="1"/>
          <p:nvPr/>
        </p:nvSpPr>
        <p:spPr>
          <a:xfrm>
            <a:off x="8321040" y="5559552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Multa/advertência; remanejar equipes entre regionais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Aditivo de contratos vigentes ou substituição da empresa</a:t>
            </a:r>
          </a:p>
        </p:txBody>
      </p:sp>
      <p:sp>
        <p:nvSpPr>
          <p:cNvPr id="57" name="Rodapé">
            <a:extLst>
              <a:ext uri="{FF2B5EF4-FFF2-40B4-BE49-F238E27FC236}">
                <a16:creationId xmlns:a16="http://schemas.microsoft.com/office/drawing/2014/main" id="{E531366C-658E-41C2-1864-31F7B0B2EEEA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08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59" name="Eyebrow">
            <a:extLst>
              <a:ext uri="{FF2B5EF4-FFF2-40B4-BE49-F238E27FC236}">
                <a16:creationId xmlns:a16="http://schemas.microsoft.com/office/drawing/2014/main" id="{8153AAE6-5FBE-B3C8-72C5-6B5318C75EAE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</p:spTree>
    <p:extLst>
      <p:ext uri="{BB962C8B-B14F-4D97-AF65-F5344CB8AC3E}">
        <p14:creationId xmlns:p14="http://schemas.microsoft.com/office/powerpoint/2010/main" val="3976674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Cronograma Macro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09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07200" y="1330000"/>
            <a:ext cx="894067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07200" y="1330000"/>
            <a:ext cx="894067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Fev/27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07200" y="1630000"/>
            <a:ext cx="894067" cy="3705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01267" y="1330000"/>
            <a:ext cx="989860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01267" y="1330000"/>
            <a:ext cx="98986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Mar/27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1127" y="1330000"/>
            <a:ext cx="957929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1127" y="1330000"/>
            <a:ext cx="957929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Abr/27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1127" y="1630000"/>
            <a:ext cx="957929" cy="3705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49056" y="1330000"/>
            <a:ext cx="989860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49056" y="1330000"/>
            <a:ext cx="98986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Mai/27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38916" y="1330000"/>
            <a:ext cx="957929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38916" y="1330000"/>
            <a:ext cx="957929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Jun/27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38916" y="1630000"/>
            <a:ext cx="957929" cy="3705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96845" y="1330000"/>
            <a:ext cx="989860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96845" y="1330000"/>
            <a:ext cx="98986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Jul/27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6705" y="1330000"/>
            <a:ext cx="989860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86705" y="1330000"/>
            <a:ext cx="98986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Ago/27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6705" y="1630000"/>
            <a:ext cx="989860" cy="3705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776565" y="1330000"/>
            <a:ext cx="957929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76565" y="1330000"/>
            <a:ext cx="957929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Set/27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734495" y="1330000"/>
            <a:ext cx="0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734495" y="1330000"/>
            <a:ext cx="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Out/27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734495" y="1630000"/>
            <a:ext cx="0" cy="3705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1703250"/>
            <a:ext cx="3550000" cy="138499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B1 · 90811 · RL ×4 · LD UHE Isamu - Ponte Alta - 1UI1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6164" y="1690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44093" y="1690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42367" y="1690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721332" y="1690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Diamond 36"/>
          <p:cNvSpPr/>
          <p:nvPr/>
        </p:nvSpPr>
        <p:spPr>
          <a:xfrm>
            <a:off x="6651332" y="1702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08366" y="1630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27/04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1988250"/>
            <a:ext cx="3550000" cy="138499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B2 · 90811 · RT ×3 · LD UHE Isamu - Ponte Alta - 1UI1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6164" y="1975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44093" y="1975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42367" y="1975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721332" y="1975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Diamond 43"/>
          <p:cNvSpPr/>
          <p:nvPr/>
        </p:nvSpPr>
        <p:spPr>
          <a:xfrm>
            <a:off x="6651332" y="1987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208366" y="1915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27/04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2273250"/>
            <a:ext cx="3550000" cy="138499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B3 · 89267 · RT ×2 · LD Xambioá II - Araguanã - 2XB2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80231" y="2260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338160" y="2260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136435" y="2260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615399" y="2260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Diamond 50"/>
          <p:cNvSpPr/>
          <p:nvPr/>
        </p:nvSpPr>
        <p:spPr>
          <a:xfrm>
            <a:off x="7545399" y="2272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02433" y="2200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25/05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2558250"/>
            <a:ext cx="3550000" cy="138499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B4 · 91979 · RL ×1 · QS-LD Gurupi - Duere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80231" y="2545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338160" y="2545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136435" y="2545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615399" y="2545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Diamond 57"/>
          <p:cNvSpPr/>
          <p:nvPr/>
        </p:nvSpPr>
        <p:spPr>
          <a:xfrm>
            <a:off x="7545399" y="2557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102433" y="2485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25/05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2843250"/>
            <a:ext cx="3550000" cy="138499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B5 · 92118 · RL ×1 · QS-4 de Araguaína IV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80231" y="2830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338160" y="2830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136435" y="2830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615399" y="2830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Diamond 64"/>
          <p:cNvSpPr/>
          <p:nvPr/>
        </p:nvSpPr>
        <p:spPr>
          <a:xfrm>
            <a:off x="7545399" y="2842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102433" y="2770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25/05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3128250"/>
            <a:ext cx="3550000" cy="138499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B6 · 70838 · RT ×1 · LD Cristalândia - Lagoa da Confusã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97815" y="3115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7455744" y="3115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254019" y="3115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732983" y="3115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Diamond 71"/>
          <p:cNvSpPr/>
          <p:nvPr/>
        </p:nvSpPr>
        <p:spPr>
          <a:xfrm>
            <a:off x="8662983" y="3127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220017" y="3055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29/06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3413250"/>
            <a:ext cx="3550000" cy="138499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B7 · 70978 · RT ×1 · LD Paraíso I - Caseara - 2PR0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97815" y="3400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7455744" y="3400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8254019" y="3400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732983" y="3400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Diamond 78"/>
          <p:cNvSpPr/>
          <p:nvPr/>
        </p:nvSpPr>
        <p:spPr>
          <a:xfrm>
            <a:off x="8662983" y="3412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220017" y="3340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29/06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0" y="3698250"/>
            <a:ext cx="3550000" cy="138499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B8 · 92094 · RL ×3 · QS-LD Palmas - Aparecida do Rio Ne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97815" y="3685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7455744" y="3685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8254019" y="3685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8732983" y="3685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Diamond 85"/>
          <p:cNvSpPr/>
          <p:nvPr/>
        </p:nvSpPr>
        <p:spPr>
          <a:xfrm>
            <a:off x="8662983" y="3697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220017" y="3625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29/06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7200" y="3983250"/>
            <a:ext cx="3550000" cy="138499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B9 · 92095 · RL ×1 · QS-LD Palmas - Lajeado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97815" y="3970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7455744" y="3970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8254019" y="3970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8732983" y="3970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Diamond 92"/>
          <p:cNvSpPr/>
          <p:nvPr/>
        </p:nvSpPr>
        <p:spPr>
          <a:xfrm>
            <a:off x="8662983" y="3982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220017" y="3910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29/06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4268250"/>
            <a:ext cx="3550000" cy="138499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B10 · 92101 · RL ×1 · QS-8 de Palmas IV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97815" y="4255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7455744" y="4255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8254019" y="4255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8732983" y="4255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Diamond 99"/>
          <p:cNvSpPr/>
          <p:nvPr/>
        </p:nvSpPr>
        <p:spPr>
          <a:xfrm>
            <a:off x="8662983" y="4267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220017" y="4195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29/06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200" y="4553250"/>
            <a:ext cx="3550000" cy="138499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B11 · 92102 · RL ×1 · QS-6 de Palmas IV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497815" y="4540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7455744" y="4540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8254019" y="4540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8732983" y="4540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Diamond 106"/>
          <p:cNvSpPr/>
          <p:nvPr/>
        </p:nvSpPr>
        <p:spPr>
          <a:xfrm>
            <a:off x="8662983" y="4552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220017" y="4480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29/06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7200" y="4838250"/>
            <a:ext cx="3550000" cy="138499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B12 · 89249 · RT ×1 · LD Araguaína - Babaçulândia - 2AR0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509466" y="4825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9467396" y="4825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0265670" y="4825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0744634" y="4825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Diamond 113"/>
          <p:cNvSpPr/>
          <p:nvPr/>
        </p:nvSpPr>
        <p:spPr>
          <a:xfrm>
            <a:off x="10674634" y="4837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1231668" y="4765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31/08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5123250"/>
            <a:ext cx="3550000" cy="138499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B13 · 89307 · RT ×1 · 1 de Figueirópolis - 2FGR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509466" y="5110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9467396" y="5110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10265670" y="5110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10744634" y="5110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Diamond 120"/>
          <p:cNvSpPr/>
          <p:nvPr/>
        </p:nvSpPr>
        <p:spPr>
          <a:xfrm>
            <a:off x="10674634" y="5122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1231668" y="5050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31/08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57200" y="5455000"/>
            <a:ext cx="180000" cy="12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57200" y="542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Execução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253200" y="5455000"/>
            <a:ext cx="180000" cy="12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453200" y="542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Fiscalização, cadastro e TCI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289200" y="5455000"/>
            <a:ext cx="180000" cy="12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3489200" y="542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Comissionamento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19200" y="5455000"/>
            <a:ext cx="180000" cy="120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4719200" y="542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Encerramentos</a:t>
            </a:r>
          </a:p>
        </p:txBody>
      </p:sp>
      <p:sp>
        <p:nvSpPr>
          <p:cNvPr id="131" name="Diamond 130"/>
          <p:cNvSpPr/>
          <p:nvPr/>
        </p:nvSpPr>
        <p:spPr>
          <a:xfrm>
            <a:off x="5625200" y="5435000"/>
            <a:ext cx="150000" cy="15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815200" y="5425000"/>
            <a:ext cx="28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Equipamentos em operação (energização)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57200" y="5665000"/>
            <a:ext cx="11200000" cy="300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/>
            <a:r>
              <a:rPr sz="800" b="0" i="1">
                <a:solidFill>
                  <a:srgbClr val="4D4D4D"/>
                </a:solidFill>
                <a:latin typeface="DM Sans"/>
              </a:rPr>
              <a:t>Marco "Equipamentos em Operação" no último dia útil do mês de energização previsto no PN. Prazos padrão dos blocos RL/RT da WBS 2026; cronograma calculado de trás para frente.</a:t>
            </a:r>
          </a:p>
        </p:txBody>
      </p:sp>
    </p:spTree>
    <p:extLst>
      <p:ext uri="{BB962C8B-B14F-4D97-AF65-F5344CB8AC3E}">
        <p14:creationId xmlns:p14="http://schemas.microsoft.com/office/powerpoint/2010/main" val="1748868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WBS – Estrutura Analítica do Projeto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10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1450000"/>
            <a:ext cx="2300000" cy="1500000"/>
          </a:xfrm>
          <a:prstGeom prst="round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0000" y="1480000"/>
            <a:ext cx="2180000" cy="144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1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PN 2027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Aquisição e Instalação de RL, RT e TripSaver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000000" y="1330000"/>
          <a:ext cx="6050000" cy="420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WBS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Bloco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SIGCO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Equipamento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1 – LD UHE Isamu - Ponte Alta - 1UI1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90811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4 RL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1.2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2 – LD UHE Isamu - Ponte Alta - 1UI1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90811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 RT 34,5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3 – LD Xambioá II - Araguanã - 2XB2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89267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 RT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1.4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4 – QS-LD Gurupi - Duere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91979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rural 34,5 kV + 3 TripSaver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1.5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5 – QS-4 de Araguaína IV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92118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13,8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1.6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6 – LD Cristalândia - Lagoa da Confusão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70838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RT 34,5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7 – LD Paraíso I - Caseara - 2PR0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70978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RT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8 – QS-LD Palmas - Aparecida do Rio Negro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92094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 RL 34,5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9 – QS-LD Palmas - Lajeado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92095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1.10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10 – QS-8 de Palmas IV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92101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13,8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1.11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11 – QS-6 de Palmas IV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92102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13,8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1.12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12 – LD Araguaína - Babaçulândia - 2AR0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89249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RT 34,5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1.13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13 – 1 de Figueirópolis - 2FGR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89307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RT 13,8 kV + remanejamento de 1 RL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9200000" y="1330000"/>
            <a:ext cx="2530000" cy="4500000"/>
          </a:xfrm>
          <a:prstGeom prst="roundRect">
            <a:avLst/>
          </a:prstGeom>
          <a:solidFill>
            <a:srgbClr val="F3F5F8"/>
          </a:solidFill>
          <a:ln w="9525">
            <a:solidFill>
              <a:srgbClr val="D9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60000" y="1400000"/>
            <a:ext cx="2420000" cy="4400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Pacotes de trabalho de cada bloco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1.n.1  Executar obras (30 / 45 d)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1.n.2  Obras concluídas ◆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1.n.3  Fiscalização (12 d)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1.n.4  Cadastro EO / Integração parcial (10 d)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1.n.5  Entrega do TCI / Integração final (15 d)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1.n.6  Chamado / Atend. GAT – só RL (8 d)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1.n.7  Comissionar equipamentos (15 d)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1.n.8  Equipamentos em operação ◆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1.n.9  Encerramento técnico (7 du)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1.n.10  Encerramento contábil (3 du)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57200" y="2200000"/>
            <a:ext cx="242800" cy="0"/>
          </a:xfrm>
          <a:prstGeom prst="line">
            <a:avLst/>
          </a:prstGeom>
          <a:ln w="19050">
            <a:solidFill>
              <a:srgbClr val="1F1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3200000"/>
            <a:ext cx="2300000" cy="1700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/>
            <a:r>
              <a:rPr sz="900" b="0" i="1">
                <a:solidFill>
                  <a:srgbClr val="4D4D4D"/>
                </a:solidFill>
                <a:latin typeface="DM Sans"/>
              </a:rPr>
              <a:t>Escopo do prazo: somente blocos de instalação de equipamentos especiais. Obras de rede (RD MT), projeto executivo e recebimento de material ficam fora desta WBS.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WBS – Cronograma Detalhado (1/4)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11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DM Sans"/>
              </a:rPr>
              <a:t>Tarefa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Dur. · Início – Término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57200" y="1300000"/>
            <a:ext cx="932238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57200" y="1300000"/>
            <a:ext cx="932238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Fev/27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89438" y="1300000"/>
            <a:ext cx="1699964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89438" y="1300000"/>
            <a:ext cx="1699964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Mar/27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89403" y="1300000"/>
            <a:ext cx="1645127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9403" y="1300000"/>
            <a:ext cx="1645127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Abr/27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34530" y="1300000"/>
            <a:ext cx="1699964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34530" y="1300000"/>
            <a:ext cx="1699964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Mai/27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600000"/>
            <a:ext cx="11277295" cy="25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1600000"/>
            <a:ext cx="11277295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BLOCO 1  ·  SIGCO 90811  ·  RL  —  4 RL 34,5 kV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85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07200" y="185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30 d · 16/02 – 18/03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76550" y="1910000"/>
            <a:ext cx="1645127" cy="14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iamond 25"/>
          <p:cNvSpPr/>
          <p:nvPr/>
        </p:nvSpPr>
        <p:spPr>
          <a:xfrm>
            <a:off x="7556677" y="1917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211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07200" y="211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12 d · 19/03 – 31/03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76514" y="2165000"/>
            <a:ext cx="658050" cy="14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236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07200" y="236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10 d · 01/04 – 11/04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89403" y="2420000"/>
            <a:ext cx="548375" cy="14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262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07200" y="262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12/04 – 27/04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92616" y="2675000"/>
            <a:ext cx="822563" cy="14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287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Abertura de chamado / Atendimento GAT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7200" y="287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8 d · 12/04 – 20/04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92616" y="2930000"/>
            <a:ext cx="438700" cy="145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313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07200" y="313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12/04 – 27/04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92616" y="3185000"/>
            <a:ext cx="822563" cy="14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Diamond 41"/>
          <p:cNvSpPr/>
          <p:nvPr/>
        </p:nvSpPr>
        <p:spPr>
          <a:xfrm>
            <a:off x="9750180" y="3192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338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07200" y="338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7 du · 28/04 – 06/05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70017" y="3440000"/>
            <a:ext cx="438700" cy="14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364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07200" y="364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 du · 07/05 – 11/05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363555" y="3695000"/>
            <a:ext cx="219350" cy="14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57200" y="3895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57200" y="3925000"/>
            <a:ext cx="11277295" cy="25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3925000"/>
            <a:ext cx="11277295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BLOCO 2  ·  SIGCO 90811  ·  RT  —  3 RT 34,5 kV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18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07200" y="418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30 d · 16/02 – 18/03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76550" y="4235000"/>
            <a:ext cx="1645127" cy="14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Diamond 54"/>
          <p:cNvSpPr/>
          <p:nvPr/>
        </p:nvSpPr>
        <p:spPr>
          <a:xfrm>
            <a:off x="7556677" y="4242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443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07200" y="443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12 d · 19/03 – 31/03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76514" y="4490000"/>
            <a:ext cx="658050" cy="14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7200" y="469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07200" y="469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10 d · 01/04 – 11/04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89403" y="4745000"/>
            <a:ext cx="548375" cy="14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7200" y="494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07200" y="494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12/04 – 27/04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92616" y="5000000"/>
            <a:ext cx="822563" cy="14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7200" y="520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07200" y="520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12/04 – 27/04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92616" y="5255000"/>
            <a:ext cx="822563" cy="14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Diamond 67"/>
          <p:cNvSpPr/>
          <p:nvPr/>
        </p:nvSpPr>
        <p:spPr>
          <a:xfrm>
            <a:off x="9750180" y="5262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57200" y="545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07200" y="545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7 du · 28/04 – 06/05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870017" y="5510000"/>
            <a:ext cx="438700" cy="14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57200" y="571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07200" y="571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 du · 07/05 – 11/05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363555" y="5765000"/>
            <a:ext cx="219350" cy="14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457200" y="5965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57200" y="6085000"/>
            <a:ext cx="180000" cy="12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57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Execução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33200" y="6085000"/>
            <a:ext cx="180000" cy="12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533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Fiscalização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97200" y="6085000"/>
            <a:ext cx="180000" cy="120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697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Cadastro EO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589200" y="6085000"/>
            <a:ext cx="180000" cy="120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789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TCI / Integração final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73200" y="6085000"/>
            <a:ext cx="180000" cy="120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673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GAT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89200" y="6085000"/>
            <a:ext cx="180000" cy="12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189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Comissionamento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369200" y="6085000"/>
            <a:ext cx="180000" cy="120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569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Enc. técnico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33200" y="6085000"/>
            <a:ext cx="180000" cy="120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733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Enc. contábil</a:t>
            </a:r>
          </a:p>
        </p:txBody>
      </p:sp>
      <p:sp>
        <p:nvSpPr>
          <p:cNvPr id="92" name="Diamond 91"/>
          <p:cNvSpPr/>
          <p:nvPr/>
        </p:nvSpPr>
        <p:spPr>
          <a:xfrm>
            <a:off x="9769200" y="6065000"/>
            <a:ext cx="150000" cy="15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959200" y="6055000"/>
            <a:ext cx="28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Marcos: obra concluída / em operação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WBS – Cronograma Detalhado (2/4)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12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DM Sans"/>
              </a:rPr>
              <a:t>Tarefa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Dur. · Início – Término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57200" y="1300000"/>
            <a:ext cx="1076990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57200" y="1300000"/>
            <a:ext cx="107699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Mar/27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34190" y="1300000"/>
            <a:ext cx="1615485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34190" y="1300000"/>
            <a:ext cx="1615485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Abr/27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49675" y="1300000"/>
            <a:ext cx="1669334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9675" y="1300000"/>
            <a:ext cx="1669334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Mai/27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19009" y="1300000"/>
            <a:ext cx="1615485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19009" y="1300000"/>
            <a:ext cx="1615485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Jun/27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600000"/>
            <a:ext cx="11277295" cy="25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1600000"/>
            <a:ext cx="11277295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BLOCO 3  ·  SIGCO 89267  ·  RT  —  2 RT 34,5 kV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85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07200" y="185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30 d · 16/03 – 15/04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72598" y="1910000"/>
            <a:ext cx="1615485" cy="14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iamond 25"/>
          <p:cNvSpPr/>
          <p:nvPr/>
        </p:nvSpPr>
        <p:spPr>
          <a:xfrm>
            <a:off x="7523083" y="1917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211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07200" y="211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12 d · 16/04 – 28/04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41932" y="2165000"/>
            <a:ext cx="646194" cy="14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236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07200" y="236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10 d · 29/04 – 09/05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41976" y="2420000"/>
            <a:ext cx="538495" cy="14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262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07200" y="262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10/05 – 25/05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34320" y="2675000"/>
            <a:ext cx="807742" cy="14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287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7200" y="287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10/05 – 25/05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34320" y="2930000"/>
            <a:ext cx="807742" cy="14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Diamond 38"/>
          <p:cNvSpPr/>
          <p:nvPr/>
        </p:nvSpPr>
        <p:spPr>
          <a:xfrm>
            <a:off x="9677063" y="2937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313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07200" y="313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7 du · 26/05 – 03/06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95912" y="3185000"/>
            <a:ext cx="430796" cy="14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338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07200" y="338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 du · 04/06 – 08/06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80558" y="3440000"/>
            <a:ext cx="215398" cy="14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" y="3640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57200" y="3670000"/>
            <a:ext cx="11277295" cy="25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3670000"/>
            <a:ext cx="11277295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BLOCOS 4, 5  ·  SIGCO 91979, 92118  ·  RL  —  1 RL rural 34,5 kV + 3 TripSaver; 1 RL 13,8 kV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2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07200" y="392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30 d · 16/03 – 15/04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72598" y="3980000"/>
            <a:ext cx="1615485" cy="14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Diamond 51"/>
          <p:cNvSpPr/>
          <p:nvPr/>
        </p:nvSpPr>
        <p:spPr>
          <a:xfrm>
            <a:off x="7523083" y="3987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418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07200" y="418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12 d · 16/04 – 28/04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41932" y="4235000"/>
            <a:ext cx="646194" cy="14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443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07200" y="443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10 d · 29/04 – 09/05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41976" y="4490000"/>
            <a:ext cx="538495" cy="14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7200" y="469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07200" y="469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10/05 – 25/05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34320" y="4745000"/>
            <a:ext cx="807742" cy="14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7200" y="494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Abertura de chamado / Atendimento GAT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07200" y="494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8 d · 10/05 – 18/05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34320" y="5000000"/>
            <a:ext cx="430796" cy="145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7200" y="520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07200" y="520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10/05 – 25/05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34320" y="5255000"/>
            <a:ext cx="807742" cy="14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Diamond 67"/>
          <p:cNvSpPr/>
          <p:nvPr/>
        </p:nvSpPr>
        <p:spPr>
          <a:xfrm>
            <a:off x="9677063" y="5262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57200" y="545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07200" y="545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7 du · 26/05 – 03/06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795912" y="5510000"/>
            <a:ext cx="430796" cy="14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57200" y="571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07200" y="571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 du · 04/06 – 08/06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280558" y="5765000"/>
            <a:ext cx="215398" cy="14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457200" y="5965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57200" y="6085000"/>
            <a:ext cx="180000" cy="12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57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Execução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33200" y="6085000"/>
            <a:ext cx="180000" cy="12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533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Fiscalização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97200" y="6085000"/>
            <a:ext cx="180000" cy="120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697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Cadastro EO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589200" y="6085000"/>
            <a:ext cx="180000" cy="120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789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TCI / Integração final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73200" y="6085000"/>
            <a:ext cx="180000" cy="120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673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GAT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89200" y="6085000"/>
            <a:ext cx="180000" cy="12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189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Comissionamento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369200" y="6085000"/>
            <a:ext cx="180000" cy="120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569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Enc. técnico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33200" y="6085000"/>
            <a:ext cx="180000" cy="120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733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Enc. contábil</a:t>
            </a:r>
          </a:p>
        </p:txBody>
      </p:sp>
      <p:sp>
        <p:nvSpPr>
          <p:cNvPr id="92" name="Diamond 91"/>
          <p:cNvSpPr/>
          <p:nvPr/>
        </p:nvSpPr>
        <p:spPr>
          <a:xfrm>
            <a:off x="9769200" y="6065000"/>
            <a:ext cx="150000" cy="15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959200" y="6055000"/>
            <a:ext cx="28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Marcos: obra concluída / em operação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WBS – Cronograma Detalhado (3/4)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13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DM Sans"/>
              </a:rPr>
              <a:t>Tarefa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Dur. · Início – Término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57200" y="1300000"/>
            <a:ext cx="837938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57200" y="1300000"/>
            <a:ext cx="837938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Abr/27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95138" y="1300000"/>
            <a:ext cx="1731739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95138" y="1300000"/>
            <a:ext cx="1731739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Mai/27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6878" y="1300000"/>
            <a:ext cx="1675877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6878" y="1300000"/>
            <a:ext cx="1675877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Jun/27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02755" y="1300000"/>
            <a:ext cx="1731739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02755" y="1300000"/>
            <a:ext cx="1731739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Jul/27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600000"/>
            <a:ext cx="11277295" cy="25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1600000"/>
            <a:ext cx="11277295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BLOCOS 6, 7  ·  SIGCO 70838, 70978  ·  RT  —  1 RT 34,5 kV; 1 RT 34,5 kV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85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07200" y="185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30 d · 20/04 – 20/05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0650" y="1910000"/>
            <a:ext cx="1675877" cy="14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iamond 25"/>
          <p:cNvSpPr/>
          <p:nvPr/>
        </p:nvSpPr>
        <p:spPr>
          <a:xfrm>
            <a:off x="7591527" y="1917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211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07200" y="211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12 d · 21/05 – 02/06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12389" y="2165000"/>
            <a:ext cx="670350" cy="14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236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07200" y="236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10 d · 03/06 – 13/06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38603" y="2420000"/>
            <a:ext cx="558625" cy="14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262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07200" y="262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14/06 – 29/06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3091" y="2675000"/>
            <a:ext cx="837938" cy="14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287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7200" y="287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14/06 – 29/06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53091" y="2930000"/>
            <a:ext cx="837938" cy="14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Diamond 38"/>
          <p:cNvSpPr/>
          <p:nvPr/>
        </p:nvSpPr>
        <p:spPr>
          <a:xfrm>
            <a:off x="9826030" y="2937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313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07200" y="313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7 du · 30/06 – 08/07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6892" y="3185000"/>
            <a:ext cx="446900" cy="14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338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07200" y="338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 du · 09/07 – 13/07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49655" y="3440000"/>
            <a:ext cx="223450" cy="14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" y="3640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57200" y="3670000"/>
            <a:ext cx="11277295" cy="25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3670000"/>
            <a:ext cx="11277295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BLOCOS 8, 9, 10, 11  ·  SIGCO 92094, 92095, 92101, 92102  ·  RL  —  3 RL 34,5 kV; 1 RL 34,5 kV; 1 RL 13,8 kV; 1 RL 13,8 kV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2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07200" y="392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30 d · 20/04 – 20/05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0650" y="3980000"/>
            <a:ext cx="1675877" cy="14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Diamond 51"/>
          <p:cNvSpPr/>
          <p:nvPr/>
        </p:nvSpPr>
        <p:spPr>
          <a:xfrm>
            <a:off x="7591527" y="3987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418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07200" y="418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12 d · 21/05 – 02/06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12389" y="4235000"/>
            <a:ext cx="670350" cy="14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443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07200" y="443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10 d · 03/06 – 13/06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38603" y="4490000"/>
            <a:ext cx="558625" cy="14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7200" y="469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07200" y="469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14/06 – 29/06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53091" y="4745000"/>
            <a:ext cx="837938" cy="14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7200" y="494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Abertura de chamado / Atendimento GAT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07200" y="494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8 d · 14/06 – 22/06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53091" y="5000000"/>
            <a:ext cx="446900" cy="145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7200" y="520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07200" y="520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14/06 – 29/06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53091" y="5255000"/>
            <a:ext cx="837938" cy="14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Diamond 67"/>
          <p:cNvSpPr/>
          <p:nvPr/>
        </p:nvSpPr>
        <p:spPr>
          <a:xfrm>
            <a:off x="9826030" y="5262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57200" y="545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07200" y="545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7 du · 30/06 – 08/07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946892" y="5510000"/>
            <a:ext cx="446900" cy="14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57200" y="571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07200" y="571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 du · 09/07 – 13/07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449655" y="5765000"/>
            <a:ext cx="223450" cy="14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457200" y="5965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57200" y="6085000"/>
            <a:ext cx="180000" cy="12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57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Execução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33200" y="6085000"/>
            <a:ext cx="180000" cy="12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533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Fiscalização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97200" y="6085000"/>
            <a:ext cx="180000" cy="120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697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Cadastro EO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589200" y="6085000"/>
            <a:ext cx="180000" cy="120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789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TCI / Integração final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73200" y="6085000"/>
            <a:ext cx="180000" cy="120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673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GAT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89200" y="6085000"/>
            <a:ext cx="180000" cy="12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189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Comissionamento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369200" y="6085000"/>
            <a:ext cx="180000" cy="120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569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Enc. técnico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33200" y="6085000"/>
            <a:ext cx="180000" cy="120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733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Enc. contábil</a:t>
            </a:r>
          </a:p>
        </p:txBody>
      </p:sp>
      <p:sp>
        <p:nvSpPr>
          <p:cNvPr id="92" name="Diamond 91"/>
          <p:cNvSpPr/>
          <p:nvPr/>
        </p:nvSpPr>
        <p:spPr>
          <a:xfrm>
            <a:off x="9769200" y="6065000"/>
            <a:ext cx="150000" cy="15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959200" y="6055000"/>
            <a:ext cx="28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Marcos: obra concluída / em operação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WBS – Cronograma Detalhado (4/4)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14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DM Sans"/>
              </a:rPr>
              <a:t>Tarefa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Dur. · Início – Término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57200" y="1300000"/>
            <a:ext cx="740046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57200" y="1300000"/>
            <a:ext cx="740046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Jun/27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7246" y="1300000"/>
            <a:ext cx="1764725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7246" y="1300000"/>
            <a:ext cx="1764725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Jul/27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1971" y="1300000"/>
            <a:ext cx="1764725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61971" y="1300000"/>
            <a:ext cx="1764725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Ago/27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26696" y="1300000"/>
            <a:ext cx="1707798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26696" y="1300000"/>
            <a:ext cx="1707798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Set/27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600000"/>
            <a:ext cx="11277295" cy="25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1600000"/>
            <a:ext cx="11277295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BLOCO 12  ·  SIGCO 89249  ·  RT  —  1 RT 34,5 kV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85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07200" y="185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30 d · 22/06 – 22/07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4906" y="1910000"/>
            <a:ext cx="1707798" cy="14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iamond 25"/>
          <p:cNvSpPr/>
          <p:nvPr/>
        </p:nvSpPr>
        <p:spPr>
          <a:xfrm>
            <a:off x="7627705" y="1917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211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07200" y="211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12 d · 23/07 – 04/08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49631" y="2165000"/>
            <a:ext cx="683119" cy="14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236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07200" y="236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10 d · 05/08 – 15/08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89677" y="2420000"/>
            <a:ext cx="569266" cy="14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262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07200" y="262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16/08 – 31/08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15870" y="2675000"/>
            <a:ext cx="853899" cy="14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287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7200" y="287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16/08 – 31/08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15870" y="2930000"/>
            <a:ext cx="853899" cy="14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Diamond 38"/>
          <p:cNvSpPr/>
          <p:nvPr/>
        </p:nvSpPr>
        <p:spPr>
          <a:xfrm>
            <a:off x="9904769" y="2937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313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07200" y="313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7 du · 01/09 – 09/09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26696" y="3185000"/>
            <a:ext cx="455412" cy="14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338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07200" y="338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 du · 10/09 – 14/09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539036" y="3440000"/>
            <a:ext cx="227706" cy="14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" y="3640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57200" y="3670000"/>
            <a:ext cx="11277295" cy="25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3670000"/>
            <a:ext cx="11277295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BLOCO 13  ·  SIGCO 89307  ·  RT  —  1 RT 13,8 kV + remanejamento de 1 RL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2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07200" y="392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30 d · 22/06 – 22/07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4906" y="3980000"/>
            <a:ext cx="1707798" cy="14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Diamond 51"/>
          <p:cNvSpPr/>
          <p:nvPr/>
        </p:nvSpPr>
        <p:spPr>
          <a:xfrm>
            <a:off x="7627705" y="3987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418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07200" y="418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12 d · 23/07 – 04/08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49631" y="4235000"/>
            <a:ext cx="683119" cy="14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443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07200" y="443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10 d · 05/08 – 15/08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89677" y="4490000"/>
            <a:ext cx="569266" cy="14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7200" y="469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07200" y="469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16/08 – 31/08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15870" y="4745000"/>
            <a:ext cx="853899" cy="14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7200" y="494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Abertura de chamado / Atendimento GAT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07200" y="494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8 d · 16/08 – 24/08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15870" y="5000000"/>
            <a:ext cx="455412" cy="145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7200" y="520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07200" y="520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16/08 – 31/08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15870" y="5255000"/>
            <a:ext cx="853899" cy="14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Diamond 67"/>
          <p:cNvSpPr/>
          <p:nvPr/>
        </p:nvSpPr>
        <p:spPr>
          <a:xfrm>
            <a:off x="9904769" y="5262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57200" y="5455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07200" y="5455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7 du · 01/09 – 09/09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026696" y="5510000"/>
            <a:ext cx="455412" cy="14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57200" y="5710000"/>
            <a:ext cx="3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07200" y="5710000"/>
            <a:ext cx="1650000" cy="25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 du · 10/09 – 14/09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539036" y="5765000"/>
            <a:ext cx="227706" cy="14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457200" y="5965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57200" y="6085000"/>
            <a:ext cx="180000" cy="12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57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Execução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33200" y="6085000"/>
            <a:ext cx="180000" cy="12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533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Fiscalização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97200" y="6085000"/>
            <a:ext cx="180000" cy="120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697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Cadastro EO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589200" y="6085000"/>
            <a:ext cx="180000" cy="120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789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TCI / Integração final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73200" y="6085000"/>
            <a:ext cx="180000" cy="120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673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GAT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89200" y="6085000"/>
            <a:ext cx="180000" cy="12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189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Comissionamento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369200" y="6085000"/>
            <a:ext cx="180000" cy="120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569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Enc. técnico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33200" y="6085000"/>
            <a:ext cx="180000" cy="120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733200" y="6055000"/>
            <a:ext cx="17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Enc. contábil</a:t>
            </a:r>
          </a:p>
        </p:txBody>
      </p:sp>
      <p:sp>
        <p:nvSpPr>
          <p:cNvPr id="92" name="Diamond 91"/>
          <p:cNvSpPr/>
          <p:nvPr/>
        </p:nvSpPr>
        <p:spPr>
          <a:xfrm>
            <a:off x="9769200" y="6065000"/>
            <a:ext cx="150000" cy="15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959200" y="6055000"/>
            <a:ext cx="28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Marcos: obra concluída / em operação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76656" y="2468880"/>
            <a:ext cx="6400800" cy="1280160"/>
          </a:xfrm>
        </p:spPr>
        <p:txBody>
          <a:bodyPr lIns="0" tIns="0" rIns="0" bIns="0" anchor="t"/>
          <a:lstStyle/>
          <a:p>
            <a:r>
              <a:rPr sz="9200" b="1" i="0" spc="-150">
                <a:solidFill>
                  <a:srgbClr val="1F1F4C"/>
                </a:solidFill>
                <a:latin typeface="DM Sans"/>
              </a:rPr>
              <a:t>Obrigado</a:t>
            </a:r>
            <a:r>
              <a:rPr sz="9200" b="1" i="0">
                <a:solidFill>
                  <a:srgbClr val="F47B20"/>
                </a:solidFill>
                <a:latin typeface="DM Sans"/>
              </a:rPr>
              <a:t>.</a:t>
            </a:r>
          </a:p>
        </p:txBody>
      </p:sp>
      <p:sp>
        <p:nvSpPr>
          <p:cNvPr id="4" name="Anel 1"/>
          <p:cNvSpPr/>
          <p:nvPr/>
        </p:nvSpPr>
        <p:spPr>
          <a:xfrm>
            <a:off x="6492240" y="-502919"/>
            <a:ext cx="7863840" cy="7863840"/>
          </a:xfrm>
          <a:prstGeom prst="ellipse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nel 2"/>
          <p:cNvSpPr/>
          <p:nvPr/>
        </p:nvSpPr>
        <p:spPr>
          <a:xfrm>
            <a:off x="7406640" y="411480"/>
            <a:ext cx="6035040" cy="6035040"/>
          </a:xfrm>
          <a:prstGeom prst="ellipse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nel 3"/>
          <p:cNvSpPr/>
          <p:nvPr/>
        </p:nvSpPr>
        <p:spPr>
          <a:xfrm>
            <a:off x="8321040" y="1325880"/>
            <a:ext cx="4206240" cy="4206240"/>
          </a:xfrm>
          <a:prstGeom prst="ellipse">
            <a:avLst/>
          </a:prstGeom>
          <a:noFill/>
          <a:ln w="15875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Esfera gradiente"/>
          <p:cNvSpPr/>
          <p:nvPr/>
        </p:nvSpPr>
        <p:spPr>
          <a:xfrm>
            <a:off x="9464040" y="2468880"/>
            <a:ext cx="1920240" cy="1920240"/>
          </a:xfrm>
          <a:prstGeom prst="ellipse">
            <a:avLst/>
          </a:prstGeom>
          <a:gradFill rotWithShape="1">
            <a:gsLst>
              <a:gs pos="0">
                <a:srgbClr val="009FC2"/>
              </a:gs>
              <a:gs pos="100000">
                <a:srgbClr val="B5E6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nto laranja"/>
          <p:cNvSpPr/>
          <p:nvPr/>
        </p:nvSpPr>
        <p:spPr>
          <a:xfrm>
            <a:off x="8247888" y="1783080"/>
            <a:ext cx="201168" cy="201168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Logo Energisa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1600200" cy="520954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731520" y="2148840"/>
            <a:ext cx="820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F47B20"/>
                </a:solidFill>
                <a:latin typeface="DM Sans"/>
              </a:rPr>
              <a:t>KICKOFF MEETING  ·  PN 2027  ·  AQUISIÇÃO E INSTALAÇÃO DE RL, RT E TRIPSAVER</a:t>
            </a:r>
          </a:p>
        </p:txBody>
      </p:sp>
      <p:sp>
        <p:nvSpPr>
          <p:cNvPr id="11" name="Mensagem"/>
          <p:cNvSpPr txBox="1"/>
          <p:nvPr/>
        </p:nvSpPr>
        <p:spPr>
          <a:xfrm>
            <a:off x="731520" y="3840480"/>
            <a:ext cx="6035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600">
                <a:solidFill>
                  <a:srgbClr val="4D4D4D"/>
                </a:solidFill>
                <a:latin typeface="DM Sans"/>
              </a:rPr>
              <a:t>Escritório de Projetos PMO-ETO</a:t>
            </a:r>
            <a:endParaRPr sz="1600" b="0" i="0">
              <a:solidFill>
                <a:srgbClr val="4D4D4D"/>
              </a:solidFill>
              <a:latin typeface="DM Sans"/>
            </a:endParaRPr>
          </a:p>
        </p:txBody>
      </p:sp>
      <p:sp>
        <p:nvSpPr>
          <p:cNvPr id="12" name="Badge user"/>
          <p:cNvSpPr/>
          <p:nvPr/>
        </p:nvSpPr>
        <p:spPr>
          <a:xfrm>
            <a:off x="731520" y="5257800"/>
            <a:ext cx="402336" cy="402336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Ícone user" descr="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5358384"/>
            <a:ext cx="201168" cy="201168"/>
          </a:xfrm>
          <a:prstGeom prst="rect">
            <a:avLst/>
          </a:prstGeom>
        </p:spPr>
      </p:pic>
      <p:sp>
        <p:nvSpPr>
          <p:cNvPr id="14" name="Contato GERENTE DO PROJETO"/>
          <p:cNvSpPr txBox="1"/>
          <p:nvPr/>
        </p:nvSpPr>
        <p:spPr>
          <a:xfrm>
            <a:off x="1261872" y="5239512"/>
            <a:ext cx="201168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89898"/>
                </a:solidFill>
                <a:latin typeface="DM Sans"/>
              </a:rPr>
              <a:t>GERENTE DO PROJETO</a:t>
            </a:r>
          </a:p>
          <a:p>
            <a:pPr algn="l"/>
            <a:r>
              <a:rPr lang="pt-BR" sz="1300" b="1" i="0">
                <a:solidFill>
                  <a:srgbClr val="1F1F4C"/>
                </a:solidFill>
                <a:latin typeface="DM Sans"/>
              </a:rPr>
              <a:t>SANDRO PADILHA</a:t>
            </a:r>
            <a:endParaRPr sz="1300" b="1" i="0">
              <a:solidFill>
                <a:srgbClr val="1F1F4C"/>
              </a:solidFill>
              <a:latin typeface="DM Sans"/>
            </a:endParaRPr>
          </a:p>
        </p:txBody>
      </p:sp>
      <p:sp>
        <p:nvSpPr>
          <p:cNvPr id="15" name="Badge pin"/>
          <p:cNvSpPr/>
          <p:nvPr/>
        </p:nvSpPr>
        <p:spPr>
          <a:xfrm>
            <a:off x="3063240" y="5257800"/>
            <a:ext cx="402336" cy="402336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Ícone pin" descr="p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824" y="5358384"/>
            <a:ext cx="201168" cy="201168"/>
          </a:xfrm>
          <a:prstGeom prst="rect">
            <a:avLst/>
          </a:prstGeom>
        </p:spPr>
      </p:pic>
      <p:sp>
        <p:nvSpPr>
          <p:cNvPr id="17" name="Contato UNIDADE"/>
          <p:cNvSpPr txBox="1"/>
          <p:nvPr/>
        </p:nvSpPr>
        <p:spPr>
          <a:xfrm>
            <a:off x="3593592" y="5239512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89898"/>
                </a:solidFill>
                <a:latin typeface="DM Sans"/>
              </a:rPr>
              <a:t>UNIDADE</a:t>
            </a:r>
          </a:p>
          <a:p>
            <a:pPr algn="l"/>
            <a:r>
              <a:rPr sz="1300" b="1" i="0">
                <a:solidFill>
                  <a:srgbClr val="1F1F4C"/>
                </a:solidFill>
                <a:latin typeface="DM Sans"/>
              </a:rPr>
              <a:t>Energisa Tocantins</a:t>
            </a:r>
          </a:p>
        </p:txBody>
      </p:sp>
      <p:cxnSp>
        <p:nvCxnSpPr>
          <p:cNvPr id="18" name="Separador"/>
          <p:cNvCxnSpPr/>
          <p:nvPr/>
        </p:nvCxnSpPr>
        <p:spPr>
          <a:xfrm>
            <a:off x="2852928" y="5257800"/>
            <a:ext cx="0" cy="41148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PPT Editável - Energisa 120 Ano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2C69AF333E13E4EB919682D5E252D96" ma:contentTypeVersion="31" ma:contentTypeDescription="Crie um novo documento." ma:contentTypeScope="" ma:versionID="4a26cd6296a4657b54266c08fb602cc3">
  <xsd:schema xmlns:xsd="http://www.w3.org/2001/XMLSchema" xmlns:xs="http://www.w3.org/2001/XMLSchema" xmlns:p="http://schemas.microsoft.com/office/2006/metadata/properties" xmlns:ns2="d4b7c54a-c95c-45b1-a0ec-9f878b3f9d74" xmlns:ns3="4e1108be-d15a-485d-8259-50667f8093fa" targetNamespace="http://schemas.microsoft.com/office/2006/metadata/properties" ma:root="true" ma:fieldsID="682096db914500dae33c0deb3a2a9c7e" ns2:_="" ns3:_="">
    <xsd:import namespace="d4b7c54a-c95c-45b1-a0ec-9f878b3f9d74"/>
    <xsd:import namespace="4e1108be-d15a-485d-8259-50667f8093f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3:Observa_x00e7__x00e3_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b7c54a-c95c-45b1-a0ec-9f878b3f9d7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d11c5a5-a68c-4142-b688-1663361a0bb4}" ma:internalName="TaxCatchAll" ma:showField="CatchAllData" ma:web="d4b7c54a-c95c-45b1-a0ec-9f878b3f9d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1108be-d15a-485d-8259-50667f8093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39c4b66d-fcb2-4727-8ac1-aa661c0d97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Observa_x00e7__x00e3_o" ma:index="27" nillable="true" ma:displayName="Observação" ma:internalName="Observa_x00e7__x00e3_o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4b7c54a-c95c-45b1-a0ec-9f878b3f9d74" xsi:nil="true"/>
    <lcf76f155ced4ddcb4097134ff3c332f xmlns="4e1108be-d15a-485d-8259-50667f8093fa">
      <Terms xmlns="http://schemas.microsoft.com/office/infopath/2007/PartnerControls"/>
    </lcf76f155ced4ddcb4097134ff3c332f>
    <Observa_x00e7__x00e3_o xmlns="4e1108be-d15a-485d-8259-50667f8093fa" xsi:nil="true"/>
  </documentManagement>
</p:properties>
</file>

<file path=customXml/itemProps1.xml><?xml version="1.0" encoding="utf-8"?>
<ds:datastoreItem xmlns:ds="http://schemas.openxmlformats.org/officeDocument/2006/customXml" ds:itemID="{B1EF19DE-7EC1-4397-9101-AEE086F22B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b7c54a-c95c-45b1-a0ec-9f878b3f9d74"/>
    <ds:schemaRef ds:uri="4e1108be-d15a-485d-8259-50667f8093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6D46B5-83C8-4662-A8A6-08D1E4DFA1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E76189-FB51-4069-A5B0-16A81CED6150}">
  <ds:schemaRefs>
    <ds:schemaRef ds:uri="8c76aea0-1c1b-4dd6-8598-495cd114ece0"/>
    <ds:schemaRef ds:uri="cb15530b-e024-45e1-8aed-b9f14f99bfb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d4b7c54a-c95c-45b1-a0ec-9f878b3f9d74"/>
    <ds:schemaRef ds:uri="4e1108be-d15a-485d-8259-50667f8093f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4278</Words>
  <Application>Microsoft Office PowerPoint</Application>
  <PresentationFormat>Widescreen</PresentationFormat>
  <Paragraphs>976</Paragraphs>
  <Slides>15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Aptos</vt:lpstr>
      <vt:lpstr>Arial</vt:lpstr>
      <vt:lpstr>DM Sans</vt:lpstr>
      <vt:lpstr>Roboto</vt:lpstr>
      <vt:lpstr>PPT Editável - Energisa 120 Anos</vt:lpstr>
      <vt:lpstr>Personalizar design</vt:lpstr>
      <vt:lpstr>KICKOFF MEETING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Obrigado.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DPI PUBLICIDADE E EVENTOS</dc:creator>
  <cp:lastModifiedBy>Sandro Padilha Dias Junior</cp:lastModifiedBy>
  <cp:revision>1</cp:revision>
  <dcterms:created xsi:type="dcterms:W3CDTF">2025-01-22T19:35:09Z</dcterms:created>
  <dcterms:modified xsi:type="dcterms:W3CDTF">2026-10-29T02:13:53Z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0x01010042C69AF333E13E4EB919682D5E252D96</vt:lpwstr>
  </property>
  <property fmtid="{D5CDD505-2E9C-101B-9397-08002B2CF9AE}" pid="3" name="MediaServiceImageTags">
    <vt:lpwstr/>
  </property>
</Properties>
</file>