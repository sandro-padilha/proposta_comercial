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53" r:id="rId5"/>
  </p:sldMasterIdLst>
  <p:notesMasterIdLst>
    <p:notesMasterId r:id="rId18"/>
  </p:notesMasterIdLst>
  <p:handoutMasterIdLst>
    <p:handoutMasterId r:id="rId19"/>
  </p:handoutMasterIdLst>
  <p:sldIdLst>
    <p:sldId id="257" r:id="rId6"/>
    <p:sldId id="266" r:id="rId7"/>
    <p:sldId id="267" r:id="rId8"/>
    <p:sldId id="273" r:id="rId10"/>
    <p:sldId id="269" r:id="rId11"/>
    <p:sldId id="270" r:id="rId13"/>
    <p:sldId id="274" r:id="rId26"/>
    <p:sldId id="275" r:id="rId27"/>
    <p:sldId id="264" r:id="rId14"/>
    <p:sldId id="271" r:id="rId15"/>
    <p:sldId id="263" r:id="rId1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1F4C"/>
    <a:srgbClr val="2444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5A340D-CABF-48A7-9FAF-E7EDA1C95748}" v="7" dt="2026-10-22T17:23:37.7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7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19" Type="http://schemas.openxmlformats.org/officeDocument/2006/relationships/handoutMaster" Target="handoutMasters/handout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microsoft.com/office/2016/11/relationships/changesInfo" Target="changesInfos/changesInfo1.xml"/><Relationship Id="rId25" Type="http://schemas.microsoft.com/office/2015/10/relationships/revisionInfo" Target="revisionInfo.xml"/><Relationship Id="rId26" Type="http://schemas.openxmlformats.org/officeDocument/2006/relationships/slide" Target="slides/slide13.xml"/><Relationship Id="rId27" Type="http://schemas.openxmlformats.org/officeDocument/2006/relationships/slide" Target="slides/slide1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ioenai Aquino Antero" userId="4bf45897-19ac-464e-830f-ed4f3acd2300" providerId="ADAL" clId="{533903EB-207F-4771-BC19-463112F8E3AD}"/>
    <pc:docChg chg="undo custSel modSld">
      <pc:chgData name="Elioenai Aquino Antero" userId="4bf45897-19ac-464e-830f-ed4f3acd2300" providerId="ADAL" clId="{533903EB-207F-4771-BC19-463112F8E3AD}" dt="2026-10-22T14:11:15.677" v="12" actId="20577"/>
      <pc:docMkLst>
        <pc:docMk/>
      </pc:docMkLst>
      <pc:sldChg chg="modSp mod">
        <pc:chgData name="Elioenai Aquino Antero" userId="4bf45897-19ac-464e-830f-ed4f3acd2300" providerId="ADAL" clId="{533903EB-207F-4771-BC19-463112F8E3AD}" dt="2026-10-22T14:11:15.677" v="12" actId="20577"/>
        <pc:sldMkLst>
          <pc:docMk/>
          <pc:sldMk cId="0" sldId="257"/>
        </pc:sldMkLst>
        <pc:spChg chg="mod">
          <ac:chgData name="Elioenai Aquino Antero" userId="4bf45897-19ac-464e-830f-ed4f3acd2300" providerId="ADAL" clId="{533903EB-207F-4771-BC19-463112F8E3AD}" dt="2026-10-22T14:11:15.677" v="12" actId="20577"/>
          <ac:spMkLst>
            <pc:docMk/>
            <pc:sldMk cId="0" sldId="257"/>
            <ac:spMk id="10" creationId="{00000000-0000-0000-0000-000000000000}"/>
          </ac:spMkLst>
        </pc:spChg>
      </pc:sldChg>
    </pc:docChg>
  </pc:docChgLst>
  <pc:docChgLst>
    <pc:chgData name="Jocileide Rodrigues Dias" userId="1b476cd8-4057-464a-b104-bbab1955e3e0" providerId="ADAL" clId="{039C79BD-B19D-4334-ABA0-7AF91C6D5A59}"/>
    <pc:docChg chg="undo custSel addSld modSld sldOrd">
      <pc:chgData name="Jocileide Rodrigues Dias" userId="1b476cd8-4057-464a-b104-bbab1955e3e0" providerId="ADAL" clId="{039C79BD-B19D-4334-ABA0-7AF91C6D5A59}" dt="2026-10-22T17:23:37.793" v="1237" actId="20577"/>
      <pc:docMkLst>
        <pc:docMk/>
      </pc:docMkLst>
      <pc:sldChg chg="addSp modSp mod">
        <pc:chgData name="Jocileide Rodrigues Dias" userId="1b476cd8-4057-464a-b104-bbab1955e3e0" providerId="ADAL" clId="{039C79BD-B19D-4334-ABA0-7AF91C6D5A59}" dt="2026-10-14T17:14:53.611" v="988" actId="14100"/>
        <pc:sldMkLst>
          <pc:docMk/>
          <pc:sldMk cId="0" sldId="257"/>
        </pc:sldMkLst>
        <pc:spChg chg="add mod">
          <ac:chgData name="Jocileide Rodrigues Dias" userId="1b476cd8-4057-464a-b104-bbab1955e3e0" providerId="ADAL" clId="{039C79BD-B19D-4334-ABA0-7AF91C6D5A59}" dt="2026-10-14T17:14:53.611" v="988" actId="14100"/>
          <ac:spMkLst>
            <pc:docMk/>
            <pc:sldMk cId="0" sldId="257"/>
            <ac:spMk id="2" creationId="{A0E4D3B2-03FD-6E18-95ED-43BF117C833F}"/>
          </ac:spMkLst>
        </pc:spChg>
        <pc:spChg chg="mod">
          <ac:chgData name="Jocileide Rodrigues Dias" userId="1b476cd8-4057-464a-b104-bbab1955e3e0" providerId="ADAL" clId="{039C79BD-B19D-4334-ABA0-7AF91C6D5A59}" dt="2026-10-14T17:09:22.529" v="724" actId="1076"/>
          <ac:spMkLst>
            <pc:docMk/>
            <pc:sldMk cId="0" sldId="257"/>
            <ac:spMk id="4" creationId="{00000000-0000-0000-0000-000000000000}"/>
          </ac:spMkLst>
        </pc:spChg>
        <pc:spChg chg="mod">
          <ac:chgData name="Jocileide Rodrigues Dias" userId="1b476cd8-4057-464a-b104-bbab1955e3e0" providerId="ADAL" clId="{039C79BD-B19D-4334-ABA0-7AF91C6D5A59}" dt="2026-10-14T16:59:47.143" v="34" actId="20577"/>
          <ac:spMkLst>
            <pc:docMk/>
            <pc:sldMk cId="0" sldId="257"/>
            <ac:spMk id="15" creationId="{00000000-0000-0000-0000-000000000000}"/>
          </ac:spMkLst>
        </pc:spChg>
        <pc:spChg chg="mod">
          <ac:chgData name="Jocileide Rodrigues Dias" userId="1b476cd8-4057-464a-b104-bbab1955e3e0" providerId="ADAL" clId="{039C79BD-B19D-4334-ABA0-7AF91C6D5A59}" dt="2026-10-14T16:59:52.593" v="44" actId="20577"/>
          <ac:spMkLst>
            <pc:docMk/>
            <pc:sldMk cId="0" sldId="257"/>
            <ac:spMk id="19" creationId="{00000000-0000-0000-0000-000000000000}"/>
          </ac:spMkLst>
        </pc:spChg>
      </pc:sldChg>
      <pc:sldChg chg="addSp delSp modSp mod">
        <pc:chgData name="Jocileide Rodrigues Dias" userId="1b476cd8-4057-464a-b104-bbab1955e3e0" providerId="ADAL" clId="{039C79BD-B19D-4334-ABA0-7AF91C6D5A59}" dt="2026-10-14T17:15:48.493" v="1012" actId="1076"/>
        <pc:sldMkLst>
          <pc:docMk/>
          <pc:sldMk cId="0" sldId="263"/>
        </pc:sldMkLst>
        <pc:spChg chg="add del mod">
          <ac:chgData name="Jocileide Rodrigues Dias" userId="1b476cd8-4057-464a-b104-bbab1955e3e0" providerId="ADAL" clId="{039C79BD-B19D-4334-ABA0-7AF91C6D5A59}" dt="2026-10-14T17:09:07.182" v="722" actId="20577"/>
          <ac:spMkLst>
            <pc:docMk/>
            <pc:sldMk cId="0" sldId="263"/>
            <ac:spMk id="11" creationId="{00000000-0000-0000-0000-000000000000}"/>
          </ac:spMkLst>
        </pc:spChg>
        <pc:spChg chg="mod">
          <ac:chgData name="Jocileide Rodrigues Dias" userId="1b476cd8-4057-464a-b104-bbab1955e3e0" providerId="ADAL" clId="{039C79BD-B19D-4334-ABA0-7AF91C6D5A59}" dt="2026-10-14T17:08:41.519" v="678" actId="20577"/>
          <ac:spMkLst>
            <pc:docMk/>
            <pc:sldMk cId="0" sldId="263"/>
            <ac:spMk id="14" creationId="{00000000-0000-0000-0000-000000000000}"/>
          </ac:spMkLst>
        </pc:spChg>
        <pc:spChg chg="add mod">
          <ac:chgData name="Jocileide Rodrigues Dias" userId="1b476cd8-4057-464a-b104-bbab1955e3e0" providerId="ADAL" clId="{039C79BD-B19D-4334-ABA0-7AF91C6D5A59}" dt="2026-10-14T17:15:48.493" v="1012" actId="1076"/>
          <ac:spMkLst>
            <pc:docMk/>
            <pc:sldMk cId="0" sldId="263"/>
            <ac:spMk id="19" creationId="{F15BB925-2C94-E200-66B1-BA6845D363A5}"/>
          </ac:spMkLst>
        </pc:spChg>
      </pc:sldChg>
      <pc:sldChg chg="addSp delSp modSp mod">
        <pc:chgData name="Jocileide Rodrigues Dias" userId="1b476cd8-4057-464a-b104-bbab1955e3e0" providerId="ADAL" clId="{039C79BD-B19D-4334-ABA0-7AF91C6D5A59}" dt="2026-10-14T17:15:39.692" v="1009" actId="22"/>
        <pc:sldMkLst>
          <pc:docMk/>
          <pc:sldMk cId="1748868728" sldId="264"/>
        </pc:sldMkLst>
        <pc:spChg chg="mod">
          <ac:chgData name="Jocileide Rodrigues Dias" userId="1b476cd8-4057-464a-b104-bbab1955e3e0" providerId="ADAL" clId="{039C79BD-B19D-4334-ABA0-7AF91C6D5A59}" dt="2026-10-14T17:06:14.385" v="578" actId="20577"/>
          <ac:spMkLst>
            <pc:docMk/>
            <pc:sldMk cId="1748868728" sldId="264"/>
            <ac:spMk id="6" creationId="{BBAC4CB0-69CB-452A-4A56-4E4A151CF2C1}"/>
          </ac:spMkLst>
        </pc:spChg>
        <pc:spChg chg="mod">
          <ac:chgData name="Jocileide Rodrigues Dias" userId="1b476cd8-4057-464a-b104-bbab1955e3e0" providerId="ADAL" clId="{039C79BD-B19D-4334-ABA0-7AF91C6D5A59}" dt="2026-10-14T17:05:36.380" v="554" actId="20577"/>
          <ac:spMkLst>
            <pc:docMk/>
            <pc:sldMk cId="1748868728" sldId="264"/>
            <ac:spMk id="7" creationId="{50824C48-A21F-0B29-3A2A-0036E3CE3299}"/>
          </ac:spMkLst>
        </pc:spChg>
        <pc:spChg chg="mod">
          <ac:chgData name="Jocileide Rodrigues Dias" userId="1b476cd8-4057-464a-b104-bbab1955e3e0" providerId="ADAL" clId="{039C79BD-B19D-4334-ABA0-7AF91C6D5A59}" dt="2026-10-14T17:05:21.357" v="523" actId="20577"/>
          <ac:spMkLst>
            <pc:docMk/>
            <pc:sldMk cId="1748868728" sldId="264"/>
            <ac:spMk id="8" creationId="{8F7B4335-BE0B-DF62-CED3-FA23D73E207F}"/>
          </ac:spMkLst>
        </pc:spChg>
        <pc:spChg chg="add">
          <ac:chgData name="Jocileide Rodrigues Dias" userId="1b476cd8-4057-464a-b104-bbab1955e3e0" providerId="ADAL" clId="{039C79BD-B19D-4334-ABA0-7AF91C6D5A59}" dt="2026-10-14T17:15:39.692" v="1009" actId="22"/>
          <ac:spMkLst>
            <pc:docMk/>
            <pc:sldMk cId="1748868728" sldId="264"/>
            <ac:spMk id="12" creationId="{4DAC5E31-4379-CB8E-C913-488DF4F6D563}"/>
          </ac:spMkLst>
        </pc:spChg>
      </pc:sldChg>
      <pc:sldChg chg="addSp modSp mod ord">
        <pc:chgData name="Jocileide Rodrigues Dias" userId="1b476cd8-4057-464a-b104-bbab1955e3e0" providerId="ADAL" clId="{039C79BD-B19D-4334-ABA0-7AF91C6D5A59}" dt="2026-10-22T17:23:37.793" v="1237" actId="20577"/>
        <pc:sldMkLst>
          <pc:docMk/>
          <pc:sldMk cId="3732970937" sldId="265"/>
        </pc:sldMkLst>
        <pc:spChg chg="add mod">
          <ac:chgData name="Jocileide Rodrigues Dias" userId="1b476cd8-4057-464a-b104-bbab1955e3e0" providerId="ADAL" clId="{039C79BD-B19D-4334-ABA0-7AF91C6D5A59}" dt="2026-10-14T17:23:03.012" v="1040" actId="207"/>
          <ac:spMkLst>
            <pc:docMk/>
            <pc:sldMk cId="3732970937" sldId="265"/>
            <ac:spMk id="5" creationId="{42DFB766-9A6F-0C56-974E-9D0CAF1E50BB}"/>
          </ac:spMkLst>
        </pc:spChg>
        <pc:spChg chg="add mod">
          <ac:chgData name="Jocileide Rodrigues Dias" userId="1b476cd8-4057-464a-b104-bbab1955e3e0" providerId="ADAL" clId="{039C79BD-B19D-4334-ABA0-7AF91C6D5A59}" dt="2026-10-22T17:23:37.793" v="1237" actId="20577"/>
          <ac:spMkLst>
            <pc:docMk/>
            <pc:sldMk cId="3732970937" sldId="265"/>
            <ac:spMk id="7" creationId="{BDF51499-91FB-8EEC-7F3C-64FED94EE5CF}"/>
          </ac:spMkLst>
        </pc:spChg>
      </pc:sldChg>
      <pc:sldChg chg="addSp delSp modSp mod">
        <pc:chgData name="Jocileide Rodrigues Dias" userId="1b476cd8-4057-464a-b104-bbab1955e3e0" providerId="ADAL" clId="{039C79BD-B19D-4334-ABA0-7AF91C6D5A59}" dt="2026-10-14T17:15:07.386" v="995" actId="1076"/>
        <pc:sldMkLst>
          <pc:docMk/>
          <pc:sldMk cId="1796060300" sldId="266"/>
        </pc:sldMkLst>
        <pc:spChg chg="mod">
          <ac:chgData name="Jocileide Rodrigues Dias" userId="1b476cd8-4057-464a-b104-bbab1955e3e0" providerId="ADAL" clId="{039C79BD-B19D-4334-ABA0-7AF91C6D5A59}" dt="2026-10-14T17:09:35.319" v="756" actId="20577"/>
          <ac:spMkLst>
            <pc:docMk/>
            <pc:sldMk cId="1796060300" sldId="266"/>
            <ac:spMk id="7" creationId="{1037B04D-E3AA-A765-045D-C55C25CDC1C2}"/>
          </ac:spMkLst>
        </pc:spChg>
        <pc:spChg chg="mod">
          <ac:chgData name="Jocileide Rodrigues Dias" userId="1b476cd8-4057-464a-b104-bbab1955e3e0" providerId="ADAL" clId="{039C79BD-B19D-4334-ABA0-7AF91C6D5A59}" dt="2026-10-14T17:12:10.553" v="803" actId="20577"/>
          <ac:spMkLst>
            <pc:docMk/>
            <pc:sldMk cId="1796060300" sldId="266"/>
            <ac:spMk id="10" creationId="{86DCA0B6-2EA3-4735-A929-EE5F974EE69F}"/>
          </ac:spMkLst>
        </pc:spChg>
        <pc:spChg chg="mod">
          <ac:chgData name="Jocileide Rodrigues Dias" userId="1b476cd8-4057-464a-b104-bbab1955e3e0" providerId="ADAL" clId="{039C79BD-B19D-4334-ABA0-7AF91C6D5A59}" dt="2026-10-14T17:11:50.902" v="780" actId="20577"/>
          <ac:spMkLst>
            <pc:docMk/>
            <pc:sldMk cId="1796060300" sldId="266"/>
            <ac:spMk id="11" creationId="{514081F1-6B01-E4F2-49F8-8C457A834131}"/>
          </ac:spMkLst>
        </pc:spChg>
        <pc:spChg chg="mod">
          <ac:chgData name="Jocileide Rodrigues Dias" userId="1b476cd8-4057-464a-b104-bbab1955e3e0" providerId="ADAL" clId="{039C79BD-B19D-4334-ABA0-7AF91C6D5A59}" dt="2026-10-14T17:08:05.431" v="658" actId="20577"/>
          <ac:spMkLst>
            <pc:docMk/>
            <pc:sldMk cId="1796060300" sldId="266"/>
            <ac:spMk id="14" creationId="{5C268436-8097-4732-1F20-97860D124A91}"/>
          </ac:spMkLst>
        </pc:spChg>
        <pc:spChg chg="mod">
          <ac:chgData name="Jocileide Rodrigues Dias" userId="1b476cd8-4057-464a-b104-bbab1955e3e0" providerId="ADAL" clId="{039C79BD-B19D-4334-ABA0-7AF91C6D5A59}" dt="2026-10-14T17:08:11.372" v="659" actId="113"/>
          <ac:spMkLst>
            <pc:docMk/>
            <pc:sldMk cId="1796060300" sldId="266"/>
            <ac:spMk id="20" creationId="{5244F07B-5E2E-F279-125D-C852056182E0}"/>
          </ac:spMkLst>
        </pc:spChg>
        <pc:spChg chg="mod">
          <ac:chgData name="Jocileide Rodrigues Dias" userId="1b476cd8-4057-464a-b104-bbab1955e3e0" providerId="ADAL" clId="{039C79BD-B19D-4334-ABA0-7AF91C6D5A59}" dt="2026-10-14T17:01:04.969" v="130" actId="20577"/>
          <ac:spMkLst>
            <pc:docMk/>
            <pc:sldMk cId="1796060300" sldId="266"/>
            <ac:spMk id="25" creationId="{77C0C3D5-11D0-54C1-2D52-E069C1D21F67}"/>
          </ac:spMkLst>
        </pc:spChg>
        <pc:spChg chg="add mod">
          <ac:chgData name="Jocileide Rodrigues Dias" userId="1b476cd8-4057-464a-b104-bbab1955e3e0" providerId="ADAL" clId="{039C79BD-B19D-4334-ABA0-7AF91C6D5A59}" dt="2026-10-14T17:09:56.639" v="759" actId="1076"/>
          <ac:spMkLst>
            <pc:docMk/>
            <pc:sldMk cId="1796060300" sldId="266"/>
            <ac:spMk id="40" creationId="{58235D5F-4785-C846-1FED-B752A22CAB54}"/>
          </ac:spMkLst>
        </pc:spChg>
        <pc:spChg chg="add mod">
          <ac:chgData name="Jocileide Rodrigues Dias" userId="1b476cd8-4057-464a-b104-bbab1955e3e0" providerId="ADAL" clId="{039C79BD-B19D-4334-ABA0-7AF91C6D5A59}" dt="2026-10-14T17:07:32.490" v="614" actId="1076"/>
          <ac:spMkLst>
            <pc:docMk/>
            <pc:sldMk cId="1796060300" sldId="266"/>
            <ac:spMk id="42" creationId="{45B1083C-62F5-AAE6-AD5D-46821F2CF946}"/>
          </ac:spMkLst>
        </pc:spChg>
        <pc:spChg chg="add">
          <ac:chgData name="Jocileide Rodrigues Dias" userId="1b476cd8-4057-464a-b104-bbab1955e3e0" providerId="ADAL" clId="{039C79BD-B19D-4334-ABA0-7AF91C6D5A59}" dt="2026-10-14T17:09:47.962" v="758" actId="22"/>
          <ac:spMkLst>
            <pc:docMk/>
            <pc:sldMk cId="1796060300" sldId="266"/>
            <ac:spMk id="44" creationId="{A84019CF-0239-5AEB-188F-58D5DB1875B2}"/>
          </ac:spMkLst>
        </pc:spChg>
        <pc:spChg chg="add mod">
          <ac:chgData name="Jocileide Rodrigues Dias" userId="1b476cd8-4057-464a-b104-bbab1955e3e0" providerId="ADAL" clId="{039C79BD-B19D-4334-ABA0-7AF91C6D5A59}" dt="2026-10-14T17:12:36.364" v="840" actId="14100"/>
          <ac:spMkLst>
            <pc:docMk/>
            <pc:sldMk cId="1796060300" sldId="266"/>
            <ac:spMk id="46" creationId="{DA8DC612-5114-8065-E4EB-C0E5A381D8E7}"/>
          </ac:spMkLst>
        </pc:spChg>
        <pc:spChg chg="add mod">
          <ac:chgData name="Jocileide Rodrigues Dias" userId="1b476cd8-4057-464a-b104-bbab1955e3e0" providerId="ADAL" clId="{039C79BD-B19D-4334-ABA0-7AF91C6D5A59}" dt="2026-10-14T17:15:07.386" v="995" actId="1076"/>
          <ac:spMkLst>
            <pc:docMk/>
            <pc:sldMk cId="1796060300" sldId="266"/>
            <ac:spMk id="50" creationId="{46BEA618-12F7-3B65-1744-C4776B0991E2}"/>
          </ac:spMkLst>
        </pc:spChg>
      </pc:sldChg>
      <pc:sldChg chg="addSp delSp modSp mod">
        <pc:chgData name="Jocileide Rodrigues Dias" userId="1b476cd8-4057-464a-b104-bbab1955e3e0" providerId="ADAL" clId="{039C79BD-B19D-4334-ABA0-7AF91C6D5A59}" dt="2026-10-22T17:04:52.455" v="1129" actId="1076"/>
        <pc:sldMkLst>
          <pc:docMk/>
          <pc:sldMk cId="2526851422" sldId="267"/>
        </pc:sldMkLst>
        <pc:spChg chg="mod">
          <ac:chgData name="Jocileide Rodrigues Dias" userId="1b476cd8-4057-464a-b104-bbab1955e3e0" providerId="ADAL" clId="{039C79BD-B19D-4334-ABA0-7AF91C6D5A59}" dt="2026-10-14T17:03:01.645" v="316" actId="20577"/>
          <ac:spMkLst>
            <pc:docMk/>
            <pc:sldMk cId="2526851422" sldId="267"/>
            <ac:spMk id="4" creationId="{A39E0F86-B360-70BF-A50A-5869E5515F01}"/>
          </ac:spMkLst>
        </pc:spChg>
        <pc:spChg chg="mod">
          <ac:chgData name="Jocileide Rodrigues Dias" userId="1b476cd8-4057-464a-b104-bbab1955e3e0" providerId="ADAL" clId="{039C79BD-B19D-4334-ABA0-7AF91C6D5A59}" dt="2026-10-14T17:03:07.850" v="335" actId="20577"/>
          <ac:spMkLst>
            <pc:docMk/>
            <pc:sldMk cId="2526851422" sldId="267"/>
            <ac:spMk id="6" creationId="{FD1F72A8-98F3-2327-62BD-72DF0CBB9BCB}"/>
          </ac:spMkLst>
        </pc:spChg>
        <pc:spChg chg="mod">
          <ac:chgData name="Jocileide Rodrigues Dias" userId="1b476cd8-4057-464a-b104-bbab1955e3e0" providerId="ADAL" clId="{039C79BD-B19D-4334-ABA0-7AF91C6D5A59}" dt="2026-10-22T17:04:49.131" v="1128" actId="1076"/>
          <ac:spMkLst>
            <pc:docMk/>
            <pc:sldMk cId="2526851422" sldId="267"/>
            <ac:spMk id="36" creationId="{D0FF9681-712E-1F84-1A3C-51521C508AE2}"/>
          </ac:spMkLst>
        </pc:spChg>
        <pc:spChg chg="add mod">
          <ac:chgData name="Jocileide Rodrigues Dias" userId="1b476cd8-4057-464a-b104-bbab1955e3e0" providerId="ADAL" clId="{039C79BD-B19D-4334-ABA0-7AF91C6D5A59}" dt="2026-10-22T17:04:49.131" v="1128" actId="1076"/>
          <ac:spMkLst>
            <pc:docMk/>
            <pc:sldMk cId="2526851422" sldId="267"/>
            <ac:spMk id="38" creationId="{8D25614C-E874-D4B1-9EDA-CD5EE2FC677D}"/>
          </ac:spMkLst>
        </pc:spChg>
        <pc:spChg chg="add mod">
          <ac:chgData name="Jocileide Rodrigues Dias" userId="1b476cd8-4057-464a-b104-bbab1955e3e0" providerId="ADAL" clId="{039C79BD-B19D-4334-ABA0-7AF91C6D5A59}" dt="2026-10-22T17:04:52.455" v="1129" actId="1076"/>
          <ac:spMkLst>
            <pc:docMk/>
            <pc:sldMk cId="2526851422" sldId="267"/>
            <ac:spMk id="42" creationId="{4F4C7847-C9DD-E973-45B8-A5A8BE71427B}"/>
          </ac:spMkLst>
        </pc:spChg>
        <pc:graphicFrameChg chg="add mod">
          <ac:chgData name="Jocileide Rodrigues Dias" userId="1b476cd8-4057-464a-b104-bbab1955e3e0" providerId="ADAL" clId="{039C79BD-B19D-4334-ABA0-7AF91C6D5A59}" dt="2026-10-22T17:04:16.820" v="1117" actId="1037"/>
          <ac:graphicFrameMkLst>
            <pc:docMk/>
            <pc:sldMk cId="2526851422" sldId="267"/>
            <ac:graphicFrameMk id="3" creationId="{7DFBEB2F-F1D0-01F1-F9B5-20B36C8ABC38}"/>
          </ac:graphicFrameMkLst>
        </pc:graphicFrameChg>
        <pc:graphicFrameChg chg="del modGraphic">
          <ac:chgData name="Jocileide Rodrigues Dias" userId="1b476cd8-4057-464a-b104-bbab1955e3e0" providerId="ADAL" clId="{039C79BD-B19D-4334-ABA0-7AF91C6D5A59}" dt="2026-10-22T17:04:07.500" v="1110" actId="478"/>
          <ac:graphicFrameMkLst>
            <pc:docMk/>
            <pc:sldMk cId="2526851422" sldId="267"/>
            <ac:graphicFrameMk id="29" creationId="{120AC19B-6021-4116-3341-99D4A11CA161}"/>
          </ac:graphicFrameMkLst>
        </pc:graphicFrameChg>
      </pc:sldChg>
      <pc:sldChg chg="addSp delSp modSp mod">
        <pc:chgData name="Jocileide Rodrigues Dias" userId="1b476cd8-4057-464a-b104-bbab1955e3e0" providerId="ADAL" clId="{039C79BD-B19D-4334-ABA0-7AF91C6D5A59}" dt="2026-10-22T17:04:37.022" v="1127" actId="1038"/>
        <pc:sldMkLst>
          <pc:docMk/>
          <pc:sldMk cId="2474999816" sldId="268"/>
        </pc:sldMkLst>
        <pc:spChg chg="add mod">
          <ac:chgData name="Jocileide Rodrigues Dias" userId="1b476cd8-4057-464a-b104-bbab1955e3e0" providerId="ADAL" clId="{039C79BD-B19D-4334-ABA0-7AF91C6D5A59}" dt="2026-10-14T17:06:53.070" v="607" actId="1076"/>
          <ac:spMkLst>
            <pc:docMk/>
            <pc:sldMk cId="2474999816" sldId="268"/>
            <ac:spMk id="71" creationId="{9E6702ED-C166-F681-152C-B934DDA9124C}"/>
          </ac:spMkLst>
        </pc:spChg>
        <pc:spChg chg="add">
          <ac:chgData name="Jocileide Rodrigues Dias" userId="1b476cd8-4057-464a-b104-bbab1955e3e0" providerId="ADAL" clId="{039C79BD-B19D-4334-ABA0-7AF91C6D5A59}" dt="2026-10-14T17:03:56.027" v="403" actId="22"/>
          <ac:spMkLst>
            <pc:docMk/>
            <pc:sldMk cId="2474999816" sldId="268"/>
            <ac:spMk id="73" creationId="{8F4D8A43-6004-0E91-4A80-6344F0A68403}"/>
          </ac:spMkLst>
        </pc:spChg>
        <pc:spChg chg="add mod">
          <ac:chgData name="Jocileide Rodrigues Dias" userId="1b476cd8-4057-464a-b104-bbab1955e3e0" providerId="ADAL" clId="{039C79BD-B19D-4334-ABA0-7AF91C6D5A59}" dt="2026-10-14T17:04:05.793" v="406" actId="1076"/>
          <ac:spMkLst>
            <pc:docMk/>
            <pc:sldMk cId="2474999816" sldId="268"/>
            <ac:spMk id="75" creationId="{9C20AD7D-C317-7315-4B25-46A12AF53BB1}"/>
          </ac:spMkLst>
        </pc:spChg>
        <pc:spChg chg="add mod">
          <ac:chgData name="Jocileide Rodrigues Dias" userId="1b476cd8-4057-464a-b104-bbab1955e3e0" providerId="ADAL" clId="{039C79BD-B19D-4334-ABA0-7AF91C6D5A59}" dt="2026-10-14T17:15:22.059" v="1003" actId="1076"/>
          <ac:spMkLst>
            <pc:docMk/>
            <pc:sldMk cId="2474999816" sldId="268"/>
            <ac:spMk id="79" creationId="{76F6C719-E352-977C-7C50-D98BD7632AA6}"/>
          </ac:spMkLst>
        </pc:spChg>
        <pc:graphicFrameChg chg="add mod">
          <ac:chgData name="Jocileide Rodrigues Dias" userId="1b476cd8-4057-464a-b104-bbab1955e3e0" providerId="ADAL" clId="{039C79BD-B19D-4334-ABA0-7AF91C6D5A59}" dt="2026-10-22T17:04:37.022" v="1127" actId="1038"/>
          <ac:graphicFrameMkLst>
            <pc:docMk/>
            <pc:sldMk cId="2474999816" sldId="268"/>
            <ac:graphicFrameMk id="4" creationId="{2ADEB937-F4E9-27DE-8D44-B0B9385CB07D}"/>
          </ac:graphicFrameMkLst>
        </pc:graphicFrameChg>
        <pc:graphicFrameChg chg="del">
          <ac:chgData name="Jocileide Rodrigues Dias" userId="1b476cd8-4057-464a-b104-bbab1955e3e0" providerId="ADAL" clId="{039C79BD-B19D-4334-ABA0-7AF91C6D5A59}" dt="2026-10-22T17:04:25.623" v="1118" actId="478"/>
          <ac:graphicFrameMkLst>
            <pc:docMk/>
            <pc:sldMk cId="2474999816" sldId="268"/>
            <ac:graphicFrameMk id="62" creationId="{E6DE81C3-88DB-E0D4-1D41-F5FAB26EF5B2}"/>
          </ac:graphicFrameMkLst>
        </pc:graphicFrameChg>
      </pc:sldChg>
      <pc:sldChg chg="addSp delSp modSp mod">
        <pc:chgData name="Jocileide Rodrigues Dias" userId="1b476cd8-4057-464a-b104-bbab1955e3e0" providerId="ADAL" clId="{039C79BD-B19D-4334-ABA0-7AF91C6D5A59}" dt="2026-10-14T17:26:40.917" v="1078" actId="20577"/>
        <pc:sldMkLst>
          <pc:docMk/>
          <pc:sldMk cId="772740072" sldId="269"/>
        </pc:sldMkLst>
        <pc:spChg chg="mod">
          <ac:chgData name="Jocileide Rodrigues Dias" userId="1b476cd8-4057-464a-b104-bbab1955e3e0" providerId="ADAL" clId="{039C79BD-B19D-4334-ABA0-7AF91C6D5A59}" dt="2026-10-14T17:04:35.311" v="477" actId="20577"/>
          <ac:spMkLst>
            <pc:docMk/>
            <pc:sldMk cId="772740072" sldId="269"/>
            <ac:spMk id="4" creationId="{F81E71CF-89BA-30B3-477F-D2F80AF6F227}"/>
          </ac:spMkLst>
        </pc:spChg>
        <pc:spChg chg="add">
          <ac:chgData name="Jocileide Rodrigues Dias" userId="1b476cd8-4057-464a-b104-bbab1955e3e0" providerId="ADAL" clId="{039C79BD-B19D-4334-ABA0-7AF91C6D5A59}" dt="2026-10-14T17:05:49.211" v="558" actId="22"/>
          <ac:spMkLst>
            <pc:docMk/>
            <pc:sldMk cId="772740072" sldId="269"/>
            <ac:spMk id="51" creationId="{57A5C123-FC7F-9DB0-067A-7896B2CC5CEA}"/>
          </ac:spMkLst>
        </pc:spChg>
        <pc:spChg chg="add mod">
          <ac:chgData name="Jocileide Rodrigues Dias" userId="1b476cd8-4057-464a-b104-bbab1955e3e0" providerId="ADAL" clId="{039C79BD-B19D-4334-ABA0-7AF91C6D5A59}" dt="2026-10-14T17:15:28.757" v="1006" actId="1076"/>
          <ac:spMkLst>
            <pc:docMk/>
            <pc:sldMk cId="772740072" sldId="269"/>
            <ac:spMk id="55" creationId="{1027F437-A74E-0BA8-54B3-4C60D2A81197}"/>
          </ac:spMkLst>
        </pc:spChg>
        <pc:spChg chg="add mod">
          <ac:chgData name="Jocileide Rodrigues Dias" userId="1b476cd8-4057-464a-b104-bbab1955e3e0" providerId="ADAL" clId="{039C79BD-B19D-4334-ABA0-7AF91C6D5A59}" dt="2026-10-14T17:26:20.394" v="1063" actId="20577"/>
          <ac:spMkLst>
            <pc:docMk/>
            <pc:sldMk cId="772740072" sldId="269"/>
            <ac:spMk id="57" creationId="{4178120F-E349-5A6B-8708-756E18C942A4}"/>
          </ac:spMkLst>
        </pc:spChg>
        <pc:spChg chg="add mod">
          <ac:chgData name="Jocileide Rodrigues Dias" userId="1b476cd8-4057-464a-b104-bbab1955e3e0" providerId="ADAL" clId="{039C79BD-B19D-4334-ABA0-7AF91C6D5A59}" dt="2026-10-14T17:26:40.917" v="1078" actId="20577"/>
          <ac:spMkLst>
            <pc:docMk/>
            <pc:sldMk cId="772740072" sldId="269"/>
            <ac:spMk id="59" creationId="{76DF6AAB-AB4C-4D83-ACDD-EB56789B7D6F}"/>
          </ac:spMkLst>
        </pc:spChg>
      </pc:sldChg>
      <pc:sldChg chg="addSp delSp modSp mod">
        <pc:chgData name="Jocileide Rodrigues Dias" userId="1b476cd8-4057-464a-b104-bbab1955e3e0" providerId="ADAL" clId="{039C79BD-B19D-4334-ABA0-7AF91C6D5A59}" dt="2026-10-14T17:15:36.013" v="1008" actId="1076"/>
        <pc:sldMkLst>
          <pc:docMk/>
          <pc:sldMk cId="3976674021" sldId="270"/>
        </pc:sldMkLst>
        <pc:spChg chg="add mod">
          <ac:chgData name="Jocileide Rodrigues Dias" userId="1b476cd8-4057-464a-b104-bbab1955e3e0" providerId="ADAL" clId="{039C79BD-B19D-4334-ABA0-7AF91C6D5A59}" dt="2026-10-14T17:04:46.640" v="484" actId="20577"/>
          <ac:spMkLst>
            <pc:docMk/>
            <pc:sldMk cId="3976674021" sldId="270"/>
            <ac:spMk id="57" creationId="{E531366C-658E-41C2-1864-31F7B0B2EEEA}"/>
          </ac:spMkLst>
        </pc:spChg>
        <pc:spChg chg="add">
          <ac:chgData name="Jocileide Rodrigues Dias" userId="1b476cd8-4057-464a-b104-bbab1955e3e0" providerId="ADAL" clId="{039C79BD-B19D-4334-ABA0-7AF91C6D5A59}" dt="2026-10-14T17:05:45.304" v="556" actId="22"/>
          <ac:spMkLst>
            <pc:docMk/>
            <pc:sldMk cId="3976674021" sldId="270"/>
            <ac:spMk id="59" creationId="{8153AAE6-5FBE-B3C8-72C5-6B5318C75EAE}"/>
          </ac:spMkLst>
        </pc:spChg>
        <pc:spChg chg="add mod">
          <ac:chgData name="Jocileide Rodrigues Dias" userId="1b476cd8-4057-464a-b104-bbab1955e3e0" providerId="ADAL" clId="{039C79BD-B19D-4334-ABA0-7AF91C6D5A59}" dt="2026-10-14T17:15:36.013" v="1008" actId="1076"/>
          <ac:spMkLst>
            <pc:docMk/>
            <pc:sldMk cId="3976674021" sldId="270"/>
            <ac:spMk id="61" creationId="{520A2A5E-F9A4-5A1E-31ED-E3E73015207A}"/>
          </ac:spMkLst>
        </pc:spChg>
      </pc:sldChg>
      <pc:sldChg chg="addSp modSp add mod">
        <pc:chgData name="Jocileide Rodrigues Dias" userId="1b476cd8-4057-464a-b104-bbab1955e3e0" providerId="ADAL" clId="{039C79BD-B19D-4334-ABA0-7AF91C6D5A59}" dt="2026-10-14T17:15:41.717" v="1010" actId="22"/>
        <pc:sldMkLst>
          <pc:docMk/>
          <pc:sldMk cId="2783556291" sldId="271"/>
        </pc:sldMkLst>
        <pc:spChg chg="add">
          <ac:chgData name="Jocileide Rodrigues Dias" userId="1b476cd8-4057-464a-b104-bbab1955e3e0" providerId="ADAL" clId="{039C79BD-B19D-4334-ABA0-7AF91C6D5A59}" dt="2026-10-14T17:15:41.717" v="1010" actId="22"/>
          <ac:spMkLst>
            <pc:docMk/>
            <pc:sldMk cId="2783556291" sldId="271"/>
            <ac:spMk id="3" creationId="{DAB5D21C-F6DD-193C-4265-66B5F0C43DFB}"/>
          </ac:spMkLst>
        </pc:spChg>
        <pc:spChg chg="mod">
          <ac:chgData name="Jocileide Rodrigues Dias" userId="1b476cd8-4057-464a-b104-bbab1955e3e0" providerId="ADAL" clId="{039C79BD-B19D-4334-ABA0-7AF91C6D5A59}" dt="2026-10-14T17:06:25.273" v="599" actId="20577"/>
          <ac:spMkLst>
            <pc:docMk/>
            <pc:sldMk cId="2783556291" sldId="271"/>
            <ac:spMk id="6" creationId="{9A7A9CB9-DB87-EDEF-FF05-2F8A56908B51}"/>
          </ac:spMkLst>
        </pc:spChg>
      </pc:sldChg>
      <pc:sldChg chg="add">
        <pc:chgData name="Jocileide Rodrigues Dias" userId="1b476cd8-4057-464a-b104-bbab1955e3e0" providerId="ADAL" clId="{039C79BD-B19D-4334-ABA0-7AF91C6D5A59}" dt="2026-10-14T17:18:05.596" v="1013" actId="2890"/>
        <pc:sldMkLst>
          <pc:docMk/>
          <pc:sldMk cId="2716896002" sldId="272"/>
        </pc:sldMkLst>
      </pc:sldChg>
      <pc:sldChg chg="addSp delSp modSp new mod">
        <pc:chgData name="Jocileide Rodrigues Dias" userId="1b476cd8-4057-464a-b104-bbab1955e3e0" providerId="ADAL" clId="{039C79BD-B19D-4334-ABA0-7AF91C6D5A59}" dt="2026-10-22T17:08:58.233" v="1231" actId="20577"/>
        <pc:sldMkLst>
          <pc:docMk/>
          <pc:sldMk cId="1460311017" sldId="273"/>
        </pc:sldMkLst>
        <pc:spChg chg="add mod">
          <ac:chgData name="Jocileide Rodrigues Dias" userId="1b476cd8-4057-464a-b104-bbab1955e3e0" providerId="ADAL" clId="{039C79BD-B19D-4334-ABA0-7AF91C6D5A59}" dt="2026-10-22T17:08:35.234" v="1157" actId="20577"/>
          <ac:spMkLst>
            <pc:docMk/>
            <pc:sldMk cId="1460311017" sldId="273"/>
            <ac:spMk id="3" creationId="{881B19FA-C361-4AEA-63D3-A4D5E83BA84A}"/>
          </ac:spMkLst>
        </pc:spChg>
        <pc:spChg chg="add">
          <ac:chgData name="Jocileide Rodrigues Dias" userId="1b476cd8-4057-464a-b104-bbab1955e3e0" providerId="ADAL" clId="{039C79BD-B19D-4334-ABA0-7AF91C6D5A59}" dt="2026-10-22T17:07:35.203" v="1131" actId="22"/>
          <ac:spMkLst>
            <pc:docMk/>
            <pc:sldMk cId="1460311017" sldId="273"/>
            <ac:spMk id="5" creationId="{C16A34ED-02F0-3BE2-B643-C37922915AC6}"/>
          </ac:spMkLst>
        </pc:spChg>
        <pc:spChg chg="add del mod">
          <ac:chgData name="Jocileide Rodrigues Dias" userId="1b476cd8-4057-464a-b104-bbab1955e3e0" providerId="ADAL" clId="{039C79BD-B19D-4334-ABA0-7AF91C6D5A59}" dt="2026-10-22T17:08:27.534" v="1139" actId="478"/>
          <ac:spMkLst>
            <pc:docMk/>
            <pc:sldMk cId="1460311017" sldId="273"/>
            <ac:spMk id="6" creationId="{1E85F177-CB87-2560-A833-FF10E80AC5FA}"/>
          </ac:spMkLst>
        </pc:spChg>
        <pc:spChg chg="add mod">
          <ac:chgData name="Jocileide Rodrigues Dias" userId="1b476cd8-4057-464a-b104-bbab1955e3e0" providerId="ADAL" clId="{039C79BD-B19D-4334-ABA0-7AF91C6D5A59}" dt="2026-10-22T17:07:47.425" v="1136" actId="1076"/>
          <ac:spMkLst>
            <pc:docMk/>
            <pc:sldMk cId="1460311017" sldId="273"/>
            <ac:spMk id="8" creationId="{B24BC600-DF43-2090-5E65-3CD0C07B693B}"/>
          </ac:spMkLst>
        </pc:spChg>
        <pc:spChg chg="add mod">
          <ac:chgData name="Jocileide Rodrigues Dias" userId="1b476cd8-4057-464a-b104-bbab1955e3e0" providerId="ADAL" clId="{039C79BD-B19D-4334-ABA0-7AF91C6D5A59}" dt="2026-10-22T17:08:58.233" v="1231" actId="20577"/>
          <ac:spMkLst>
            <pc:docMk/>
            <pc:sldMk cId="1460311017" sldId="273"/>
            <ac:spMk id="10" creationId="{D483C495-794F-0CA6-5549-119B3A96E807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87B85EAC-CB96-888F-704D-306C5E5C55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ED3DCBC-CB79-2A81-8F7B-718D87D60BA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D757D8-F647-4AA4-89F0-71280EDA93C2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EAFEDE5-0EA6-B915-FB88-33DF0D7AE6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3E5C042-78BC-911C-CCB8-DFD7616A997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EC3EE2-C416-4D1C-B06E-2EF753D5DF2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95892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F0C563-1A98-44EB-B8BB-BEFF5C7F3E1A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228AB-4BB1-43B1-A5EA-162F51C8BDF2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845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400" b="1">
                <a:solidFill>
                  <a:srgbClr val="007A9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Informar os principais riscos identificados</a:t>
            </a:r>
          </a:p>
          <a:p>
            <a:endParaRPr lang="pt-BR" altLang="pt-BR" sz="1400" b="1">
              <a:solidFill>
                <a:srgbClr val="007A9C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pt-BR" altLang="pt-BR" sz="1200" b="1">
                <a:solidFill>
                  <a:srgbClr val="007A9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PLANO ATENUANTE: </a:t>
            </a:r>
            <a:r>
              <a:rPr lang="pt-BR" altLang="pt-BR" sz="1200">
                <a:solidFill>
                  <a:srgbClr val="007A9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descrever um plano que o GP possa usar pra reduzir ou eliminar a probabilidade  de risco, o impacto do risco ou ambos.</a:t>
            </a:r>
          </a:p>
          <a:p>
            <a:endParaRPr lang="pt-BR" altLang="pt-BR" sz="1200" b="1">
              <a:solidFill>
                <a:srgbClr val="007A9C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pt-BR" altLang="pt-BR" sz="1200" b="1">
                <a:solidFill>
                  <a:srgbClr val="007A9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PLANO DE CONTIGÊNCIA: </a:t>
            </a:r>
            <a:r>
              <a:rPr lang="pt-BR" altLang="pt-BR" sz="1200">
                <a:solidFill>
                  <a:srgbClr val="007A9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descrever um plano alternativo que possa ajudar na redução do impacto do risco caso ele ocorra.</a:t>
            </a:r>
          </a:p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1228AB-4BB1-43B1-A5EA-162F51C8BDF2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120341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Desenho de um círculo&#10;&#10;O conteúdo gerado por IA pode estar incorreto.">
            <a:extLst>
              <a:ext uri="{FF2B5EF4-FFF2-40B4-BE49-F238E27FC236}">
                <a16:creationId xmlns:a16="http://schemas.microsoft.com/office/drawing/2014/main" id="{34270DB8-0503-3897-1007-0CF6155084A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5"/>
            <a:ext cx="12192000" cy="6854430"/>
          </a:xfrm>
          <a:prstGeom prst="rect">
            <a:avLst/>
          </a:prstGeom>
        </p:spPr>
      </p:pic>
      <p:pic>
        <p:nvPicPr>
          <p:cNvPr id="2" name="Imagem 1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7079F1FD-65F2-FE6F-C220-604FEF08834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70"/>
            <a:ext cx="12192000" cy="685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7135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Forma&#10;&#10;O conteúdo gerado por IA pode estar incorreto.">
            <a:extLst>
              <a:ext uri="{FF2B5EF4-FFF2-40B4-BE49-F238E27FC236}">
                <a16:creationId xmlns:a16="http://schemas.microsoft.com/office/drawing/2014/main" id="{9A5AB256-5C22-9959-9687-895B709FD4B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5"/>
            <a:ext cx="12192000" cy="685443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15E146A-D0E2-EB12-7C02-DF05ADC6E0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5070" y="557982"/>
            <a:ext cx="10478729" cy="744345"/>
          </a:xfrm>
          <a:prstGeom prst="rect">
            <a:avLst/>
          </a:prstGeom>
        </p:spPr>
        <p:txBody>
          <a:bodyPr anchor="b"/>
          <a:lstStyle>
            <a:lvl1pPr algn="l">
              <a:defRPr sz="4800" b="1">
                <a:solidFill>
                  <a:srgbClr val="1F1F4C"/>
                </a:solidFill>
                <a:latin typeface="DM Sans" pitchFamily="2" charset="0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5164C42-6287-1F7B-00CB-F0C0DE6780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5071" y="1406014"/>
            <a:ext cx="10478729" cy="385178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>
                <a:solidFill>
                  <a:srgbClr val="1F1F4C"/>
                </a:solidFill>
                <a:latin typeface="DM Sans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236370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Forma&#10;&#10;O conteúdo gerado por IA pode estar incorreto.">
            <a:extLst>
              <a:ext uri="{FF2B5EF4-FFF2-40B4-BE49-F238E27FC236}">
                <a16:creationId xmlns:a16="http://schemas.microsoft.com/office/drawing/2014/main" id="{35750F48-93E1-C485-1D16-2FEAE02F081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5"/>
            <a:ext cx="12192000" cy="6854430"/>
          </a:xfrm>
          <a:prstGeom prst="rect">
            <a:avLst/>
          </a:pr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A72B985-DEE9-63CF-B160-D8D5B78A8D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5071" y="1406014"/>
            <a:ext cx="10515600" cy="4351338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1F1F4C"/>
                </a:solidFill>
                <a:latin typeface="DM Sans" pitchFamily="2" charset="0"/>
              </a:defRPr>
            </a:lvl1pPr>
            <a:lvl2pPr>
              <a:defRPr sz="1800">
                <a:solidFill>
                  <a:srgbClr val="1F1F4C"/>
                </a:solidFill>
                <a:latin typeface="DM Sans" pitchFamily="2" charset="0"/>
              </a:defRPr>
            </a:lvl2pPr>
            <a:lvl3pPr>
              <a:defRPr sz="1800">
                <a:solidFill>
                  <a:srgbClr val="1F1F4C"/>
                </a:solidFill>
                <a:latin typeface="DM Sans" pitchFamily="2" charset="0"/>
              </a:defRPr>
            </a:lvl3pPr>
            <a:lvl4pPr>
              <a:defRPr sz="1800">
                <a:solidFill>
                  <a:srgbClr val="1F1F4C"/>
                </a:solidFill>
                <a:latin typeface="DM Sans" pitchFamily="2" charset="0"/>
              </a:defRPr>
            </a:lvl4pPr>
            <a:lvl5pPr>
              <a:defRPr sz="1800">
                <a:solidFill>
                  <a:srgbClr val="1F1F4C"/>
                </a:solidFill>
                <a:latin typeface="DM Sans" pitchFamily="2" charset="0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2" name="Título 11">
            <a:extLst>
              <a:ext uri="{FF2B5EF4-FFF2-40B4-BE49-F238E27FC236}">
                <a16:creationId xmlns:a16="http://schemas.microsoft.com/office/drawing/2014/main" id="{45D52482-D8B5-458B-F167-A1F0FF136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5071" y="557983"/>
            <a:ext cx="10515600" cy="848032"/>
          </a:xfrm>
          <a:prstGeom prst="rect">
            <a:avLst/>
          </a:prstGeom>
        </p:spPr>
        <p:txBody>
          <a:bodyPr/>
          <a:lstStyle>
            <a:lvl1pPr>
              <a:defRPr lang="pt-BR" sz="4800" b="1" dirty="0">
                <a:solidFill>
                  <a:srgbClr val="1F1F4C"/>
                </a:solidFill>
                <a:latin typeface="DM Sans" pitchFamily="2" charset="0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560171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erramen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3422563-A520-F9E6-E370-0703979E3D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785"/>
            <a:ext cx="12191999" cy="685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412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anto – forma">
            <a:extLst>
              <a:ext uri="{FF2B5EF4-FFF2-40B4-BE49-F238E27FC236}">
                <a16:creationId xmlns:a16="http://schemas.microsoft.com/office/drawing/2014/main" id="{892B5431-8425-F44D-483E-AEE258C91DFB}"/>
              </a:ext>
            </a:extLst>
          </p:cNvPr>
          <p:cNvSpPr/>
          <p:nvPr userDrawn="1"/>
        </p:nvSpPr>
        <p:spPr>
          <a:xfrm>
            <a:off x="11109960" y="-502920"/>
            <a:ext cx="1645920" cy="1325880"/>
          </a:xfrm>
          <a:prstGeom prst="round2DiagRect">
            <a:avLst>
              <a:gd name="adj1" fmla="val 45000"/>
              <a:gd name="adj2" fmla="val 0"/>
            </a:avLst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Canto – esfera">
            <a:extLst>
              <a:ext uri="{FF2B5EF4-FFF2-40B4-BE49-F238E27FC236}">
                <a16:creationId xmlns:a16="http://schemas.microsoft.com/office/drawing/2014/main" id="{62CF1D09-6C72-99C4-69BD-061BF287FE72}"/>
              </a:ext>
            </a:extLst>
          </p:cNvPr>
          <p:cNvSpPr/>
          <p:nvPr userDrawn="1"/>
        </p:nvSpPr>
        <p:spPr>
          <a:xfrm>
            <a:off x="11750040" y="320040"/>
            <a:ext cx="822960" cy="822960"/>
          </a:xfrm>
          <a:prstGeom prst="ellipse">
            <a:avLst/>
          </a:prstGeom>
          <a:gradFill rotWithShape="1">
            <a:gsLst>
              <a:gs pos="0">
                <a:srgbClr val="009FC2"/>
              </a:gs>
              <a:gs pos="100000">
                <a:srgbClr val="B5E622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Canto – arco">
            <a:extLst>
              <a:ext uri="{FF2B5EF4-FFF2-40B4-BE49-F238E27FC236}">
                <a16:creationId xmlns:a16="http://schemas.microsoft.com/office/drawing/2014/main" id="{F51D8F3B-9606-480D-41B0-6D0087FE8B51}"/>
              </a:ext>
            </a:extLst>
          </p:cNvPr>
          <p:cNvSpPr/>
          <p:nvPr userDrawn="1"/>
        </p:nvSpPr>
        <p:spPr>
          <a:xfrm>
            <a:off x="10561320" y="-1280160"/>
            <a:ext cx="2651760" cy="2651760"/>
          </a:xfrm>
          <a:prstGeom prst="arc">
            <a:avLst>
              <a:gd name="adj1" fmla="val 9000000"/>
              <a:gd name="adj2" fmla="val 18000000"/>
            </a:avLst>
          </a:prstGeom>
          <a:noFill/>
          <a:ln w="15875">
            <a:solidFill>
              <a:srgbClr val="F47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Logo Energisa" descr="logo.png">
            <a:extLst>
              <a:ext uri="{FF2B5EF4-FFF2-40B4-BE49-F238E27FC236}">
                <a16:creationId xmlns:a16="http://schemas.microsoft.com/office/drawing/2014/main" id="{DB0F9A41-0FB3-1023-3196-BA31112591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80192" y="6351905"/>
            <a:ext cx="1143000" cy="372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419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Logo Energisa" descr="logo.png">
            <a:extLst>
              <a:ext uri="{FF2B5EF4-FFF2-40B4-BE49-F238E27FC236}">
                <a16:creationId xmlns:a16="http://schemas.microsoft.com/office/drawing/2014/main" id="{09D2A2BF-2BBA-982F-01CD-3FB693660BA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35468" y="158139"/>
            <a:ext cx="1143000" cy="372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89202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Relationship Id="rId7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F5EFABC3-A164-4C24-78C1-54FF6360BF3E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5"/>
            <a:ext cx="12192000" cy="685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840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0" r:id="rId3"/>
    <p:sldLayoutId id="2147483651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696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jpeg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pa – fundo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9EEF3"/>
              </a:gs>
            </a:gsLst>
            <a:lin ang="135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58368" y="1783080"/>
            <a:ext cx="6217920" cy="1920240"/>
          </a:xfrm>
        </p:spPr>
        <p:txBody>
          <a:bodyPr wrap="square" lIns="0" tIns="0" rIns="0" bIns="0" anchor="t"/>
          <a:lstStyle/>
          <a:p>
            <a:pPr>
              <a:lnSpc>
                <a:spcPct val="88000"/>
              </a:lnSpc>
            </a:pPr>
            <a:r>
              <a:rPr sz="7200" b="1" i="0" spc="-100">
                <a:solidFill>
                  <a:srgbClr val="1F1F4C"/>
                </a:solidFill>
                <a:latin typeface="DM Sans"/>
              </a:rPr>
              <a:t>KICKOFF</a:t>
            </a:r>
          </a:p>
          <a:p>
            <a:pPr>
              <a:lnSpc>
                <a:spcPct val="88000"/>
              </a:lnSpc>
            </a:pPr>
            <a:r>
              <a:rPr sz="7200" b="1" i="0" spc="-100">
                <a:solidFill>
                  <a:srgbClr val="F47B20"/>
                </a:solidFill>
                <a:latin typeface="DM Sans"/>
              </a:rPr>
              <a:t>MEETING</a:t>
            </a:r>
          </a:p>
        </p:txBody>
      </p:sp>
      <p:sp>
        <p:nvSpPr>
          <p:cNvPr id="5" name="Capa – módulo navy"/>
          <p:cNvSpPr/>
          <p:nvPr/>
        </p:nvSpPr>
        <p:spPr>
          <a:xfrm>
            <a:off x="7635240" y="685800"/>
            <a:ext cx="4343400" cy="6172200"/>
          </a:xfrm>
          <a:prstGeom prst="round2DiagRect">
            <a:avLst>
              <a:gd name="adj1" fmla="val 32000"/>
              <a:gd name="adj2" fmla="val 0"/>
            </a:avLst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Capa – foto" descr="cover_photo.jpg"/>
          <p:cNvPicPr>
            <a:picLocks noChangeAspect="1"/>
          </p:cNvPicPr>
          <p:nvPr/>
        </p:nvPicPr>
        <p:blipFill>
          <a:blip r:embed="rId2"/>
          <a:srcRect l="2438" r="2438"/>
          <a:stretch>
            <a:fillRect/>
          </a:stretch>
        </p:blipFill>
        <p:spPr>
          <a:xfrm>
            <a:off x="7178040" y="320040"/>
            <a:ext cx="4434840" cy="5989320"/>
          </a:xfrm>
          <a:prstGeom prst="round2DiagRect">
            <a:avLst>
              <a:gd name="adj1" fmla="val 32000"/>
              <a:gd name="adj2" fmla="val 0"/>
            </a:avLst>
          </a:prstGeom>
        </p:spPr>
      </p:pic>
      <p:sp>
        <p:nvSpPr>
          <p:cNvPr id="7" name="Capa – esfera gradiente"/>
          <p:cNvSpPr/>
          <p:nvPr/>
        </p:nvSpPr>
        <p:spPr>
          <a:xfrm>
            <a:off x="11201400" y="5440680"/>
            <a:ext cx="1554480" cy="1554480"/>
          </a:xfrm>
          <a:prstGeom prst="ellipse">
            <a:avLst/>
          </a:prstGeom>
          <a:gradFill rotWithShape="1">
            <a:gsLst>
              <a:gs pos="0">
                <a:srgbClr val="009FC2"/>
              </a:gs>
              <a:gs pos="100000">
                <a:srgbClr val="B5E622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Capa – selo projeto"/>
          <p:cNvSpPr/>
          <p:nvPr/>
        </p:nvSpPr>
        <p:spPr>
          <a:xfrm>
            <a:off x="6720840" y="4572000"/>
            <a:ext cx="2514600" cy="1371600"/>
          </a:xfrm>
          <a:prstGeom prst="roundRect">
            <a:avLst>
              <a:gd name="adj" fmla="val 18000"/>
            </a:avLst>
          </a:prstGeom>
          <a:solidFill>
            <a:srgbClr val="1F1F4C"/>
          </a:solidFill>
          <a:ln>
            <a:noFill/>
          </a:ln>
          <a:effectLst>
            <a:outerShdw blurRad="228600" dist="50800" dir="5400000" algn="t" rotWithShape="0">
              <a:srgbClr val="1F1F4C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Selo rótulo"/>
          <p:cNvSpPr txBox="1"/>
          <p:nvPr/>
        </p:nvSpPr>
        <p:spPr>
          <a:xfrm>
            <a:off x="6949440" y="4727448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00DBFF"/>
                </a:solidFill>
                <a:latin typeface="DM Sans"/>
              </a:rPr>
              <a:t>PROJETO</a:t>
            </a:r>
          </a:p>
        </p:txBody>
      </p:sp>
      <p:sp>
        <p:nvSpPr>
          <p:cNvPr id="10" name="Selo código"/>
          <p:cNvSpPr txBox="1"/>
          <p:nvPr/>
        </p:nvSpPr>
        <p:spPr>
          <a:xfrm>
            <a:off x="6949440" y="4910328"/>
            <a:ext cx="2103120" cy="523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3400" b="1" i="0">
                <a:solidFill>
                  <a:srgbClr val="FFFFFF"/>
                </a:solidFill>
                <a:latin typeface="DM Sans"/>
              </a:rPr>
              <a:t>PN 2027</a:t>
            </a:r>
            <a:endParaRPr sz="3400" b="1" i="0">
              <a:solidFill>
                <a:srgbClr val="FFFFFF"/>
              </a:solidFill>
              <a:latin typeface="DM Sans"/>
            </a:endParaRPr>
          </a:p>
        </p:txBody>
      </p:sp>
      <p:pic>
        <p:nvPicPr>
          <p:cNvPr id="12" name="Logo Energisa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40080"/>
            <a:ext cx="1600200" cy="520954"/>
          </a:xfrm>
          <a:prstGeom prst="rect">
            <a:avLst/>
          </a:prstGeom>
        </p:spPr>
      </p:pic>
      <p:cxnSp>
        <p:nvCxnSpPr>
          <p:cNvPr id="13" name="Capa – linha"/>
          <p:cNvCxnSpPr/>
          <p:nvPr/>
        </p:nvCxnSpPr>
        <p:spPr>
          <a:xfrm>
            <a:off x="685800" y="3886200"/>
            <a:ext cx="2240280" cy="0"/>
          </a:xfrm>
          <a:prstGeom prst="line">
            <a:avLst/>
          </a:prstGeom>
          <a:ln w="19050">
            <a:solidFill>
              <a:srgbClr val="F47B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apa – ponto"/>
          <p:cNvSpPr/>
          <p:nvPr/>
        </p:nvSpPr>
        <p:spPr>
          <a:xfrm>
            <a:off x="2880360" y="3840480"/>
            <a:ext cx="91440" cy="91440"/>
          </a:xfrm>
          <a:prstGeom prst="ellipse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Capa – projeto"/>
          <p:cNvSpPr txBox="1"/>
          <p:nvPr/>
        </p:nvSpPr>
        <p:spPr>
          <a:xfrm>
            <a:off x="685800" y="4069080"/>
            <a:ext cx="61000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>
                <a:solidFill>
                  <a:srgbClr val="006199"/>
                </a:solidFill>
                <a:latin typeface="DM Sans"/>
              </a:rPr>
              <a:t>Instalação de Equipamentos Especiais (RL e RT)</a:t>
            </a:r>
            <a:endParaRPr sz="2000" b="0" i="0">
              <a:solidFill>
                <a:srgbClr val="006199"/>
              </a:solidFill>
              <a:latin typeface="DM Sans"/>
            </a:endParaRPr>
          </a:p>
        </p:txBody>
      </p:sp>
      <p:sp>
        <p:nvSpPr>
          <p:cNvPr id="16" name="Pílula"/>
          <p:cNvSpPr/>
          <p:nvPr/>
        </p:nvSpPr>
        <p:spPr>
          <a:xfrm>
            <a:off x="685800" y="5166360"/>
            <a:ext cx="5852160" cy="7772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  <a:effectLst>
            <a:outerShdw blurRad="177800" dist="38100" dir="5400000" algn="t" rotWithShape="0">
              <a:srgbClr val="1F1F4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Badge user"/>
          <p:cNvSpPr/>
          <p:nvPr/>
        </p:nvSpPr>
        <p:spPr>
          <a:xfrm>
            <a:off x="868680" y="5372100"/>
            <a:ext cx="365760" cy="365760"/>
          </a:xfrm>
          <a:prstGeom prst="ellipse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Ícone user" descr="us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5463540"/>
            <a:ext cx="182880" cy="182880"/>
          </a:xfrm>
          <a:prstGeom prst="rect">
            <a:avLst/>
          </a:prstGeom>
        </p:spPr>
      </p:pic>
      <p:sp>
        <p:nvSpPr>
          <p:cNvPr id="19" name="Pílula GERENTE DO PROJETO"/>
          <p:cNvSpPr txBox="1"/>
          <p:nvPr/>
        </p:nvSpPr>
        <p:spPr>
          <a:xfrm>
            <a:off x="1325880" y="5330952"/>
            <a:ext cx="1325880" cy="3000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989898"/>
                </a:solidFill>
                <a:latin typeface="DM Sans"/>
              </a:rPr>
              <a:t>GERENTE DO PROJETO</a:t>
            </a:r>
          </a:p>
          <a:p>
            <a:pPr algn="l"/>
            <a:r>
              <a:rPr lang="pt-BR" sz="1200" b="1" i="0">
                <a:solidFill>
                  <a:srgbClr val="1F1F4C"/>
                </a:solidFill>
                <a:latin typeface="DM Sans"/>
              </a:rPr>
              <a:t>Sandro Padilha</a:t>
            </a:r>
            <a:endParaRPr sz="1200" b="1" i="0">
              <a:solidFill>
                <a:srgbClr val="1F1F4C"/>
              </a:solidFill>
              <a:latin typeface="DM Sans"/>
            </a:endParaRPr>
          </a:p>
        </p:txBody>
      </p:sp>
      <p:cxnSp>
        <p:nvCxnSpPr>
          <p:cNvPr id="20" name="Pílula separador"/>
          <p:cNvCxnSpPr/>
          <p:nvPr/>
        </p:nvCxnSpPr>
        <p:spPr>
          <a:xfrm>
            <a:off x="2715768" y="5349240"/>
            <a:ext cx="0" cy="41148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Badge pin"/>
          <p:cNvSpPr/>
          <p:nvPr/>
        </p:nvSpPr>
        <p:spPr>
          <a:xfrm>
            <a:off x="2788920" y="5372100"/>
            <a:ext cx="365760" cy="365760"/>
          </a:xfrm>
          <a:prstGeom prst="ellipse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Ícone pin" descr="pin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5463540"/>
            <a:ext cx="182880" cy="182880"/>
          </a:xfrm>
          <a:prstGeom prst="rect">
            <a:avLst/>
          </a:prstGeom>
        </p:spPr>
      </p:pic>
      <p:sp>
        <p:nvSpPr>
          <p:cNvPr id="23" name="Pílula UNIDADE"/>
          <p:cNvSpPr txBox="1"/>
          <p:nvPr/>
        </p:nvSpPr>
        <p:spPr>
          <a:xfrm>
            <a:off x="3246120" y="5330952"/>
            <a:ext cx="1508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989898"/>
                </a:solidFill>
                <a:latin typeface="DM Sans"/>
              </a:rPr>
              <a:t>UNIDADE</a:t>
            </a:r>
          </a:p>
          <a:p>
            <a:pPr algn="l"/>
            <a:r>
              <a:rPr sz="1200" b="1" i="0">
                <a:solidFill>
                  <a:srgbClr val="1F1F4C"/>
                </a:solidFill>
                <a:latin typeface="DM Sans"/>
              </a:rPr>
              <a:t>Energisa Tocantins</a:t>
            </a:r>
          </a:p>
        </p:txBody>
      </p:sp>
      <p:cxnSp>
        <p:nvCxnSpPr>
          <p:cNvPr id="24" name="Pílula separador"/>
          <p:cNvCxnSpPr/>
          <p:nvPr/>
        </p:nvCxnSpPr>
        <p:spPr>
          <a:xfrm>
            <a:off x="4818888" y="5349240"/>
            <a:ext cx="0" cy="41148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Badge cal"/>
          <p:cNvSpPr/>
          <p:nvPr/>
        </p:nvSpPr>
        <p:spPr>
          <a:xfrm>
            <a:off x="4892040" y="5372100"/>
            <a:ext cx="365760" cy="365760"/>
          </a:xfrm>
          <a:prstGeom prst="ellipse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Ícone cal" descr="cal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79" y="5463540"/>
            <a:ext cx="182880" cy="182880"/>
          </a:xfrm>
          <a:prstGeom prst="rect">
            <a:avLst/>
          </a:prstGeom>
        </p:spPr>
      </p:pic>
      <p:sp>
        <p:nvSpPr>
          <p:cNvPr id="27" name="Pílula DATA DA REUNIÃO"/>
          <p:cNvSpPr txBox="1"/>
          <p:nvPr/>
        </p:nvSpPr>
        <p:spPr>
          <a:xfrm>
            <a:off x="5349240" y="5330952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989898"/>
                </a:solidFill>
                <a:latin typeface="DM Sans"/>
              </a:rPr>
              <a:t>DATA DA REUNIÃO</a:t>
            </a:r>
          </a:p>
          <a:p>
            <a:pPr algn="l"/>
            <a:r>
              <a:rPr sz="1200" b="1" i="0">
                <a:solidFill>
                  <a:srgbClr val="1F1F4C"/>
                </a:solidFill>
                <a:latin typeface="DM Sans"/>
              </a:rPr>
              <a:t>29/10/2026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CB6EF10F-F11F-E65B-7281-26A3CF56BE9A}"/>
              </a:ext>
            </a:extLst>
          </p:cNvPr>
          <p:cNvSpPr txBox="1">
            <a:spLocks/>
          </p:cNvSpPr>
          <p:nvPr/>
        </p:nvSpPr>
        <p:spPr>
          <a:xfrm>
            <a:off x="329183" y="566928"/>
            <a:ext cx="9144000" cy="566737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000" b="1">
                <a:solidFill>
                  <a:srgbClr val="1F1F4C"/>
                </a:solidFill>
                <a:latin typeface="DM Sans"/>
              </a:rPr>
              <a:t>Dados Básicos</a:t>
            </a:r>
          </a:p>
        </p:txBody>
      </p:sp>
      <p:sp>
        <p:nvSpPr>
          <p:cNvPr id="7" name="Rodapé">
            <a:extLst>
              <a:ext uri="{FF2B5EF4-FFF2-40B4-BE49-F238E27FC236}">
                <a16:creationId xmlns:a16="http://schemas.microsoft.com/office/drawing/2014/main" id="{1037B04D-E3AA-A765-045D-C55C25CDC1C2}"/>
              </a:ext>
            </a:extLst>
          </p:cNvPr>
          <p:cNvSpPr txBox="1"/>
          <p:nvPr/>
        </p:nvSpPr>
        <p:spPr>
          <a:xfrm>
            <a:off x="457200" y="6428232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1F4C"/>
                </a:solidFill>
                <a:latin typeface="DM Sans"/>
              </a:rPr>
              <a:t>02</a:t>
            </a:r>
            <a:r>
              <a:rPr sz="900" b="0" i="0">
                <a:solidFill>
                  <a:srgbClr val="989898"/>
                </a:solidFill>
                <a:latin typeface="DM Sans"/>
              </a:rPr>
              <a:t>  ·  </a:t>
            </a:r>
            <a:r>
              <a:rPr lang="pt-BR" sz="900" b="0" i="0">
                <a:solidFill>
                  <a:srgbClr val="989898"/>
                </a:solidFill>
                <a:latin typeface="DM Sans"/>
              </a:rPr>
              <a:t>PN 2027 – INSTALAÇÃO DE EQUIPAMENTOS ESPECIAIS (RL E RT)</a:t>
            </a:r>
            <a:endParaRPr sz="900" b="0" i="0">
              <a:solidFill>
                <a:srgbClr val="989898"/>
              </a:solidFill>
              <a:latin typeface="DM Sans"/>
            </a:endParaRPr>
          </a:p>
        </p:txBody>
      </p:sp>
      <p:sp>
        <p:nvSpPr>
          <p:cNvPr id="8" name="Identidade – fundo">
            <a:extLst>
              <a:ext uri="{FF2B5EF4-FFF2-40B4-BE49-F238E27FC236}">
                <a16:creationId xmlns:a16="http://schemas.microsoft.com/office/drawing/2014/main" id="{1BE86BFE-B041-B226-866A-D1F22F7080F2}"/>
              </a:ext>
            </a:extLst>
          </p:cNvPr>
          <p:cNvSpPr/>
          <p:nvPr/>
        </p:nvSpPr>
        <p:spPr>
          <a:xfrm>
            <a:off x="457200" y="1371600"/>
            <a:ext cx="3749039" cy="4800600"/>
          </a:xfrm>
          <a:prstGeom prst="roundRect">
            <a:avLst>
              <a:gd name="adj" fmla="val 6000"/>
            </a:avLst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Id rótulo">
            <a:extLst>
              <a:ext uri="{FF2B5EF4-FFF2-40B4-BE49-F238E27FC236}">
                <a16:creationId xmlns:a16="http://schemas.microsoft.com/office/drawing/2014/main" id="{FFA48374-537C-A8BA-2709-014019D17272}"/>
              </a:ext>
            </a:extLst>
          </p:cNvPr>
          <p:cNvSpPr txBox="1"/>
          <p:nvPr/>
        </p:nvSpPr>
        <p:spPr>
          <a:xfrm>
            <a:off x="777240" y="1691640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0DBFF"/>
                </a:solidFill>
                <a:latin typeface="DM Sans"/>
              </a:rPr>
              <a:t>PROJETO</a:t>
            </a:r>
          </a:p>
        </p:txBody>
      </p:sp>
      <p:sp>
        <p:nvSpPr>
          <p:cNvPr id="10" name="Id código">
            <a:extLst>
              <a:ext uri="{FF2B5EF4-FFF2-40B4-BE49-F238E27FC236}">
                <a16:creationId xmlns:a16="http://schemas.microsoft.com/office/drawing/2014/main" id="{86DCA0B6-2EA3-4735-A929-EE5F974EE69F}"/>
              </a:ext>
            </a:extLst>
          </p:cNvPr>
          <p:cNvSpPr txBox="1"/>
          <p:nvPr/>
        </p:nvSpPr>
        <p:spPr>
          <a:xfrm>
            <a:off x="777240" y="1901952"/>
            <a:ext cx="3200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4400" b="1">
                <a:solidFill>
                  <a:srgbClr val="FFFFFF"/>
                </a:solidFill>
                <a:latin typeface="DM Sans"/>
              </a:rPr>
              <a:t>PN 2027</a:t>
            </a:r>
            <a:endParaRPr sz="4400" b="1" i="0">
              <a:solidFill>
                <a:srgbClr val="FFFFFF"/>
              </a:solidFill>
              <a:latin typeface="DM Sans"/>
            </a:endParaRPr>
          </a:p>
        </p:txBody>
      </p:sp>
      <p:sp>
        <p:nvSpPr>
          <p:cNvPr id="11" name="Id nome">
            <a:extLst>
              <a:ext uri="{FF2B5EF4-FFF2-40B4-BE49-F238E27FC236}">
                <a16:creationId xmlns:a16="http://schemas.microsoft.com/office/drawing/2014/main" id="{514081F1-6B01-E4F2-49F8-8C457A834131}"/>
              </a:ext>
            </a:extLst>
          </p:cNvPr>
          <p:cNvSpPr txBox="1"/>
          <p:nvPr/>
        </p:nvSpPr>
        <p:spPr>
          <a:xfrm>
            <a:off x="777240" y="2651760"/>
            <a:ext cx="32004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300" b="1">
                <a:solidFill>
                  <a:srgbClr val="FFFFFF"/>
                </a:solidFill>
                <a:latin typeface="DM Sans"/>
              </a:rPr>
              <a:t>Instalação de Equipamentos Especiais (RL e RT) – 12 SIGCOs</a:t>
            </a:r>
            <a:endParaRPr sz="1500" b="1" i="0">
              <a:solidFill>
                <a:srgbClr val="FFFFFF"/>
              </a:solidFill>
              <a:latin typeface="DM Sans"/>
            </a:endParaRPr>
          </a:p>
        </p:txBody>
      </p:sp>
      <p:sp>
        <p:nvSpPr>
          <p:cNvPr id="12" name="Badge user">
            <a:extLst>
              <a:ext uri="{FF2B5EF4-FFF2-40B4-BE49-F238E27FC236}">
                <a16:creationId xmlns:a16="http://schemas.microsoft.com/office/drawing/2014/main" id="{689C474B-8651-3FB2-78BB-A18F61491371}"/>
              </a:ext>
            </a:extLst>
          </p:cNvPr>
          <p:cNvSpPr/>
          <p:nvPr/>
        </p:nvSpPr>
        <p:spPr>
          <a:xfrm>
            <a:off x="777240" y="3611880"/>
            <a:ext cx="384048" cy="384048"/>
          </a:xfrm>
          <a:prstGeom prst="ellipse">
            <a:avLst/>
          </a:prstGeom>
          <a:solidFill>
            <a:srgbClr val="006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Ícone user" descr="user_white.png">
            <a:extLst>
              <a:ext uri="{FF2B5EF4-FFF2-40B4-BE49-F238E27FC236}">
                <a16:creationId xmlns:a16="http://schemas.microsoft.com/office/drawing/2014/main" id="{972F814A-4DC7-6FC4-D0C4-F34F73651A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" y="3707892"/>
            <a:ext cx="192024" cy="192024"/>
          </a:xfrm>
          <a:prstGeom prst="rect">
            <a:avLst/>
          </a:prstGeom>
        </p:spPr>
      </p:pic>
      <p:sp>
        <p:nvSpPr>
          <p:cNvPr id="14" name="Id GERENTE DO PROJETO">
            <a:extLst>
              <a:ext uri="{FF2B5EF4-FFF2-40B4-BE49-F238E27FC236}">
                <a16:creationId xmlns:a16="http://schemas.microsoft.com/office/drawing/2014/main" id="{5C268436-8097-4732-1F20-97860D124A91}"/>
              </a:ext>
            </a:extLst>
          </p:cNvPr>
          <p:cNvSpPr txBox="1"/>
          <p:nvPr/>
        </p:nvSpPr>
        <p:spPr>
          <a:xfrm>
            <a:off x="1298448" y="3593592"/>
            <a:ext cx="2697480" cy="315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00DBFF"/>
                </a:solidFill>
                <a:latin typeface="DM Sans"/>
              </a:rPr>
              <a:t>GERENTE DO PROJETO</a:t>
            </a:r>
          </a:p>
          <a:p>
            <a:pPr algn="l"/>
            <a:r>
              <a:rPr lang="pt-BR" sz="1200" b="0" i="0">
                <a:solidFill>
                  <a:srgbClr val="FFFFFF"/>
                </a:solidFill>
                <a:latin typeface="DM Sans"/>
              </a:rPr>
              <a:t>Sandro Padilha</a:t>
            </a:r>
            <a:endParaRPr sz="1200" b="0" i="0">
              <a:solidFill>
                <a:srgbClr val="FFFFFF"/>
              </a:solidFill>
              <a:latin typeface="DM Sans"/>
            </a:endParaRPr>
          </a:p>
        </p:txBody>
      </p:sp>
      <p:sp>
        <p:nvSpPr>
          <p:cNvPr id="15" name="Badge dept">
            <a:extLst>
              <a:ext uri="{FF2B5EF4-FFF2-40B4-BE49-F238E27FC236}">
                <a16:creationId xmlns:a16="http://schemas.microsoft.com/office/drawing/2014/main" id="{93B7177B-F511-DF50-3837-5FF3BDAD37AF}"/>
              </a:ext>
            </a:extLst>
          </p:cNvPr>
          <p:cNvSpPr/>
          <p:nvPr/>
        </p:nvSpPr>
        <p:spPr>
          <a:xfrm>
            <a:off x="777240" y="4389120"/>
            <a:ext cx="384048" cy="384048"/>
          </a:xfrm>
          <a:prstGeom prst="ellipse">
            <a:avLst/>
          </a:prstGeom>
          <a:solidFill>
            <a:srgbClr val="006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Ícone dept" descr="dept_white.png">
            <a:extLst>
              <a:ext uri="{FF2B5EF4-FFF2-40B4-BE49-F238E27FC236}">
                <a16:creationId xmlns:a16="http://schemas.microsoft.com/office/drawing/2014/main" id="{AA41DD41-F4B9-01E0-4ECB-8306625DA8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" y="4485132"/>
            <a:ext cx="192024" cy="192024"/>
          </a:xfrm>
          <a:prstGeom prst="rect">
            <a:avLst/>
          </a:prstGeom>
        </p:spPr>
      </p:pic>
      <p:sp>
        <p:nvSpPr>
          <p:cNvPr id="17" name="Id DEPARTAMENTO">
            <a:extLst>
              <a:ext uri="{FF2B5EF4-FFF2-40B4-BE49-F238E27FC236}">
                <a16:creationId xmlns:a16="http://schemas.microsoft.com/office/drawing/2014/main" id="{B7B0D9D0-FC2A-0A3D-A6A1-45E427E3EB1F}"/>
              </a:ext>
            </a:extLst>
          </p:cNvPr>
          <p:cNvSpPr txBox="1"/>
          <p:nvPr/>
        </p:nvSpPr>
        <p:spPr>
          <a:xfrm>
            <a:off x="1298448" y="4370832"/>
            <a:ext cx="2697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00DBFF"/>
                </a:solidFill>
                <a:latin typeface="DM Sans"/>
              </a:rPr>
              <a:t>DEPARTAMENTO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DM Sans"/>
              </a:rPr>
              <a:t>DCMD</a:t>
            </a:r>
          </a:p>
        </p:txBody>
      </p:sp>
      <p:sp>
        <p:nvSpPr>
          <p:cNvPr id="18" name="Badge target">
            <a:extLst>
              <a:ext uri="{FF2B5EF4-FFF2-40B4-BE49-F238E27FC236}">
                <a16:creationId xmlns:a16="http://schemas.microsoft.com/office/drawing/2014/main" id="{B645B98D-210E-F64B-44FD-F8114182BFF9}"/>
              </a:ext>
            </a:extLst>
          </p:cNvPr>
          <p:cNvSpPr/>
          <p:nvPr/>
        </p:nvSpPr>
        <p:spPr>
          <a:xfrm>
            <a:off x="777240" y="5166359"/>
            <a:ext cx="384048" cy="384048"/>
          </a:xfrm>
          <a:prstGeom prst="ellipse">
            <a:avLst/>
          </a:prstGeom>
          <a:solidFill>
            <a:srgbClr val="006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Ícone target" descr="target_white.png">
            <a:extLst>
              <a:ext uri="{FF2B5EF4-FFF2-40B4-BE49-F238E27FC236}">
                <a16:creationId xmlns:a16="http://schemas.microsoft.com/office/drawing/2014/main" id="{3AC80192-71C9-AAD1-6F2B-46B42D6627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2" y="5262372"/>
            <a:ext cx="192024" cy="192024"/>
          </a:xfrm>
          <a:prstGeom prst="rect">
            <a:avLst/>
          </a:prstGeom>
        </p:spPr>
      </p:pic>
      <p:sp>
        <p:nvSpPr>
          <p:cNvPr id="20" name="Id OBJETIVO E DESTINAÇÃO">
            <a:extLst>
              <a:ext uri="{FF2B5EF4-FFF2-40B4-BE49-F238E27FC236}">
                <a16:creationId xmlns:a16="http://schemas.microsoft.com/office/drawing/2014/main" id="{5244F07B-5E2E-F279-125D-C852056182E0}"/>
              </a:ext>
            </a:extLst>
          </p:cNvPr>
          <p:cNvSpPr txBox="1"/>
          <p:nvPr/>
        </p:nvSpPr>
        <p:spPr>
          <a:xfrm>
            <a:off x="1298448" y="5148072"/>
            <a:ext cx="2697480" cy="5001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00DBFF"/>
                </a:solidFill>
                <a:latin typeface="DM Sans"/>
              </a:rPr>
              <a:t>OBJETIVO E DESTINAÇÃO</a:t>
            </a:r>
          </a:p>
          <a:p>
            <a:pPr algn="l"/>
            <a:r>
              <a:rPr sz="1200" b="0" i="0" err="1">
                <a:solidFill>
                  <a:srgbClr val="FFFFFF"/>
                </a:solidFill>
                <a:latin typeface="DM Sans"/>
              </a:rPr>
              <a:t>Qualidade do Produto e do Serviço – Conforme dados do PN</a:t>
            </a:r>
            <a:endParaRPr sz="1200" b="1" i="0">
              <a:solidFill>
                <a:srgbClr val="FFFFFF"/>
              </a:solidFill>
              <a:latin typeface="DM Sans"/>
            </a:endParaRPr>
          </a:p>
        </p:txBody>
      </p:sp>
      <p:sp>
        <p:nvSpPr>
          <p:cNvPr id="21" name="Escopo – fundo">
            <a:extLst>
              <a:ext uri="{FF2B5EF4-FFF2-40B4-BE49-F238E27FC236}">
                <a16:creationId xmlns:a16="http://schemas.microsoft.com/office/drawing/2014/main" id="{18ACCEBA-09AE-C290-75F6-7264BED2F299}"/>
              </a:ext>
            </a:extLst>
          </p:cNvPr>
          <p:cNvSpPr/>
          <p:nvPr/>
        </p:nvSpPr>
        <p:spPr>
          <a:xfrm>
            <a:off x="4434840" y="1371600"/>
            <a:ext cx="7299655" cy="160020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Badge scope">
            <a:extLst>
              <a:ext uri="{FF2B5EF4-FFF2-40B4-BE49-F238E27FC236}">
                <a16:creationId xmlns:a16="http://schemas.microsoft.com/office/drawing/2014/main" id="{D16E64A9-94AD-B33F-246D-83F03784F75E}"/>
              </a:ext>
            </a:extLst>
          </p:cNvPr>
          <p:cNvSpPr/>
          <p:nvPr/>
        </p:nvSpPr>
        <p:spPr>
          <a:xfrm>
            <a:off x="4709159" y="1600200"/>
            <a:ext cx="384048" cy="384048"/>
          </a:xfrm>
          <a:prstGeom prst="ellipse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Ícone scope" descr="scope_white.png">
            <a:extLst>
              <a:ext uri="{FF2B5EF4-FFF2-40B4-BE49-F238E27FC236}">
                <a16:creationId xmlns:a16="http://schemas.microsoft.com/office/drawing/2014/main" id="{41B12734-14B1-7F90-D6A4-D5529DDB67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5172" y="1696212"/>
            <a:ext cx="192024" cy="192024"/>
          </a:xfrm>
          <a:prstGeom prst="rect">
            <a:avLst/>
          </a:prstGeom>
        </p:spPr>
      </p:pic>
      <p:sp>
        <p:nvSpPr>
          <p:cNvPr id="24" name="Título Escopo detalhado">
            <a:extLst>
              <a:ext uri="{FF2B5EF4-FFF2-40B4-BE49-F238E27FC236}">
                <a16:creationId xmlns:a16="http://schemas.microsoft.com/office/drawing/2014/main" id="{9F1EFD31-621C-C0D5-26D6-70874878833B}"/>
              </a:ext>
            </a:extLst>
          </p:cNvPr>
          <p:cNvSpPr txBox="1"/>
          <p:nvPr/>
        </p:nvSpPr>
        <p:spPr>
          <a:xfrm>
            <a:off x="5212079" y="1600200"/>
            <a:ext cx="45720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spc="80">
                <a:solidFill>
                  <a:srgbClr val="1F1F4C"/>
                </a:solidFill>
                <a:latin typeface="DM Sans"/>
              </a:rPr>
              <a:t>ESCOPO DETALHADO</a:t>
            </a:r>
          </a:p>
        </p:txBody>
      </p:sp>
      <p:sp>
        <p:nvSpPr>
          <p:cNvPr id="25" name="Escopo texto">
            <a:extLst>
              <a:ext uri="{FF2B5EF4-FFF2-40B4-BE49-F238E27FC236}">
                <a16:creationId xmlns:a16="http://schemas.microsoft.com/office/drawing/2014/main" id="{77C0C3D5-11D0-54C1-2D52-E069C1D21F67}"/>
              </a:ext>
            </a:extLst>
          </p:cNvPr>
          <p:cNvSpPr txBox="1"/>
          <p:nvPr/>
        </p:nvSpPr>
        <p:spPr>
          <a:xfrm>
            <a:off x="4709159" y="2148840"/>
            <a:ext cx="6751015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0" i="0">
                <a:solidFill>
                  <a:srgbClr val="4D4D4D"/>
                </a:solidFill>
                <a:latin typeface="DM Sans"/>
              </a:rPr>
              <a:t>Instalação de 9 reguladores de tensão (RT) e 12 religadores (RL) novos, com remanejamento de 1 RL e instalação de 3 TripSavers, em 12 SIGCOs de alimentadores de 13,8 e 34,5 kV nas regionais da ETO: 6 SIGCOs para elevação do nível de tensão (QP) e 6 estudos de qualidade de serviço (QS). Maior pacote: SIGCO 90811 – LD UHE Isamu – Ponte Alta (4 RL + 3 RT, 0,25 km de RD MT e 2 chaves faca).</a:t>
            </a:r>
            <a:endParaRPr sz="1250" b="0" i="0">
              <a:solidFill>
                <a:srgbClr val="4D4D4D"/>
              </a:solidFill>
              <a:latin typeface="DM Sans"/>
            </a:endParaRPr>
          </a:p>
        </p:txBody>
      </p:sp>
      <p:sp>
        <p:nvSpPr>
          <p:cNvPr id="26" name="Orçamento – fundo">
            <a:extLst>
              <a:ext uri="{FF2B5EF4-FFF2-40B4-BE49-F238E27FC236}">
                <a16:creationId xmlns:a16="http://schemas.microsoft.com/office/drawing/2014/main" id="{E35C3491-A050-D20A-E830-323A2C3714A1}"/>
              </a:ext>
            </a:extLst>
          </p:cNvPr>
          <p:cNvSpPr/>
          <p:nvPr/>
        </p:nvSpPr>
        <p:spPr>
          <a:xfrm>
            <a:off x="4434840" y="3200400"/>
            <a:ext cx="3535527" cy="2971800"/>
          </a:xfrm>
          <a:prstGeom prst="roundRect">
            <a:avLst>
              <a:gd name="adj" fmla="val 7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Badge money">
            <a:extLst>
              <a:ext uri="{FF2B5EF4-FFF2-40B4-BE49-F238E27FC236}">
                <a16:creationId xmlns:a16="http://schemas.microsoft.com/office/drawing/2014/main" id="{59F982B8-76C0-CCD8-DE05-3065117739E5}"/>
              </a:ext>
            </a:extLst>
          </p:cNvPr>
          <p:cNvSpPr/>
          <p:nvPr/>
        </p:nvSpPr>
        <p:spPr>
          <a:xfrm>
            <a:off x="4709159" y="3429000"/>
            <a:ext cx="384048" cy="384048"/>
          </a:xfrm>
          <a:prstGeom prst="ellipse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Ícone money" descr="money_white.png">
            <a:extLst>
              <a:ext uri="{FF2B5EF4-FFF2-40B4-BE49-F238E27FC236}">
                <a16:creationId xmlns:a16="http://schemas.microsoft.com/office/drawing/2014/main" id="{D8962F72-8A36-C717-419F-72619A4982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5172" y="3525012"/>
            <a:ext cx="192024" cy="192024"/>
          </a:xfrm>
          <a:prstGeom prst="rect">
            <a:avLst/>
          </a:prstGeom>
        </p:spPr>
      </p:pic>
      <p:sp>
        <p:nvSpPr>
          <p:cNvPr id="29" name="Título Orçamento">
            <a:extLst>
              <a:ext uri="{FF2B5EF4-FFF2-40B4-BE49-F238E27FC236}">
                <a16:creationId xmlns:a16="http://schemas.microsoft.com/office/drawing/2014/main" id="{E1C56DDD-D6C1-1A63-CA8F-138F992C8B60}"/>
              </a:ext>
            </a:extLst>
          </p:cNvPr>
          <p:cNvSpPr txBox="1"/>
          <p:nvPr/>
        </p:nvSpPr>
        <p:spPr>
          <a:xfrm>
            <a:off x="5212079" y="3429000"/>
            <a:ext cx="45720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spc="80">
                <a:solidFill>
                  <a:srgbClr val="1F1F4C"/>
                </a:solidFill>
                <a:latin typeface="DM Sans"/>
              </a:rPr>
              <a:t>ORÇAMENTO</a:t>
            </a:r>
          </a:p>
        </p:txBody>
      </p:sp>
      <p:sp>
        <p:nvSpPr>
          <p:cNvPr id="30" name="Orç rótulo">
            <a:extLst>
              <a:ext uri="{FF2B5EF4-FFF2-40B4-BE49-F238E27FC236}">
                <a16:creationId xmlns:a16="http://schemas.microsoft.com/office/drawing/2014/main" id="{08595D4B-B4AD-DD9E-D2E4-67F2B08AC223}"/>
              </a:ext>
            </a:extLst>
          </p:cNvPr>
          <p:cNvSpPr txBox="1"/>
          <p:nvPr/>
        </p:nvSpPr>
        <p:spPr>
          <a:xfrm>
            <a:off x="4709159" y="4069080"/>
            <a:ext cx="298688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89898"/>
                </a:solidFill>
                <a:latin typeface="DM Sans"/>
              </a:rPr>
              <a:t>TOTAL APROVADO</a:t>
            </a:r>
          </a:p>
        </p:txBody>
      </p:sp>
      <p:sp>
        <p:nvSpPr>
          <p:cNvPr id="31" name="Orç total">
            <a:extLst>
              <a:ext uri="{FF2B5EF4-FFF2-40B4-BE49-F238E27FC236}">
                <a16:creationId xmlns:a16="http://schemas.microsoft.com/office/drawing/2014/main" id="{B88225F7-5E17-EAEC-0C2A-CF04FE626D59}"/>
              </a:ext>
            </a:extLst>
          </p:cNvPr>
          <p:cNvSpPr txBox="1"/>
          <p:nvPr/>
        </p:nvSpPr>
        <p:spPr>
          <a:xfrm>
            <a:off x="4709159" y="4279392"/>
            <a:ext cx="2986887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47B20"/>
                </a:solidFill>
                <a:latin typeface="DM Sans"/>
              </a:rPr>
              <a:t>R$ </a:t>
            </a:r>
            <a:r>
              <a:rPr sz="2800" b="1" i="0">
                <a:solidFill>
                  <a:srgbClr val="1F1F4C"/>
                </a:solidFill>
                <a:latin typeface="DM Sans"/>
              </a:rPr>
              <a:t>5.226.849</a:t>
            </a:r>
          </a:p>
        </p:txBody>
      </p:sp>
      <p:sp>
        <p:nvSpPr>
          <p:cNvPr id="32" name="Benefícios – fundo">
            <a:extLst>
              <a:ext uri="{FF2B5EF4-FFF2-40B4-BE49-F238E27FC236}">
                <a16:creationId xmlns:a16="http://schemas.microsoft.com/office/drawing/2014/main" id="{FB6EE6C9-7BAC-4A9F-59E5-3B4102C9B668}"/>
              </a:ext>
            </a:extLst>
          </p:cNvPr>
          <p:cNvSpPr/>
          <p:nvPr/>
        </p:nvSpPr>
        <p:spPr>
          <a:xfrm>
            <a:off x="8198967" y="3200400"/>
            <a:ext cx="3535527" cy="2971800"/>
          </a:xfrm>
          <a:prstGeom prst="roundRect">
            <a:avLst>
              <a:gd name="adj" fmla="val 7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Badge chart">
            <a:extLst>
              <a:ext uri="{FF2B5EF4-FFF2-40B4-BE49-F238E27FC236}">
                <a16:creationId xmlns:a16="http://schemas.microsoft.com/office/drawing/2014/main" id="{10BAB9E1-BA81-E625-A17C-5429DB773DBA}"/>
              </a:ext>
            </a:extLst>
          </p:cNvPr>
          <p:cNvSpPr/>
          <p:nvPr/>
        </p:nvSpPr>
        <p:spPr>
          <a:xfrm>
            <a:off x="8473287" y="3429000"/>
            <a:ext cx="384048" cy="384048"/>
          </a:xfrm>
          <a:prstGeom prst="ellipse">
            <a:avLst/>
          </a:prstGeom>
          <a:solidFill>
            <a:srgbClr val="628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Ícone chart" descr="chart_white.png">
            <a:extLst>
              <a:ext uri="{FF2B5EF4-FFF2-40B4-BE49-F238E27FC236}">
                <a16:creationId xmlns:a16="http://schemas.microsoft.com/office/drawing/2014/main" id="{33E974B0-5B48-E2CB-7BAA-B476B10262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69299" y="3525012"/>
            <a:ext cx="192024" cy="192024"/>
          </a:xfrm>
          <a:prstGeom prst="rect">
            <a:avLst/>
          </a:prstGeom>
        </p:spPr>
      </p:pic>
      <p:sp>
        <p:nvSpPr>
          <p:cNvPr id="35" name="Ben rótulo">
            <a:extLst>
              <a:ext uri="{FF2B5EF4-FFF2-40B4-BE49-F238E27FC236}">
                <a16:creationId xmlns:a16="http://schemas.microsoft.com/office/drawing/2014/main" id="{39945EE4-5CF4-0D5C-817A-76A1AC8988BC}"/>
              </a:ext>
            </a:extLst>
          </p:cNvPr>
          <p:cNvSpPr txBox="1"/>
          <p:nvPr/>
        </p:nvSpPr>
        <p:spPr>
          <a:xfrm>
            <a:off x="8473287" y="4069080"/>
            <a:ext cx="298688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89898"/>
                </a:solidFill>
                <a:latin typeface="DM Sans"/>
              </a:rPr>
              <a:t>NÍVEL DE TENSÃO – 6 ALIMENTADORES COM RT</a:t>
            </a:r>
          </a:p>
        </p:txBody>
      </p:sp>
      <p:sp>
        <p:nvSpPr>
          <p:cNvPr id="36" name="Ben KPI">
            <a:extLst>
              <a:ext uri="{FF2B5EF4-FFF2-40B4-BE49-F238E27FC236}">
                <a16:creationId xmlns:a16="http://schemas.microsoft.com/office/drawing/2014/main" id="{62DEAB31-5DEA-E199-062A-E3AAB2C3C539}"/>
              </a:ext>
            </a:extLst>
          </p:cNvPr>
          <p:cNvSpPr txBox="1"/>
          <p:nvPr/>
        </p:nvSpPr>
        <p:spPr>
          <a:xfrm>
            <a:off x="8473287" y="4279392"/>
            <a:ext cx="2986887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989898"/>
                </a:solidFill>
                <a:latin typeface="DM Sans"/>
              </a:rPr>
              <a:t>0,92</a:t>
            </a:r>
            <a:r>
              <a:rPr sz="2200" b="1" i="0">
                <a:solidFill>
                  <a:srgbClr val="628C0E"/>
                </a:solidFill>
                <a:latin typeface="DM Sans"/>
              </a:rPr>
              <a:t>  →  </a:t>
            </a:r>
            <a:r>
              <a:rPr sz="3000" b="1" i="0">
                <a:solidFill>
                  <a:srgbClr val="628C0E"/>
                </a:solidFill>
                <a:latin typeface="DM Sans"/>
              </a:rPr>
              <a:t>0,96 </a:t>
            </a:r>
            <a:r>
              <a:rPr sz="3000" b="1" i="0" err="1">
                <a:solidFill>
                  <a:srgbClr val="628C0E"/>
                </a:solidFill>
                <a:latin typeface="DM Sans"/>
              </a:rPr>
              <a:t>pu</a:t>
            </a:r>
            <a:endParaRPr sz="3000" b="1" i="0">
              <a:solidFill>
                <a:srgbClr val="628C0E"/>
              </a:solidFill>
              <a:latin typeface="DM Sans"/>
            </a:endParaRPr>
          </a:p>
        </p:txBody>
      </p:sp>
      <p:sp>
        <p:nvSpPr>
          <p:cNvPr id="37" name="Ben texto">
            <a:extLst>
              <a:ext uri="{FF2B5EF4-FFF2-40B4-BE49-F238E27FC236}">
                <a16:creationId xmlns:a16="http://schemas.microsoft.com/office/drawing/2014/main" id="{D9DF7BAA-8D65-F7F9-4CE4-375731223865}"/>
              </a:ext>
            </a:extLst>
          </p:cNvPr>
          <p:cNvSpPr txBox="1"/>
          <p:nvPr/>
        </p:nvSpPr>
        <p:spPr>
          <a:xfrm>
            <a:off x="8473287" y="5074920"/>
            <a:ext cx="2986887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err="1">
                <a:solidFill>
                  <a:srgbClr val="4D4D4D"/>
                </a:solidFill>
                <a:latin typeface="DM Sans"/>
              </a:rPr>
              <a:t>Elevação média do nível de tensão (faixa inicial 0,91–0,93 pu; meta 0,945–0,97 pu). Os 6 estudos de QS reduzem DEC/FEC dos conjuntos atendidos.</a:t>
            </a:r>
          </a:p>
        </p:txBody>
      </p:sp>
      <p:sp>
        <p:nvSpPr>
          <p:cNvPr id="44" name="Eyebrow">
            <a:extLst>
              <a:ext uri="{FF2B5EF4-FFF2-40B4-BE49-F238E27FC236}">
                <a16:creationId xmlns:a16="http://schemas.microsoft.com/office/drawing/2014/main" id="{A84019CF-0239-5AEB-188F-58D5DB1875B2}"/>
              </a:ext>
            </a:extLst>
          </p:cNvPr>
          <p:cNvSpPr txBox="1"/>
          <p:nvPr/>
        </p:nvSpPr>
        <p:spPr>
          <a:xfrm>
            <a:off x="457200" y="347472"/>
            <a:ext cx="7315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F47B20"/>
                </a:solidFill>
                <a:latin typeface="DM Sans"/>
              </a:rPr>
              <a:t>KICKOFF MEETING</a:t>
            </a:r>
            <a:r>
              <a:rPr sz="1100" b="1" i="0" spc="150">
                <a:solidFill>
                  <a:srgbClr val="989898"/>
                </a:solidFill>
                <a:latin typeface="DM Sans"/>
              </a:rPr>
              <a:t>   |   PN 2027 · 12 SIGCOs</a:t>
            </a:r>
            <a:endParaRPr sz="1100" b="1" i="0" spc="150">
              <a:solidFill>
                <a:srgbClr val="989898"/>
              </a:solidFill>
              <a:latin typeface="DM Sans"/>
            </a:endParaRPr>
          </a:p>
        </p:txBody>
      </p:sp>
      <p:sp>
        <p:nvSpPr>
          <p:cNvPr id="37" name="Orç texto">
            <a:extLst>
              <a:ext uri="{FF2B5EF4-FFF2-40B4-BE49-F238E27FC236}">
                <a16:creationId xmlns:a16="http://schemas.microsoft.com/office/drawing/2014/main" id="{D9DF7BAA-8D65-F7F9-4CE4-375731223865}"/>
              </a:ext>
            </a:extLst>
          </p:cNvPr>
          <p:cNvSpPr txBox="1"/>
          <p:nvPr/>
        </p:nvSpPr>
        <p:spPr>
          <a:xfrm>
            <a:off x="4709159" y="5074920"/>
            <a:ext cx="2986887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err="1">
                <a:solidFill>
                  <a:srgbClr val="4D4D4D"/>
                </a:solidFill>
                <a:latin typeface="DM Sans"/>
              </a:rPr>
              <a:t>12 SIGCOs · Orçamento 08.10 (CAPEX 2027). Base Agosto: R$ 6.018.889 (Δ −R$ 792.039).</a:t>
            </a:r>
          </a:p>
        </p:txBody>
      </p:sp>
    </p:spTree>
    <p:extLst>
      <p:ext uri="{BB962C8B-B14F-4D97-AF65-F5344CB8AC3E}">
        <p14:creationId xmlns:p14="http://schemas.microsoft.com/office/powerpoint/2010/main" val="1796060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A39E0F86-B360-70BF-A50A-5869E5515F01}"/>
              </a:ext>
            </a:extLst>
          </p:cNvPr>
          <p:cNvSpPr txBox="1">
            <a:spLocks/>
          </p:cNvSpPr>
          <p:nvPr/>
        </p:nvSpPr>
        <p:spPr>
          <a:xfrm>
            <a:off x="274320" y="329184"/>
            <a:ext cx="9692640" cy="365760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>
                <a:solidFill>
                  <a:srgbClr val="1F1F4C"/>
                </a:solidFill>
                <a:latin typeface="DM Sans"/>
              </a:rPr>
              <a:t>PN 2027 – Instalação de Equipamentos Especiais (RL e RT)</a:t>
            </a:r>
          </a:p>
        </p:txBody>
      </p:sp>
      <p:sp>
        <p:nvSpPr>
          <p:cNvPr id="5" name="Eyebrow">
            <a:extLst>
              <a:ext uri="{FF2B5EF4-FFF2-40B4-BE49-F238E27FC236}">
                <a16:creationId xmlns:a16="http://schemas.microsoft.com/office/drawing/2014/main" id="{04D5C91B-9D0E-7E04-A04D-C3F1FA77A9E1}"/>
              </a:ext>
            </a:extLst>
          </p:cNvPr>
          <p:cNvSpPr txBox="1"/>
          <p:nvPr/>
        </p:nvSpPr>
        <p:spPr>
          <a:xfrm>
            <a:off x="274320" y="91440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120">
                <a:solidFill>
                  <a:srgbClr val="F47B20"/>
                </a:solidFill>
                <a:latin typeface="DM Sans"/>
              </a:rPr>
              <a:t>KICKOFF MEETING</a:t>
            </a:r>
          </a:p>
        </p:txBody>
      </p:sp>
      <p:sp>
        <p:nvSpPr>
          <p:cNvPr id="6" name="Dados da reunião">
            <a:extLst>
              <a:ext uri="{FF2B5EF4-FFF2-40B4-BE49-F238E27FC236}">
                <a16:creationId xmlns:a16="http://schemas.microsoft.com/office/drawing/2014/main" id="{FD1F72A8-98F3-2327-62BD-72DF0CBB9BCB}"/>
              </a:ext>
            </a:extLst>
          </p:cNvPr>
          <p:cNvSpPr txBox="1"/>
          <p:nvPr/>
        </p:nvSpPr>
        <p:spPr>
          <a:xfrm>
            <a:off x="274320" y="731520"/>
            <a:ext cx="969264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989898"/>
                </a:solidFill>
                <a:latin typeface="DM Sans"/>
              </a:rPr>
              <a:t>Gerente do </a:t>
            </a:r>
            <a:r>
              <a:rPr sz="850" b="0" i="0" err="1">
                <a:solidFill>
                  <a:srgbClr val="989898"/>
                </a:solidFill>
                <a:latin typeface="DM Sans"/>
              </a:rPr>
              <a:t>projeto</a:t>
            </a:r>
            <a:r>
              <a:rPr sz="850" b="0" i="0">
                <a:solidFill>
                  <a:srgbClr val="989898"/>
                </a:solidFill>
                <a:latin typeface="DM Sans"/>
              </a:rPr>
              <a:t>: </a:t>
            </a:r>
            <a:r>
              <a:rPr lang="pt-BR" sz="850" b="1" i="0">
                <a:solidFill>
                  <a:srgbClr val="1F1F4C"/>
                </a:solidFill>
                <a:latin typeface="DM Sans"/>
              </a:rPr>
              <a:t>Sandro Padilha</a:t>
            </a:r>
            <a:endParaRPr sz="850" b="1" i="0">
              <a:solidFill>
                <a:srgbClr val="1F1F4C"/>
              </a:solidFill>
              <a:latin typeface="DM Sans"/>
            </a:endParaRPr>
          </a:p>
        </p:txBody>
      </p:sp>
      <p:sp>
        <p:nvSpPr>
          <p:cNvPr id="8" name="Stakeholders – fundo">
            <a:extLst>
              <a:ext uri="{FF2B5EF4-FFF2-40B4-BE49-F238E27FC236}">
                <a16:creationId xmlns:a16="http://schemas.microsoft.com/office/drawing/2014/main" id="{972BDA19-9A98-FFC6-7367-0434BB2EEEAE}"/>
              </a:ext>
            </a:extLst>
          </p:cNvPr>
          <p:cNvSpPr/>
          <p:nvPr/>
        </p:nvSpPr>
        <p:spPr>
          <a:xfrm>
            <a:off x="274320" y="1024128"/>
            <a:ext cx="2331720" cy="5605272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Stakeholders – título">
            <a:extLst>
              <a:ext uri="{FF2B5EF4-FFF2-40B4-BE49-F238E27FC236}">
                <a16:creationId xmlns:a16="http://schemas.microsoft.com/office/drawing/2014/main" id="{D0DA4EBB-A99A-EF5A-5BB8-7FC4048C6077}"/>
              </a:ext>
            </a:extLst>
          </p:cNvPr>
          <p:cNvSpPr/>
          <p:nvPr/>
        </p:nvSpPr>
        <p:spPr>
          <a:xfrm>
            <a:off x="274320" y="1024128"/>
            <a:ext cx="2331720" cy="274320"/>
          </a:xfrm>
          <a:prstGeom prst="round2SameRect">
            <a:avLst>
              <a:gd name="adj1" fmla="val 40000"/>
              <a:gd name="adj2" fmla="val 0"/>
            </a:avLst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0" bIns="0" rtlCol="0" anchor="ctr"/>
          <a:lstStyle/>
          <a:p>
            <a:pPr algn="l"/>
            <a:r>
              <a:rPr sz="1100" b="1" i="0">
                <a:solidFill>
                  <a:srgbClr val="FFFFFF"/>
                </a:solidFill>
                <a:latin typeface="DM Sans"/>
              </a:rPr>
              <a:t>Stakeholders</a:t>
            </a:r>
          </a:p>
        </p:txBody>
      </p:sp>
      <p:sp>
        <p:nvSpPr>
          <p:cNvPr id="10" name="Internos rótulo">
            <a:extLst>
              <a:ext uri="{FF2B5EF4-FFF2-40B4-BE49-F238E27FC236}">
                <a16:creationId xmlns:a16="http://schemas.microsoft.com/office/drawing/2014/main" id="{8F1C1DEC-6BF0-2B02-759F-DB06E8A32FEB}"/>
              </a:ext>
            </a:extLst>
          </p:cNvPr>
          <p:cNvSpPr txBox="1"/>
          <p:nvPr/>
        </p:nvSpPr>
        <p:spPr>
          <a:xfrm>
            <a:off x="384048" y="1435608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009FC2"/>
                </a:solidFill>
                <a:latin typeface="DM Sans"/>
              </a:rPr>
              <a:t>INTERNOS</a:t>
            </a:r>
          </a:p>
        </p:txBody>
      </p:sp>
      <p:sp>
        <p:nvSpPr>
          <p:cNvPr id="11" name="Internos 1–8">
            <a:extLst>
              <a:ext uri="{FF2B5EF4-FFF2-40B4-BE49-F238E27FC236}">
                <a16:creationId xmlns:a16="http://schemas.microsoft.com/office/drawing/2014/main" id="{DED81C95-4657-B15D-BBB1-9FF2A05222ED}"/>
              </a:ext>
            </a:extLst>
          </p:cNvPr>
          <p:cNvSpPr txBox="1"/>
          <p:nvPr/>
        </p:nvSpPr>
        <p:spPr>
          <a:xfrm>
            <a:off x="384048" y="1682496"/>
            <a:ext cx="1056131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82880" indent="-182880">
              <a:spcAft>
                <a:spcPts val="400"/>
              </a:spcAft>
              <a:buFont typeface="DM Sans"/>
              <a:buAutoNum type="arabicPeriod"/>
            </a:pPr>
            <a:r>
              <a:rPr sz="900" b="0" i="0">
                <a:solidFill>
                  <a:srgbClr val="4D4D4D"/>
                </a:solidFill>
                <a:latin typeface="DM Sans"/>
              </a:rPr>
              <a:t>DPRE</a:t>
            </a:r>
          </a:p>
          <a:p>
            <a:pPr marL="182880" indent="-182880">
              <a:spcAft>
                <a:spcPts val="400"/>
              </a:spcAft>
              <a:buFont typeface="DM Sans"/>
              <a:buAutoNum type="arabicPeriod"/>
            </a:pPr>
            <a:r>
              <a:rPr sz="900" b="0" i="0">
                <a:solidFill>
                  <a:srgbClr val="4D4D4D"/>
                </a:solidFill>
                <a:latin typeface="DM Sans"/>
              </a:rPr>
              <a:t>DTEC</a:t>
            </a:r>
          </a:p>
          <a:p>
            <a:pPr marL="182880" indent="-182880">
              <a:spcAft>
                <a:spcPts val="400"/>
              </a:spcAft>
              <a:buFont typeface="DM Sans"/>
              <a:buAutoNum type="arabicPeriod"/>
            </a:pPr>
            <a:r>
              <a:rPr sz="900" b="0" i="0">
                <a:solidFill>
                  <a:srgbClr val="4D4D4D"/>
                </a:solidFill>
                <a:latin typeface="DM Sans"/>
              </a:rPr>
              <a:t>DIEO</a:t>
            </a:r>
          </a:p>
          <a:p>
            <a:pPr marL="182880" indent="-182880">
              <a:spcAft>
                <a:spcPts val="400"/>
              </a:spcAft>
              <a:buFont typeface="DM Sans"/>
              <a:buAutoNum type="arabicPeriod"/>
            </a:pPr>
            <a:r>
              <a:rPr sz="900" b="0" i="0">
                <a:solidFill>
                  <a:srgbClr val="4D4D4D"/>
                </a:solidFill>
                <a:latin typeface="DM Sans"/>
              </a:rPr>
              <a:t>GGPP</a:t>
            </a:r>
          </a:p>
          <a:p>
            <a:pPr marL="182880" indent="-182880">
              <a:spcAft>
                <a:spcPts val="400"/>
              </a:spcAft>
              <a:buFont typeface="DM Sans"/>
              <a:buAutoNum type="arabicPeriod"/>
            </a:pPr>
            <a:r>
              <a:rPr sz="900" b="0" i="0">
                <a:solidFill>
                  <a:srgbClr val="4D4D4D"/>
                </a:solidFill>
                <a:latin typeface="DM Sans"/>
              </a:rPr>
              <a:t>DECS</a:t>
            </a:r>
          </a:p>
          <a:p>
            <a:pPr marL="182880" indent="-182880">
              <a:spcAft>
                <a:spcPts val="400"/>
              </a:spcAft>
              <a:buFont typeface="DM Sans"/>
              <a:buAutoNum type="arabicPeriod"/>
            </a:pPr>
            <a:r>
              <a:rPr sz="900" b="0" i="0">
                <a:solidFill>
                  <a:srgbClr val="4D4D4D"/>
                </a:solidFill>
                <a:latin typeface="DM Sans"/>
              </a:rPr>
              <a:t>COPO</a:t>
            </a:r>
          </a:p>
          <a:p>
            <a:pPr marL="182880" indent="-182880">
              <a:spcAft>
                <a:spcPts val="400"/>
              </a:spcAft>
              <a:buFont typeface="DM Sans"/>
              <a:buAutoNum type="arabicPeriod"/>
            </a:pPr>
            <a:r>
              <a:rPr sz="900" b="0" i="0">
                <a:solidFill>
                  <a:srgbClr val="4D4D4D"/>
                </a:solidFill>
                <a:latin typeface="DM Sans"/>
              </a:rPr>
              <a:t>DEOP</a:t>
            </a:r>
          </a:p>
          <a:p>
            <a:pPr marL="182880" indent="-182880">
              <a:spcAft>
                <a:spcPts val="400"/>
              </a:spcAft>
              <a:buFont typeface="DM Sans"/>
              <a:buAutoNum type="arabicPeriod"/>
            </a:pPr>
            <a:r>
              <a:rPr sz="900" b="0" i="0">
                <a:solidFill>
                  <a:srgbClr val="4D4D4D"/>
                </a:solidFill>
                <a:latin typeface="DM Sans"/>
              </a:rPr>
              <a:t>DCMD</a:t>
            </a:r>
          </a:p>
        </p:txBody>
      </p:sp>
      <p:sp>
        <p:nvSpPr>
          <p:cNvPr id="12" name="Internos 9–16">
            <a:extLst>
              <a:ext uri="{FF2B5EF4-FFF2-40B4-BE49-F238E27FC236}">
                <a16:creationId xmlns:a16="http://schemas.microsoft.com/office/drawing/2014/main" id="{45673731-C15F-3D63-1986-9AA1D7E720D7}"/>
              </a:ext>
            </a:extLst>
          </p:cNvPr>
          <p:cNvSpPr txBox="1"/>
          <p:nvPr/>
        </p:nvSpPr>
        <p:spPr>
          <a:xfrm>
            <a:off x="1440179" y="1682496"/>
            <a:ext cx="1056131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82880" indent="-182880">
              <a:spcAft>
                <a:spcPts val="400"/>
              </a:spcAft>
              <a:buFont typeface="DM Sans"/>
              <a:buAutoNum type="arabicPeriod" startAt="9"/>
            </a:pPr>
            <a:r>
              <a:rPr sz="900" b="0" i="0">
                <a:solidFill>
                  <a:srgbClr val="4D4D4D"/>
                </a:solidFill>
                <a:latin typeface="DM Sans"/>
              </a:rPr>
              <a:t>SESMT</a:t>
            </a:r>
          </a:p>
          <a:p>
            <a:pPr marL="182880" indent="-182880">
              <a:spcAft>
                <a:spcPts val="400"/>
              </a:spcAft>
              <a:buFont typeface="DM Sans"/>
              <a:buAutoNum type="arabicPeriod" startAt="9"/>
            </a:pPr>
            <a:r>
              <a:rPr sz="900" b="0" i="0">
                <a:solidFill>
                  <a:srgbClr val="4D4D4D"/>
                </a:solidFill>
                <a:latin typeface="DM Sans"/>
              </a:rPr>
              <a:t>DCSU</a:t>
            </a:r>
          </a:p>
          <a:p>
            <a:pPr marL="182880" indent="-182880">
              <a:spcAft>
                <a:spcPts val="400"/>
              </a:spcAft>
              <a:buFont typeface="DM Sans"/>
              <a:buAutoNum type="arabicPeriod" startAt="9"/>
            </a:pPr>
            <a:r>
              <a:rPr sz="900" b="0" i="0">
                <a:solidFill>
                  <a:srgbClr val="4D4D4D"/>
                </a:solidFill>
                <a:latin typeface="DM Sans"/>
              </a:rPr>
              <a:t>ASPO</a:t>
            </a:r>
          </a:p>
          <a:p>
            <a:pPr marL="182880" indent="-182880">
              <a:spcAft>
                <a:spcPts val="400"/>
              </a:spcAft>
              <a:buFont typeface="DM Sans"/>
              <a:buAutoNum type="arabicPeriod" startAt="9"/>
            </a:pPr>
            <a:r>
              <a:rPr sz="900" b="0" i="0">
                <a:solidFill>
                  <a:srgbClr val="4D4D4D"/>
                </a:solidFill>
                <a:latin typeface="DM Sans"/>
              </a:rPr>
              <a:t>ASGP</a:t>
            </a:r>
          </a:p>
          <a:p>
            <a:pPr marL="182880" indent="-182880">
              <a:spcAft>
                <a:spcPts val="400"/>
              </a:spcAft>
              <a:buFont typeface="DM Sans"/>
              <a:buAutoNum type="arabicPeriod" startAt="9"/>
            </a:pPr>
            <a:r>
              <a:rPr sz="900" b="0" i="0">
                <a:solidFill>
                  <a:srgbClr val="4D4D4D"/>
                </a:solidFill>
                <a:latin typeface="DM Sans"/>
              </a:rPr>
              <a:t>CGC</a:t>
            </a:r>
          </a:p>
          <a:p>
            <a:pPr marL="182880" indent="-182880">
              <a:spcAft>
                <a:spcPts val="400"/>
              </a:spcAft>
              <a:buFont typeface="DM Sans"/>
              <a:buAutoNum type="arabicPeriod" startAt="9"/>
            </a:pPr>
            <a:r>
              <a:rPr sz="900" b="0" i="0">
                <a:solidFill>
                  <a:srgbClr val="4D4D4D"/>
                </a:solidFill>
                <a:latin typeface="DM Sans"/>
              </a:rPr>
              <a:t>DMSL</a:t>
            </a:r>
          </a:p>
          <a:p>
            <a:pPr marL="182880" indent="-182880">
              <a:spcAft>
                <a:spcPts val="400"/>
              </a:spcAft>
              <a:buFont typeface="DM Sans"/>
              <a:buAutoNum type="arabicPeriod" startAt="9"/>
            </a:pPr>
            <a:r>
              <a:rPr sz="900" b="0" i="0">
                <a:solidFill>
                  <a:srgbClr val="4D4D4D"/>
                </a:solidFill>
                <a:latin typeface="DM Sans"/>
              </a:rPr>
              <a:t>DECF</a:t>
            </a:r>
          </a:p>
          <a:p>
            <a:pPr marL="182880" indent="-182880">
              <a:spcAft>
                <a:spcPts val="400"/>
              </a:spcAft>
              <a:buFont typeface="DM Sans"/>
              <a:buAutoNum type="arabicPeriod" startAt="9"/>
            </a:pPr>
            <a:r>
              <a:rPr sz="900" b="0" i="0">
                <a:solidFill>
                  <a:srgbClr val="4D4D4D"/>
                </a:solidFill>
                <a:latin typeface="DM Sans"/>
              </a:rPr>
              <a:t>GGA</a:t>
            </a:r>
          </a:p>
        </p:txBody>
      </p:sp>
      <p:sp>
        <p:nvSpPr>
          <p:cNvPr id="13" name="Externos rótulo">
            <a:extLst>
              <a:ext uri="{FF2B5EF4-FFF2-40B4-BE49-F238E27FC236}">
                <a16:creationId xmlns:a16="http://schemas.microsoft.com/office/drawing/2014/main" id="{DC3BAEC1-1AE3-7DCC-D21E-DED2409E48F7}"/>
              </a:ext>
            </a:extLst>
          </p:cNvPr>
          <p:cNvSpPr txBox="1"/>
          <p:nvPr/>
        </p:nvSpPr>
        <p:spPr>
          <a:xfrm>
            <a:off x="384048" y="3630168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F47B20"/>
                </a:solidFill>
                <a:latin typeface="DM Sans"/>
              </a:rPr>
              <a:t>EXTERNOS</a:t>
            </a:r>
          </a:p>
        </p:txBody>
      </p:sp>
      <p:sp>
        <p:nvSpPr>
          <p:cNvPr id="14" name="Externos">
            <a:extLst>
              <a:ext uri="{FF2B5EF4-FFF2-40B4-BE49-F238E27FC236}">
                <a16:creationId xmlns:a16="http://schemas.microsoft.com/office/drawing/2014/main" id="{27F4C90E-F622-C017-884C-D4BD0209E339}"/>
              </a:ext>
            </a:extLst>
          </p:cNvPr>
          <p:cNvSpPr txBox="1"/>
          <p:nvPr/>
        </p:nvSpPr>
        <p:spPr>
          <a:xfrm>
            <a:off x="384048" y="3877056"/>
            <a:ext cx="2112263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82880" indent="-182880">
              <a:spcAft>
                <a:spcPts val="400"/>
              </a:spcAft>
              <a:buFont typeface="DM Sans"/>
              <a:buAutoNum type="arabicPeriod"/>
            </a:pPr>
            <a:r>
              <a:rPr sz="900" b="0" i="0" err="1">
                <a:solidFill>
                  <a:srgbClr val="4D4D4D"/>
                </a:solidFill>
                <a:latin typeface="DM Sans"/>
              </a:rPr>
              <a:t>Construtoras</a:t>
            </a:r>
            <a:r>
              <a:rPr sz="900" b="0" i="0">
                <a:solidFill>
                  <a:srgbClr val="4D4D4D"/>
                </a:solidFill>
                <a:latin typeface="DM Sans"/>
              </a:rPr>
              <a:t> / </a:t>
            </a:r>
            <a:r>
              <a:rPr sz="900" b="0" i="0" err="1">
                <a:solidFill>
                  <a:srgbClr val="4D4D4D"/>
                </a:solidFill>
                <a:latin typeface="DM Sans"/>
              </a:rPr>
              <a:t>Empreiteiras</a:t>
            </a:r>
            <a:endParaRPr sz="900" b="0" i="0">
              <a:solidFill>
                <a:srgbClr val="4D4D4D"/>
              </a:solidFill>
              <a:latin typeface="DM Sans"/>
            </a:endParaRPr>
          </a:p>
          <a:p>
            <a:pPr marL="182880" indent="-182880">
              <a:spcAft>
                <a:spcPts val="400"/>
              </a:spcAft>
              <a:buFont typeface="DM Sans"/>
              <a:buAutoNum type="arabicPeriod"/>
            </a:pPr>
            <a:r>
              <a:rPr sz="900" b="0" i="0" err="1">
                <a:solidFill>
                  <a:srgbClr val="4D4D4D"/>
                </a:solidFill>
                <a:latin typeface="DM Sans"/>
              </a:rPr>
              <a:t>Fornecedores</a:t>
            </a:r>
            <a:endParaRPr sz="900" b="0" i="0">
              <a:solidFill>
                <a:srgbClr val="4D4D4D"/>
              </a:solidFill>
              <a:latin typeface="DM Sans"/>
            </a:endParaRPr>
          </a:p>
          <a:p>
            <a:pPr marL="182880" indent="-182880">
              <a:spcAft>
                <a:spcPts val="400"/>
              </a:spcAft>
              <a:buFont typeface="DM Sans"/>
              <a:buAutoNum type="arabicPeriod"/>
            </a:pPr>
            <a:r>
              <a:rPr sz="900" b="0" i="0">
                <a:solidFill>
                  <a:srgbClr val="4D4D4D"/>
                </a:solidFill>
                <a:latin typeface="DM Sans"/>
              </a:rPr>
              <a:t>Delos / Valor Real</a:t>
            </a:r>
          </a:p>
          <a:p>
            <a:pPr marL="182880" indent="-182880">
              <a:spcAft>
                <a:spcPts val="400"/>
              </a:spcAft>
              <a:buFont typeface="DM Sans"/>
              <a:buAutoNum type="arabicPeriod"/>
            </a:pPr>
            <a:r>
              <a:rPr sz="900" b="0" i="0">
                <a:solidFill>
                  <a:srgbClr val="4D4D4D"/>
                </a:solidFill>
                <a:latin typeface="DM Sans"/>
              </a:rPr>
              <a:t>ANEEL</a:t>
            </a:r>
          </a:p>
          <a:p>
            <a:pPr marL="182880" indent="-182880">
              <a:spcAft>
                <a:spcPts val="400"/>
              </a:spcAft>
              <a:buFont typeface="DM Sans"/>
              <a:buAutoNum type="arabicPeriod"/>
            </a:pPr>
            <a:r>
              <a:rPr sz="900" b="0" i="0" err="1">
                <a:solidFill>
                  <a:srgbClr val="4D4D4D"/>
                </a:solidFill>
                <a:latin typeface="DM Sans"/>
              </a:rPr>
              <a:t>Prefeituras</a:t>
            </a:r>
            <a:endParaRPr sz="900" b="0" i="0">
              <a:solidFill>
                <a:srgbClr val="4D4D4D"/>
              </a:solidFill>
              <a:latin typeface="DM Sans"/>
            </a:endParaRPr>
          </a:p>
        </p:txBody>
      </p:sp>
      <p:sp>
        <p:nvSpPr>
          <p:cNvPr id="15" name="Premissas – fundo">
            <a:extLst>
              <a:ext uri="{FF2B5EF4-FFF2-40B4-BE49-F238E27FC236}">
                <a16:creationId xmlns:a16="http://schemas.microsoft.com/office/drawing/2014/main" id="{F4458BE4-18FF-2EB3-199F-D3B2E0545CE8}"/>
              </a:ext>
            </a:extLst>
          </p:cNvPr>
          <p:cNvSpPr/>
          <p:nvPr/>
        </p:nvSpPr>
        <p:spPr>
          <a:xfrm>
            <a:off x="2743199" y="1024128"/>
            <a:ext cx="4251960" cy="2971800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Premissas – título">
            <a:extLst>
              <a:ext uri="{FF2B5EF4-FFF2-40B4-BE49-F238E27FC236}">
                <a16:creationId xmlns:a16="http://schemas.microsoft.com/office/drawing/2014/main" id="{F1997538-4BAF-AA99-6F07-07D38580BB5C}"/>
              </a:ext>
            </a:extLst>
          </p:cNvPr>
          <p:cNvSpPr/>
          <p:nvPr/>
        </p:nvSpPr>
        <p:spPr>
          <a:xfrm>
            <a:off x="2743199" y="1024128"/>
            <a:ext cx="4251960" cy="274320"/>
          </a:xfrm>
          <a:prstGeom prst="round2SameRect">
            <a:avLst>
              <a:gd name="adj1" fmla="val 40000"/>
              <a:gd name="adj2" fmla="val 0"/>
            </a:avLst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0" bIns="0" rtlCol="0" anchor="ctr"/>
          <a:lstStyle/>
          <a:p>
            <a:pPr algn="l"/>
            <a:r>
              <a:rPr sz="1100" b="1" i="0">
                <a:solidFill>
                  <a:srgbClr val="FFFFFF"/>
                </a:solidFill>
                <a:latin typeface="DM Sans"/>
              </a:rPr>
              <a:t>Premissas</a:t>
            </a:r>
          </a:p>
        </p:txBody>
      </p:sp>
      <p:sp>
        <p:nvSpPr>
          <p:cNvPr id="17" name="Premissas lista">
            <a:extLst>
              <a:ext uri="{FF2B5EF4-FFF2-40B4-BE49-F238E27FC236}">
                <a16:creationId xmlns:a16="http://schemas.microsoft.com/office/drawing/2014/main" id="{265D68F4-99F8-9555-28D7-A2E73F58EF24}"/>
              </a:ext>
            </a:extLst>
          </p:cNvPr>
          <p:cNvSpPr txBox="1"/>
          <p:nvPr/>
        </p:nvSpPr>
        <p:spPr>
          <a:xfrm>
            <a:off x="2871215" y="1408176"/>
            <a:ext cx="3995928" cy="2514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82880" indent="-182880">
              <a:spcAft>
                <a:spcPts val="150"/>
              </a:spcAft>
              <a:buFont typeface="DM Sans"/>
              <a:buAutoNum type="arabicPeriod"/>
            </a:pPr>
            <a:r>
              <a:rPr sz="800" b="0" i="0">
                <a:solidFill>
                  <a:srgbClr val="4D4D4D"/>
                </a:solidFill>
                <a:latin typeface="DM Sans"/>
              </a:rPr>
              <a:t>O projeto será executado conforme orçamento aprovado.</a:t>
            </a:r>
          </a:p>
          <a:p>
            <a:pPr marL="182880" indent="-182880">
              <a:spcAft>
                <a:spcPts val="150"/>
              </a:spcAft>
              <a:buFont typeface="DM Sans"/>
              <a:buAutoNum type="arabicPeriod"/>
            </a:pPr>
            <a:r>
              <a:rPr sz="800" b="0" i="0">
                <a:solidFill>
                  <a:srgbClr val="4D4D4D"/>
                </a:solidFill>
                <a:latin typeface="DM Sans"/>
              </a:rPr>
              <a:t>EPS mobilizará somente após geração e assinatura da O.S.</a:t>
            </a:r>
          </a:p>
          <a:p>
            <a:pPr marL="182880" indent="-182880">
              <a:spcAft>
                <a:spcPts val="150"/>
              </a:spcAft>
              <a:buFont typeface="DM Sans"/>
              <a:buAutoNum type="arabicPeriod"/>
            </a:pPr>
            <a:r>
              <a:rPr sz="800" b="0" i="0">
                <a:solidFill>
                  <a:srgbClr val="4D4D4D"/>
                </a:solidFill>
                <a:latin typeface="DM Sans"/>
              </a:rPr>
              <a:t>Prazos conforme histórico PN 2026 de instalação de RL/RT (30 dias de execução por pacote de até 4 equipamentos; 45 dias para 5 ou mais).</a:t>
            </a:r>
          </a:p>
          <a:p>
            <a:pPr marL="182880" indent="-182880">
              <a:spcAft>
                <a:spcPts val="150"/>
              </a:spcAft>
              <a:buFont typeface="DM Sans"/>
              <a:buAutoNum type="arabicPeriod"/>
            </a:pPr>
            <a:r>
              <a:rPr sz="800" b="0" i="0">
                <a:solidFill>
                  <a:srgbClr val="4D4D4D"/>
                </a:solidFill>
                <a:latin typeface="DM Sans"/>
              </a:rPr>
              <a:t>Contratação de empresas com capacidade técnica e financeira para execução das obras.</a:t>
            </a:r>
          </a:p>
          <a:p>
            <a:pPr marL="182880" indent="-182880">
              <a:spcAft>
                <a:spcPts val="150"/>
              </a:spcAft>
              <a:buFont typeface="DM Sans"/>
              <a:buAutoNum type="arabicPeriod"/>
            </a:pPr>
            <a:r>
              <a:rPr sz="800" b="0" i="0">
                <a:solidFill>
                  <a:srgbClr val="4D4D4D"/>
                </a:solidFill>
                <a:latin typeface="DM Sans"/>
              </a:rPr>
              <a:t>Aprovação das LSS dentro do prazo solicitado, garantindo continuidade na execução das atividades.</a:t>
            </a:r>
          </a:p>
          <a:p>
            <a:pPr marL="182880" indent="-182880">
              <a:spcAft>
                <a:spcPts val="150"/>
              </a:spcAft>
              <a:buFont typeface="DM Sans"/>
              <a:buAutoNum type="arabicPeriod"/>
            </a:pPr>
            <a:r>
              <a:rPr sz="800" b="0" i="0">
                <a:solidFill>
                  <a:srgbClr val="4D4D4D"/>
                </a:solidFill>
                <a:latin typeface="DM Sans"/>
              </a:rPr>
              <a:t>Cumprimento do prazo de 10 dias corridos para análise da documentação de colaboradores terceiros pelo SESMT ETO.</a:t>
            </a:r>
          </a:p>
          <a:p>
            <a:pPr marL="182880" indent="-182880">
              <a:spcAft>
                <a:spcPts val="150"/>
              </a:spcAft>
              <a:buFont typeface="DM Sans"/>
              <a:buAutoNum type="arabicPeriod"/>
            </a:pPr>
            <a:r>
              <a:rPr sz="800" b="0" i="0">
                <a:solidFill>
                  <a:srgbClr val="4D4D4D"/>
                </a:solidFill>
                <a:latin typeface="DM Sans"/>
              </a:rPr>
              <a:t>Manutenção do escopo do projeto, sem inclusão de serviços não previstos inicialmente.</a:t>
            </a:r>
          </a:p>
          <a:p>
            <a:pPr marL="182880" indent="-182880">
              <a:spcAft>
                <a:spcPts val="150"/>
              </a:spcAft>
              <a:buFont typeface="DM Sans"/>
              <a:buAutoNum type="arabicPeriod"/>
            </a:pPr>
            <a:r>
              <a:rPr sz="800" b="0" i="0">
                <a:solidFill>
                  <a:srgbClr val="4D4D4D"/>
                </a:solidFill>
                <a:latin typeface="DM Sans"/>
              </a:rPr>
              <a:t>Ausência de acidentes de trabalho que ocasionem paralisação das atividades.</a:t>
            </a:r>
          </a:p>
          <a:p>
            <a:pPr marL="182880" indent="-182880">
              <a:spcAft>
                <a:spcPts val="150"/>
              </a:spcAft>
              <a:buFont typeface="DM Sans"/>
              <a:buAutoNum type="arabicPeriod"/>
            </a:pPr>
            <a:r>
              <a:rPr sz="800" b="0" i="0">
                <a:solidFill>
                  <a:srgbClr val="4D4D4D"/>
                </a:solidFill>
                <a:latin typeface="DM Sans"/>
              </a:rPr>
              <a:t>EPS atender a todos os procedimentos de segurança e às ITs.</a:t>
            </a:r>
          </a:p>
          <a:p>
            <a:pPr marL="182880" indent="-182880">
              <a:spcAft>
                <a:spcPts val="150"/>
              </a:spcAft>
              <a:buFont typeface="DM Sans"/>
              <a:buAutoNum type="arabicPeriod"/>
            </a:pPr>
            <a:r>
              <a:rPr sz="800" b="0" i="0">
                <a:solidFill>
                  <a:srgbClr val="4D4D4D"/>
                </a:solidFill>
                <a:latin typeface="DM Sans"/>
              </a:rPr>
              <a:t>Recebimento de materiais e equipamentos conforme datas previstas na WBS, com alta assertividade no forecast financeiro.</a:t>
            </a:r>
          </a:p>
          <a:p>
            <a:pPr marL="182880" indent="-182880">
              <a:spcAft>
                <a:spcPts val="150"/>
              </a:spcAft>
              <a:buFont typeface="DM Sans"/>
              <a:buAutoNum type="arabicPeriod"/>
            </a:pPr>
            <a:r>
              <a:rPr sz="800" b="0" i="0">
                <a:solidFill>
                  <a:srgbClr val="4D4D4D"/>
                </a:solidFill>
                <a:latin typeface="DM Sans"/>
              </a:rPr>
              <a:t>Disponibilidade de equipe de Linha Viva ETO, garantindo continuidade nas atividades em áreas energizadas.</a:t>
            </a:r>
          </a:p>
        </p:txBody>
      </p:sp>
      <p:sp>
        <p:nvSpPr>
          <p:cNvPr id="18" name="Restrições – fundo">
            <a:extLst>
              <a:ext uri="{FF2B5EF4-FFF2-40B4-BE49-F238E27FC236}">
                <a16:creationId xmlns:a16="http://schemas.microsoft.com/office/drawing/2014/main" id="{B68B8775-9107-8F96-6E9D-E48650148CED}"/>
              </a:ext>
            </a:extLst>
          </p:cNvPr>
          <p:cNvSpPr/>
          <p:nvPr/>
        </p:nvSpPr>
        <p:spPr>
          <a:xfrm>
            <a:off x="2743199" y="4133088"/>
            <a:ext cx="42519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strições – título">
            <a:extLst>
              <a:ext uri="{FF2B5EF4-FFF2-40B4-BE49-F238E27FC236}">
                <a16:creationId xmlns:a16="http://schemas.microsoft.com/office/drawing/2014/main" id="{3F3D02DE-EA93-BF12-3492-AD769F385E4A}"/>
              </a:ext>
            </a:extLst>
          </p:cNvPr>
          <p:cNvSpPr/>
          <p:nvPr/>
        </p:nvSpPr>
        <p:spPr>
          <a:xfrm>
            <a:off x="2743199" y="4133088"/>
            <a:ext cx="4251960" cy="274320"/>
          </a:xfrm>
          <a:prstGeom prst="round2SameRect">
            <a:avLst>
              <a:gd name="adj1" fmla="val 40000"/>
              <a:gd name="adj2" fmla="val 0"/>
            </a:avLst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0" bIns="0" rtlCol="0" anchor="ctr"/>
          <a:lstStyle/>
          <a:p>
            <a:pPr algn="l"/>
            <a:r>
              <a:rPr sz="1100" b="1" i="0">
                <a:solidFill>
                  <a:srgbClr val="FFFFFF"/>
                </a:solidFill>
                <a:latin typeface="DM Sans"/>
              </a:rPr>
              <a:t>Restrições</a:t>
            </a:r>
          </a:p>
        </p:txBody>
      </p:sp>
      <p:sp>
        <p:nvSpPr>
          <p:cNvPr id="20" name="Restrições lista">
            <a:extLst>
              <a:ext uri="{FF2B5EF4-FFF2-40B4-BE49-F238E27FC236}">
                <a16:creationId xmlns:a16="http://schemas.microsoft.com/office/drawing/2014/main" id="{7171FDE9-6801-316D-59F2-277FB927AC64}"/>
              </a:ext>
            </a:extLst>
          </p:cNvPr>
          <p:cNvSpPr txBox="1"/>
          <p:nvPr/>
        </p:nvSpPr>
        <p:spPr>
          <a:xfrm>
            <a:off x="2871215" y="4517136"/>
            <a:ext cx="3995928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82880" indent="-182880">
              <a:spcAft>
                <a:spcPts val="250"/>
              </a:spcAft>
              <a:buFont typeface="DM Sans"/>
              <a:buAutoNum type="arabicPeriod"/>
            </a:pPr>
            <a:r>
              <a:rPr sz="800" b="0" i="0">
                <a:solidFill>
                  <a:srgbClr val="4D4D4D"/>
                </a:solidFill>
                <a:latin typeface="DM Sans"/>
              </a:rPr>
              <a:t>Iniciar a obra somente após assinatura do contrato de prestação de serviços com a empreiteira executora.</a:t>
            </a:r>
          </a:p>
          <a:p>
            <a:pPr marL="182880" indent="-182880">
              <a:spcAft>
                <a:spcPts val="250"/>
              </a:spcAft>
              <a:buFont typeface="DM Sans"/>
              <a:buAutoNum type="arabicPeriod"/>
            </a:pPr>
            <a:r>
              <a:rPr sz="800" b="0" i="0">
                <a:solidFill>
                  <a:srgbClr val="4D4D4D"/>
                </a:solidFill>
                <a:latin typeface="DM Sans"/>
              </a:rPr>
              <a:t>Encerramento contábil somente após fiscalização da Gestão de Ativos.</a:t>
            </a:r>
          </a:p>
          <a:p>
            <a:pPr marL="182880" indent="-182880">
              <a:spcAft>
                <a:spcPts val="250"/>
              </a:spcAft>
              <a:buFont typeface="DM Sans"/>
              <a:buAutoNum type="arabicPeriod"/>
            </a:pPr>
            <a:r>
              <a:rPr sz="800" b="0" i="0">
                <a:solidFill>
                  <a:srgbClr val="4D4D4D"/>
                </a:solidFill>
                <a:latin typeface="DM Sans"/>
              </a:rPr>
              <a:t>Encerramento contábil até, no máximo, 17/11/2027.</a:t>
            </a:r>
          </a:p>
          <a:p>
            <a:pPr marL="182880" indent="-182880">
              <a:spcAft>
                <a:spcPts val="250"/>
              </a:spcAft>
              <a:buFont typeface="DM Sans"/>
              <a:buAutoNum type="arabicPeriod"/>
            </a:pPr>
            <a:r>
              <a:rPr sz="800" b="0" i="0">
                <a:solidFill>
                  <a:srgbClr val="4D4D4D"/>
                </a:solidFill>
                <a:latin typeface="DM Sans"/>
              </a:rPr>
              <a:t>Energização até o mês-meta do TM (abr a ago/27).</a:t>
            </a:r>
          </a:p>
        </p:txBody>
      </p:sp>
      <p:sp>
        <p:nvSpPr>
          <p:cNvPr id="21" name="Penalidades – fundo">
            <a:extLst>
              <a:ext uri="{FF2B5EF4-FFF2-40B4-BE49-F238E27FC236}">
                <a16:creationId xmlns:a16="http://schemas.microsoft.com/office/drawing/2014/main" id="{E927446E-CC41-D1CF-CEC4-791B87F5422C}"/>
              </a:ext>
            </a:extLst>
          </p:cNvPr>
          <p:cNvSpPr/>
          <p:nvPr/>
        </p:nvSpPr>
        <p:spPr>
          <a:xfrm>
            <a:off x="2743199" y="5367528"/>
            <a:ext cx="4251960" cy="1261871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Penalidades – título">
            <a:extLst>
              <a:ext uri="{FF2B5EF4-FFF2-40B4-BE49-F238E27FC236}">
                <a16:creationId xmlns:a16="http://schemas.microsoft.com/office/drawing/2014/main" id="{BCBBAF5E-7D7F-1719-A464-FCB22FDABE23}"/>
              </a:ext>
            </a:extLst>
          </p:cNvPr>
          <p:cNvSpPr/>
          <p:nvPr/>
        </p:nvSpPr>
        <p:spPr>
          <a:xfrm>
            <a:off x="2743199" y="5367528"/>
            <a:ext cx="4251960" cy="274320"/>
          </a:xfrm>
          <a:prstGeom prst="round2SameRect">
            <a:avLst>
              <a:gd name="adj1" fmla="val 40000"/>
              <a:gd name="adj2" fmla="val 0"/>
            </a:avLst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0" bIns="0" rtlCol="0" anchor="ctr"/>
          <a:lstStyle/>
          <a:p>
            <a:pPr algn="l"/>
            <a:r>
              <a:rPr sz="1100" b="1" i="0">
                <a:solidFill>
                  <a:srgbClr val="FFFFFF"/>
                </a:solidFill>
                <a:latin typeface="DM Sans"/>
              </a:rPr>
              <a:t>Penalidades</a:t>
            </a:r>
          </a:p>
        </p:txBody>
      </p:sp>
      <p:sp>
        <p:nvSpPr>
          <p:cNvPr id="23" name="Penalidades lista">
            <a:extLst>
              <a:ext uri="{FF2B5EF4-FFF2-40B4-BE49-F238E27FC236}">
                <a16:creationId xmlns:a16="http://schemas.microsoft.com/office/drawing/2014/main" id="{6D2D5C70-AA4A-7679-0929-2377308B0E5B}"/>
              </a:ext>
            </a:extLst>
          </p:cNvPr>
          <p:cNvSpPr txBox="1"/>
          <p:nvPr/>
        </p:nvSpPr>
        <p:spPr>
          <a:xfrm>
            <a:off x="2871215" y="5751576"/>
            <a:ext cx="3995928" cy="8046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82880" indent="-182880">
              <a:spcAft>
                <a:spcPts val="250"/>
              </a:spcAft>
              <a:buFont typeface="DM Sans"/>
              <a:buAutoNum type="arabicPeriod"/>
            </a:pPr>
            <a:r>
              <a:rPr sz="800" b="0" i="0">
                <a:solidFill>
                  <a:srgbClr val="4D4D4D"/>
                </a:solidFill>
                <a:latin typeface="DM Sans"/>
              </a:rPr>
              <a:t>Aplicação de multa às prestadoras de serviço e fornecedores, após notificação, em caso de descumprimento do contrato.</a:t>
            </a:r>
          </a:p>
          <a:p>
            <a:pPr marL="182880" indent="-182880">
              <a:spcAft>
                <a:spcPts val="250"/>
              </a:spcAft>
              <a:buFont typeface="DM Sans"/>
              <a:buAutoNum type="arabicPeriod"/>
            </a:pPr>
            <a:r>
              <a:rPr sz="800" b="0" i="0">
                <a:solidFill>
                  <a:srgbClr val="4D4D4D"/>
                </a:solidFill>
                <a:latin typeface="DM Sans"/>
              </a:rPr>
              <a:t>Não atingimento do benefício esperado pela unidade.</a:t>
            </a:r>
          </a:p>
        </p:txBody>
      </p:sp>
      <p:sp>
        <p:nvSpPr>
          <p:cNvPr id="24" name="Interface AT MT – fundo">
            <a:extLst>
              <a:ext uri="{FF2B5EF4-FFF2-40B4-BE49-F238E27FC236}">
                <a16:creationId xmlns:a16="http://schemas.microsoft.com/office/drawing/2014/main" id="{52A63B44-3F1A-2A72-CA8B-914AF619676F}"/>
              </a:ext>
            </a:extLst>
          </p:cNvPr>
          <p:cNvSpPr/>
          <p:nvPr/>
        </p:nvSpPr>
        <p:spPr>
          <a:xfrm>
            <a:off x="7132320" y="1024128"/>
            <a:ext cx="4785055" cy="1417320"/>
          </a:xfrm>
          <a:prstGeom prst="roundRect">
            <a:avLst>
              <a:gd name="adj" fmla="val 7741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Interface AT MT – título">
            <a:extLst>
              <a:ext uri="{FF2B5EF4-FFF2-40B4-BE49-F238E27FC236}">
                <a16:creationId xmlns:a16="http://schemas.microsoft.com/office/drawing/2014/main" id="{96057607-F34C-C47B-FAFF-5498B448C1EF}"/>
              </a:ext>
            </a:extLst>
          </p:cNvPr>
          <p:cNvSpPr/>
          <p:nvPr/>
        </p:nvSpPr>
        <p:spPr>
          <a:xfrm>
            <a:off x="7132320" y="1024128"/>
            <a:ext cx="4785055" cy="274320"/>
          </a:xfrm>
          <a:prstGeom prst="round2SameRect">
            <a:avLst>
              <a:gd name="adj1" fmla="val 40000"/>
              <a:gd name="adj2" fmla="val 0"/>
            </a:avLst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0" bIns="0" rtlCol="0" anchor="ctr"/>
          <a:lstStyle/>
          <a:p>
            <a:pPr algn="l"/>
            <a:r>
              <a:rPr sz="1100" b="1" i="0">
                <a:solidFill>
                  <a:srgbClr val="FFFFFF"/>
                </a:solidFill>
                <a:latin typeface="DM Sans"/>
              </a:rPr>
              <a:t>Datas de Interface – MT</a:t>
            </a:r>
          </a:p>
        </p:txBody>
      </p:sp>
      <p:graphicFrame>
        <p:nvGraphicFramePr>
          <p:cNvPr id="26" name="Tabela interface">
            <a:extLst>
              <a:ext uri="{FF2B5EF4-FFF2-40B4-BE49-F238E27FC236}">
                <a16:creationId xmlns:a16="http://schemas.microsoft.com/office/drawing/2014/main" id="{7BB32449-40DB-25D0-EDDD-76C40CB32718}"/>
              </a:ext>
            </a:extLst>
          </p:cNvPr>
          <p:cNvGraphicFramePr>
            <a:graphicFrameLocks noGrp="1"/>
          </p:cNvGraphicFramePr>
          <p:nvPr/>
        </p:nvGraphicFramePr>
        <p:xfrm>
          <a:off x="7242048" y="1389888"/>
          <a:ext cx="4565599" cy="1005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95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algn="l">
                        <a:defRPr sz="750">
                          <a:latin typeface="DM Sans"/>
                        </a:defRPr>
                      </a:pPr>
                      <a:r>
                        <a:rPr sz="750" b="1" i="0">
                          <a:solidFill>
                            <a:srgbClr val="1F1F4C"/>
                          </a:solidFill>
                          <a:latin typeface="DM Sans"/>
                        </a:rPr>
                        <a:t>Nível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latin typeface="DM Sans"/>
                        </a:defRPr>
                      </a:pPr>
                      <a:r>
                        <a:rPr sz="750" b="1" i="0">
                          <a:solidFill>
                            <a:srgbClr val="1F1F4C"/>
                          </a:solidFill>
                          <a:latin typeface="DM Sans"/>
                        </a:rPr>
                        <a:t>Marco / atividade de interface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latin typeface="DM Sans"/>
                        </a:defRPr>
                      </a:pPr>
                      <a:r>
                        <a:rPr sz="750" b="1" i="0">
                          <a:solidFill>
                            <a:srgbClr val="1F1F4C"/>
                          </a:solidFill>
                          <a:latin typeface="DM Sans"/>
                        </a:rPr>
                        <a:t>Data prevista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latin typeface="DM Sans"/>
                        </a:defRPr>
                      </a:pPr>
                      <a:r>
                        <a:rPr sz="750" b="1" i="0">
                          <a:solidFill>
                            <a:srgbClr val="1F1F4C"/>
                          </a:solidFill>
                          <a:latin typeface="DM Sans"/>
                        </a:rPr>
                        <a:t>Responsável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latin typeface="DM Sans"/>
                        </a:defRPr>
                      </a:pPr>
                      <a:r>
                        <a:rPr sz="750" b="1" i="0">
                          <a:solidFill>
                            <a:srgbClr val="1F1F4C"/>
                          </a:solidFill>
                          <a:latin typeface="DM Sans"/>
                        </a:rPr>
                        <a:t>Status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lang="pt-BR" sz="750" b="1" i="0">
                          <a:solidFill>
                            <a:srgbClr val="1F1F4C"/>
                          </a:solidFill>
                          <a:latin typeface="DM Sans"/>
                        </a:rPr>
                        <a:t>MT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700" b="0" i="0">
                          <a:solidFill>
                            <a:srgbClr val="4D4D4D"/>
                          </a:solidFill>
                          <a:latin typeface="DM Sans"/>
                        </a:rPr>
                        <a:t>Execução / desligamento programado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01/02 a 22/07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EPS / DEOP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A iniciar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lang="pt-BR" sz="750" b="1" i="0">
                          <a:solidFill>
                            <a:srgbClr val="1F1F4C"/>
                          </a:solidFill>
                          <a:latin typeface="DM Sans"/>
                        </a:rPr>
                        <a:t>MT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700" b="0" i="0">
                          <a:solidFill>
                            <a:srgbClr val="4D4D4D"/>
                          </a:solidFill>
                          <a:latin typeface="DM Sans"/>
                        </a:rPr>
                        <a:t>Ajuste de proteção e parametrização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12/04 a 31/08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DEOP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A iniciar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lang="pt-BR" sz="750" b="1" i="0">
                          <a:solidFill>
                            <a:srgbClr val="1F1F4C"/>
                          </a:solidFill>
                          <a:latin typeface="DM Sans"/>
                        </a:rPr>
                        <a:t>MT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700" b="0" i="0">
                          <a:solidFill>
                            <a:srgbClr val="4D4D4D"/>
                          </a:solidFill>
                          <a:latin typeface="DM Sans"/>
                        </a:rPr>
                        <a:t>Comissionamento dos equipamentos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12/04 a 31/08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DMSL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A iniciar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lang="pt-BR" sz="750" b="1" i="0">
                          <a:solidFill>
                            <a:srgbClr val="1F1F4C"/>
                          </a:solidFill>
                          <a:latin typeface="DM Sans"/>
                        </a:rPr>
                        <a:t>MT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700" b="0" i="0">
                          <a:solidFill>
                            <a:srgbClr val="4D4D4D"/>
                          </a:solidFill>
                          <a:latin typeface="DM Sans"/>
                        </a:rPr>
                        <a:t>Equipamentos em operação / energização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27/04 a 31/08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DMSL / DEOP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A iniciar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7" name="Curva orçamentária – fundo">
            <a:extLst>
              <a:ext uri="{FF2B5EF4-FFF2-40B4-BE49-F238E27FC236}">
                <a16:creationId xmlns:a16="http://schemas.microsoft.com/office/drawing/2014/main" id="{77C18B2D-7865-B25E-3A9C-1AAE36FFBDC7}"/>
              </a:ext>
            </a:extLst>
          </p:cNvPr>
          <p:cNvSpPr/>
          <p:nvPr/>
        </p:nvSpPr>
        <p:spPr>
          <a:xfrm>
            <a:off x="7132320" y="2578608"/>
            <a:ext cx="4785055" cy="1243584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Curva orçamentária – título">
            <a:extLst>
              <a:ext uri="{FF2B5EF4-FFF2-40B4-BE49-F238E27FC236}">
                <a16:creationId xmlns:a16="http://schemas.microsoft.com/office/drawing/2014/main" id="{0A739096-434D-632E-5DBB-411C0BBE920B}"/>
              </a:ext>
            </a:extLst>
          </p:cNvPr>
          <p:cNvSpPr/>
          <p:nvPr/>
        </p:nvSpPr>
        <p:spPr>
          <a:xfrm>
            <a:off x="7132320" y="2578608"/>
            <a:ext cx="4785055" cy="274320"/>
          </a:xfrm>
          <a:prstGeom prst="round2SameRect">
            <a:avLst>
              <a:gd name="adj1" fmla="val 40000"/>
              <a:gd name="adj2" fmla="val 0"/>
            </a:avLst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0" bIns="0" rtlCol="0" anchor="ctr"/>
          <a:lstStyle/>
          <a:p>
            <a:pPr algn="l"/>
            <a:r>
              <a:rPr sz="1100" b="1" i="0">
                <a:solidFill>
                  <a:srgbClr val="FFFFFF"/>
                </a:solidFill>
                <a:latin typeface="DM Sans"/>
              </a:rPr>
              <a:t>Curva Orçamentária (R$ mil)</a:t>
            </a:r>
          </a:p>
        </p:txBody>
      </p:sp>
      <p:sp>
        <p:nvSpPr>
          <p:cNvPr id="30" name="Aquisições – fundo">
            <a:extLst>
              <a:ext uri="{FF2B5EF4-FFF2-40B4-BE49-F238E27FC236}">
                <a16:creationId xmlns:a16="http://schemas.microsoft.com/office/drawing/2014/main" id="{DF6CF142-9BB0-CBE7-F31F-DBFC7831627C}"/>
              </a:ext>
            </a:extLst>
          </p:cNvPr>
          <p:cNvSpPr/>
          <p:nvPr/>
        </p:nvSpPr>
        <p:spPr>
          <a:xfrm>
            <a:off x="7132320" y="3959352"/>
            <a:ext cx="4785055" cy="1234440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Aquisições – título">
            <a:extLst>
              <a:ext uri="{FF2B5EF4-FFF2-40B4-BE49-F238E27FC236}">
                <a16:creationId xmlns:a16="http://schemas.microsoft.com/office/drawing/2014/main" id="{1E92373D-F470-FDD8-1116-6653DC378456}"/>
              </a:ext>
            </a:extLst>
          </p:cNvPr>
          <p:cNvSpPr/>
          <p:nvPr/>
        </p:nvSpPr>
        <p:spPr>
          <a:xfrm>
            <a:off x="7132320" y="3959352"/>
            <a:ext cx="4785055" cy="274320"/>
          </a:xfrm>
          <a:prstGeom prst="round2SameRect">
            <a:avLst>
              <a:gd name="adj1" fmla="val 40000"/>
              <a:gd name="adj2" fmla="val 0"/>
            </a:avLst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0" bIns="0" rtlCol="0" anchor="ctr"/>
          <a:lstStyle/>
          <a:p>
            <a:pPr algn="l"/>
            <a:r>
              <a:rPr sz="1100" b="1" i="0">
                <a:solidFill>
                  <a:srgbClr val="FFFFFF"/>
                </a:solidFill>
                <a:latin typeface="DM Sans"/>
              </a:rPr>
              <a:t>Aquisições e Contratações</a:t>
            </a:r>
          </a:p>
        </p:txBody>
      </p:sp>
      <p:graphicFrame>
        <p:nvGraphicFramePr>
          <p:cNvPr id="32" name="Tabela aquisições">
            <a:extLst>
              <a:ext uri="{FF2B5EF4-FFF2-40B4-BE49-F238E27FC236}">
                <a16:creationId xmlns:a16="http://schemas.microsoft.com/office/drawing/2014/main" id="{315BE59F-8FD7-8A86-5AB1-2F3DD0E405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1846381"/>
              </p:ext>
            </p:extLst>
          </p:nvPr>
        </p:nvGraphicFramePr>
        <p:xfrm>
          <a:off x="7242048" y="4251960"/>
          <a:ext cx="4565599" cy="8778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967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algn="l">
                        <a:defRPr sz="750">
                          <a:latin typeface="DM Sans"/>
                        </a:defRPr>
                      </a:pPr>
                      <a:r>
                        <a:rPr sz="750" b="1" i="0">
                          <a:solidFill>
                            <a:srgbClr val="1F1F4C"/>
                          </a:solidFill>
                          <a:latin typeface="DM Sans"/>
                        </a:rPr>
                        <a:t>Item / serviço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latin typeface="DM Sans"/>
                        </a:defRPr>
                      </a:pPr>
                      <a:r>
                        <a:rPr sz="750" b="1" i="0">
                          <a:solidFill>
                            <a:srgbClr val="1F1F4C"/>
                          </a:solidFill>
                          <a:latin typeface="DM Sans"/>
                        </a:rPr>
                        <a:t>Tipo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latin typeface="DM Sans"/>
                        </a:defRPr>
                      </a:pPr>
                      <a:r>
                        <a:rPr sz="750" b="1" i="0">
                          <a:solidFill>
                            <a:srgbClr val="1F1F4C"/>
                          </a:solidFill>
                          <a:latin typeface="DM Sans"/>
                        </a:rPr>
                        <a:t>Data necessária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latin typeface="DM Sans"/>
                        </a:defRPr>
                      </a:pPr>
                      <a:r>
                        <a:rPr sz="750" b="1" i="0">
                          <a:solidFill>
                            <a:srgbClr val="1F1F4C"/>
                          </a:solidFill>
                          <a:latin typeface="DM Sans"/>
                        </a:rPr>
                        <a:t>Status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RT (9), RL (13) e TripSaver (3)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Equipamento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01/02/27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A confirmar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Materiais complementares (WBS)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Material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01/02/27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A confirmar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Empreiteira executora (EPS)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Contratação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01/02/27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A confirmar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3" name="Riscos – fundo">
            <a:extLst>
              <a:ext uri="{FF2B5EF4-FFF2-40B4-BE49-F238E27FC236}">
                <a16:creationId xmlns:a16="http://schemas.microsoft.com/office/drawing/2014/main" id="{9F4418D2-D2C3-EA04-62A5-E70B381104C1}"/>
              </a:ext>
            </a:extLst>
          </p:cNvPr>
          <p:cNvSpPr/>
          <p:nvPr/>
        </p:nvSpPr>
        <p:spPr>
          <a:xfrm>
            <a:off x="7132320" y="5330952"/>
            <a:ext cx="4785055" cy="1298448"/>
          </a:xfrm>
          <a:prstGeom prst="roundRect">
            <a:avLst>
              <a:gd name="adj" fmla="val 845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iscos – título">
            <a:extLst>
              <a:ext uri="{FF2B5EF4-FFF2-40B4-BE49-F238E27FC236}">
                <a16:creationId xmlns:a16="http://schemas.microsoft.com/office/drawing/2014/main" id="{50507711-E53B-7D5F-873D-CFE0A26AB425}"/>
              </a:ext>
            </a:extLst>
          </p:cNvPr>
          <p:cNvSpPr/>
          <p:nvPr/>
        </p:nvSpPr>
        <p:spPr>
          <a:xfrm>
            <a:off x="7132320" y="5330952"/>
            <a:ext cx="4785055" cy="274320"/>
          </a:xfrm>
          <a:prstGeom prst="round2SameRect">
            <a:avLst>
              <a:gd name="adj1" fmla="val 40000"/>
              <a:gd name="adj2" fmla="val 0"/>
            </a:avLst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0" bIns="0" rtlCol="0" anchor="ctr"/>
          <a:lstStyle/>
          <a:p>
            <a:pPr algn="l"/>
            <a:r>
              <a:rPr sz="1100" b="1" i="0">
                <a:solidFill>
                  <a:srgbClr val="FFFFFF"/>
                </a:solidFill>
                <a:latin typeface="DM Sans"/>
              </a:rPr>
              <a:t>Principais Riscos do Projeto</a:t>
            </a:r>
          </a:p>
        </p:txBody>
      </p:sp>
      <p:sp>
        <p:nvSpPr>
          <p:cNvPr id="35" name="Riscos lista">
            <a:extLst>
              <a:ext uri="{FF2B5EF4-FFF2-40B4-BE49-F238E27FC236}">
                <a16:creationId xmlns:a16="http://schemas.microsoft.com/office/drawing/2014/main" id="{9799A25D-AF93-0FB0-C3C1-3121AACFE4ED}"/>
              </a:ext>
            </a:extLst>
          </p:cNvPr>
          <p:cNvSpPr txBox="1"/>
          <p:nvPr/>
        </p:nvSpPr>
        <p:spPr>
          <a:xfrm>
            <a:off x="7260336" y="5715000"/>
            <a:ext cx="4529023" cy="8412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82880" indent="-182880">
              <a:spcAft>
                <a:spcPts val="250"/>
              </a:spcAft>
              <a:buFont typeface="DM Sans"/>
              <a:buAutoNum type="arabicPeriod"/>
            </a:pPr>
            <a:r>
              <a:rPr sz="800" b="0" i="0">
                <a:solidFill>
                  <a:srgbClr val="4D4D4D"/>
                </a:solidFill>
                <a:latin typeface="DM Sans"/>
              </a:rPr>
              <a:t>Atraso na entrega de RL/RT (lead time de fornecimento).</a:t>
            </a:r>
          </a:p>
          <a:p>
            <a:pPr marL="182880" indent="-182880">
              <a:spcAft>
                <a:spcPts val="250"/>
              </a:spcAft>
              <a:buFont typeface="DM Sans"/>
              <a:buAutoNum type="arabicPeriod"/>
            </a:pPr>
            <a:r>
              <a:rPr sz="800" b="0" i="0">
                <a:solidFill>
                  <a:srgbClr val="4D4D4D"/>
                </a:solidFill>
                <a:latin typeface="DM Sans"/>
              </a:rPr>
              <a:t>Indisponibilidade da equipe de Linha Viva / frentes simultâneas.</a:t>
            </a:r>
          </a:p>
          <a:p>
            <a:pPr marL="182880" indent="-182880">
              <a:spcAft>
                <a:spcPts val="250"/>
              </a:spcAft>
              <a:buFont typeface="DM Sans"/>
              <a:buAutoNum type="arabicPeriod"/>
            </a:pPr>
            <a:r>
              <a:rPr sz="800" b="0" i="0">
                <a:solidFill>
                  <a:srgbClr val="4D4D4D"/>
                </a:solidFill>
                <a:latin typeface="DM Sans"/>
              </a:rPr>
              <a:t>Atraso na aprovação de LSS / documentação SESMT.</a:t>
            </a:r>
          </a:p>
          <a:p>
            <a:pPr marL="182880" indent="-182880">
              <a:spcAft>
                <a:spcPts val="250"/>
              </a:spcAft>
              <a:buFont typeface="DM Sans"/>
              <a:buAutoNum type="arabicPeriod"/>
            </a:pPr>
            <a:r>
              <a:rPr sz="800" b="0" i="0">
                <a:solidFill>
                  <a:srgbClr val="4D4D4D"/>
                </a:solidFill>
                <a:latin typeface="DM Sans"/>
              </a:rPr>
              <a:t>Atraso no comissionamento e ajuste de proteção.</a:t>
            </a:r>
          </a:p>
          <a:p>
            <a:pPr marL="182880" indent="-182880">
              <a:spcAft>
                <a:spcPts val="250"/>
              </a:spcAft>
              <a:buFont typeface="DM Sans"/>
              <a:buAutoNum type="arabicPeriod"/>
            </a:pPr>
            <a:r>
              <a:rPr sz="800" b="0" i="0">
                <a:solidFill>
                  <a:srgbClr val="4D4D4D"/>
                </a:solidFill>
                <a:latin typeface="DM Sans"/>
              </a:rPr>
              <a:t>Acidente de trabalho com paralisação da obra.</a:t>
            </a:r>
          </a:p>
        </p:txBody>
      </p:sp>
      <p:graphicFrame>
        <p:nvGraphicFramePr>
          <p:cNvPr id="3" name="Tabela curva orçamentária">
            <a:extLst>
              <a:ext uri="{FF2B5EF4-FFF2-40B4-BE49-F238E27FC236}">
                <a16:creationId xmlns:a16="http://schemas.microsoft.com/office/drawing/2014/main" id="{7DFBEB2F-F1D0-01F1-F9B5-20B36C8ABC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41225"/>
              </p:ext>
            </p:extLst>
          </p:nvPr>
        </p:nvGraphicFramePr>
        <p:xfrm>
          <a:off x="7216648" y="2893568"/>
          <a:ext cx="4565592" cy="8778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4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63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8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8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8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48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48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483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4483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4483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4483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4483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4483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4483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algn="l">
                        <a:defRPr sz="650">
                          <a:latin typeface="DM Sans"/>
                        </a:defRPr>
                      </a:pPr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SIGCO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50">
                          <a:latin typeface="DM Sans"/>
                        </a:defRPr>
                      </a:pPr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Projeto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Jan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Fev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Mar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Abr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Mai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Jun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Jul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Ago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Set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Out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Nov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Dez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Total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lang="pt-BR" sz="650" b="1" i="0">
                          <a:solidFill>
                            <a:srgbClr val="1F1F4C"/>
                          </a:solidFill>
                          <a:latin typeface="DM Sans"/>
                        </a:rPr>
                        <a:t>12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650" b="1" i="0">
                          <a:solidFill>
                            <a:srgbClr val="1F1F4C"/>
                          </a:solidFill>
                          <a:latin typeface="DM Sans"/>
                        </a:rPr>
                        <a:t>Curva WBS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55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550" b="0" i="0">
                          <a:solidFill>
                            <a:srgbClr val="4D4D4D"/>
                          </a:solidFill>
                          <a:latin typeface="DM Sans"/>
                        </a:rPr>
                        <a:t>1.529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550" b="0" i="0">
                          <a:solidFill>
                            <a:srgbClr val="4D4D4D"/>
                          </a:solidFill>
                          <a:latin typeface="DM Sans"/>
                        </a:rPr>
                        <a:t>1.164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550" b="0" i="0">
                          <a:solidFill>
                            <a:srgbClr val="4D4D4D"/>
                          </a:solidFill>
                          <a:latin typeface="DM Sans"/>
                        </a:rPr>
                        <a:t>1.413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550" b="0" i="0">
                          <a:solidFill>
                            <a:srgbClr val="4D4D4D"/>
                          </a:solidFill>
                          <a:latin typeface="DM Sans"/>
                        </a:rPr>
                        <a:t>391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550" b="0" i="0">
                          <a:solidFill>
                            <a:srgbClr val="4D4D4D"/>
                          </a:solidFill>
                          <a:latin typeface="DM Sans"/>
                        </a:rPr>
                        <a:t>526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550" b="0" i="0">
                          <a:solidFill>
                            <a:srgbClr val="4D4D4D"/>
                          </a:solidFill>
                          <a:latin typeface="DM Sans"/>
                        </a:rPr>
                        <a:t>205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55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55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55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55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55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650" b="1" i="0">
                          <a:solidFill>
                            <a:srgbClr val="1F1F4C"/>
                          </a:solidFill>
                          <a:latin typeface="DM Sans"/>
                        </a:rPr>
                        <a:t>5.227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lang="pt-BR" sz="650" b="1" i="0">
                          <a:solidFill>
                            <a:srgbClr val="1F1F4C"/>
                          </a:solidFill>
                          <a:latin typeface="DM Sans"/>
                        </a:rPr>
                        <a:t/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650" b="1" i="0">
                          <a:solidFill>
                            <a:srgbClr val="1F1F4C"/>
                          </a:solidFill>
                          <a:latin typeface="DM Sans"/>
                        </a:rPr>
                        <a:t>Acumulado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55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550" b="0" i="0">
                          <a:solidFill>
                            <a:srgbClr val="4D4D4D"/>
                          </a:solidFill>
                          <a:latin typeface="DM Sans"/>
                        </a:rPr>
                        <a:t>1.529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550" b="0" i="0">
                          <a:solidFill>
                            <a:srgbClr val="4D4D4D"/>
                          </a:solidFill>
                          <a:latin typeface="DM Sans"/>
                        </a:rPr>
                        <a:t>2.693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550" b="0" i="0">
                          <a:solidFill>
                            <a:srgbClr val="4D4D4D"/>
                          </a:solidFill>
                          <a:latin typeface="DM Sans"/>
                        </a:rPr>
                        <a:t>4.106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550" b="0" i="0">
                          <a:solidFill>
                            <a:srgbClr val="4D4D4D"/>
                          </a:solidFill>
                          <a:latin typeface="DM Sans"/>
                        </a:rPr>
                        <a:t>4.496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550" b="0" i="0">
                          <a:solidFill>
                            <a:srgbClr val="4D4D4D"/>
                          </a:solidFill>
                          <a:latin typeface="DM Sans"/>
                        </a:rPr>
                        <a:t>5.022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550" b="0" i="0">
                          <a:solidFill>
                            <a:srgbClr val="4D4D4D"/>
                          </a:solidFill>
                          <a:latin typeface="DM Sans"/>
                        </a:rPr>
                        <a:t>5.227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550" b="0" i="0">
                          <a:solidFill>
                            <a:srgbClr val="4D4D4D"/>
                          </a:solidFill>
                          <a:latin typeface="DM Sans"/>
                        </a:rPr>
                        <a:t>5.227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550" b="0" i="0">
                          <a:solidFill>
                            <a:srgbClr val="4D4D4D"/>
                          </a:solidFill>
                          <a:latin typeface="DM Sans"/>
                        </a:rPr>
                        <a:t>5.227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550" b="0" i="0">
                          <a:solidFill>
                            <a:srgbClr val="4D4D4D"/>
                          </a:solidFill>
                          <a:latin typeface="DM Sans"/>
                        </a:rPr>
                        <a:t>5.227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550" b="0" i="0">
                          <a:solidFill>
                            <a:srgbClr val="4D4D4D"/>
                          </a:solidFill>
                          <a:latin typeface="DM Sans"/>
                        </a:rPr>
                        <a:t>5.227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550" b="0" i="0">
                          <a:solidFill>
                            <a:srgbClr val="4D4D4D"/>
                          </a:solidFill>
                          <a:latin typeface="DM Sans"/>
                        </a:rPr>
                        <a:t>5.227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650" b="1" i="0">
                          <a:solidFill>
                            <a:srgbClr val="1F1F4C"/>
                          </a:solidFill>
                          <a:latin typeface="DM Sans"/>
                        </a:rPr>
                        <a:t>5.227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lang="pt-BR" sz="650" b="1" i="0">
                          <a:solidFill>
                            <a:srgbClr val="1F1F4C"/>
                          </a:solidFill>
                          <a:latin typeface="DM Sans"/>
                        </a:rPr>
                        <a:t/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650" b="1" i="0">
                          <a:solidFill>
                            <a:srgbClr val="1F1F4C"/>
                          </a:solidFill>
                          <a:latin typeface="DM Sans"/>
                        </a:rPr>
                        <a:t>Cad. 08.10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550" b="0" i="0">
                          <a:solidFill>
                            <a:srgbClr val="4D4D4D"/>
                          </a:solidFill>
                          <a:latin typeface="DM Sans"/>
                        </a:rPr>
                        <a:t>429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550" b="0" i="0">
                          <a:solidFill>
                            <a:srgbClr val="4D4D4D"/>
                          </a:solidFill>
                          <a:latin typeface="DM Sans"/>
                        </a:rPr>
                        <a:t>429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550" b="0" i="0">
                          <a:solidFill>
                            <a:srgbClr val="4D4D4D"/>
                          </a:solidFill>
                          <a:latin typeface="DM Sans"/>
                        </a:rPr>
                        <a:t>429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550" b="0" i="0">
                          <a:solidFill>
                            <a:srgbClr val="4D4D4D"/>
                          </a:solidFill>
                          <a:latin typeface="DM Sans"/>
                        </a:rPr>
                        <a:t>429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550" b="0" i="0">
                          <a:solidFill>
                            <a:srgbClr val="4D4D4D"/>
                          </a:solidFill>
                          <a:latin typeface="DM Sans"/>
                        </a:rPr>
                        <a:t>449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550" b="0" i="0">
                          <a:solidFill>
                            <a:srgbClr val="4D4D4D"/>
                          </a:solidFill>
                          <a:latin typeface="DM Sans"/>
                        </a:rPr>
                        <a:t>449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550" b="0" i="0">
                          <a:solidFill>
                            <a:srgbClr val="4D4D4D"/>
                          </a:solidFill>
                          <a:latin typeface="DM Sans"/>
                        </a:rPr>
                        <a:t>449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550" b="0" i="0">
                          <a:solidFill>
                            <a:srgbClr val="4D4D4D"/>
                          </a:solidFill>
                          <a:latin typeface="DM Sans"/>
                        </a:rPr>
                        <a:t>449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550" b="0" i="0">
                          <a:solidFill>
                            <a:srgbClr val="4D4D4D"/>
                          </a:solidFill>
                          <a:latin typeface="DM Sans"/>
                        </a:rPr>
                        <a:t>429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550" b="0" i="0">
                          <a:solidFill>
                            <a:srgbClr val="4D4D4D"/>
                          </a:solidFill>
                          <a:latin typeface="DM Sans"/>
                        </a:rPr>
                        <a:t>429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550" b="0" i="0">
                          <a:solidFill>
                            <a:srgbClr val="4D4D4D"/>
                          </a:solidFill>
                          <a:latin typeface="DM Sans"/>
                        </a:rPr>
                        <a:t>429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550" b="0" i="0">
                          <a:solidFill>
                            <a:srgbClr val="4D4D4D"/>
                          </a:solidFill>
                          <a:latin typeface="DM Sans"/>
                        </a:rPr>
                        <a:t>429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650" b="1" i="0">
                          <a:solidFill>
                            <a:srgbClr val="1F1F4C"/>
                          </a:solidFill>
                          <a:latin typeface="DM Sans"/>
                        </a:rPr>
                        <a:t>5.227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68514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81B19FA-C361-4AEA-63D3-A4D5E83BA84A}"/>
              </a:ext>
            </a:extLst>
          </p:cNvPr>
          <p:cNvSpPr txBox="1">
            <a:spLocks/>
          </p:cNvSpPr>
          <p:nvPr/>
        </p:nvSpPr>
        <p:spPr>
          <a:xfrm>
            <a:off x="374904" y="448056"/>
            <a:ext cx="9144000" cy="566737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000" b="1">
                <a:solidFill>
                  <a:srgbClr val="1F1F4C"/>
                </a:solidFill>
                <a:latin typeface="DM Sans"/>
              </a:rPr>
              <a:t>Curva orçamentária</a:t>
            </a:r>
          </a:p>
        </p:txBody>
      </p:sp>
      <p:sp>
        <p:nvSpPr>
          <p:cNvPr id="5" name="Eyebrow">
            <a:extLst>
              <a:ext uri="{FF2B5EF4-FFF2-40B4-BE49-F238E27FC236}">
                <a16:creationId xmlns:a16="http://schemas.microsoft.com/office/drawing/2014/main" id="{C16A34ED-02F0-3BE2-B643-C37922915AC6}"/>
              </a:ext>
            </a:extLst>
          </p:cNvPr>
          <p:cNvSpPr txBox="1"/>
          <p:nvPr/>
        </p:nvSpPr>
        <p:spPr>
          <a:xfrm>
            <a:off x="457200" y="347472"/>
            <a:ext cx="7315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F47B20"/>
                </a:solidFill>
                <a:latin typeface="DM Sans"/>
              </a:rPr>
              <a:t>KICKOFF MEETING</a:t>
            </a:r>
            <a:r>
              <a:rPr sz="1100" b="1" i="0" spc="150">
                <a:solidFill>
                  <a:srgbClr val="989898"/>
                </a:solidFill>
                <a:latin typeface="DM Sans"/>
              </a:rPr>
              <a:t>   |   PN 2027 · 12 SIGCOs</a:t>
            </a:r>
            <a:endParaRPr sz="1100" b="1" i="0" spc="150">
              <a:solidFill>
                <a:srgbClr val="989898"/>
              </a:solidFill>
              <a:latin typeface="DM Sans"/>
            </a:endParaRPr>
          </a:p>
        </p:txBody>
      </p:sp>
      <p:graphicFrame>
        <p:nvGraphicFramePr>
          <p:cNvPr id="11" name="Tabela curva detalhada">
            <a:extLst>
              <a:ext uri="{FF2B5EF4-FFF2-40B4-BE49-F238E27FC236}">
                <a16:creationId xmlns:a16="http://schemas.microsoft.com/office/drawing/2014/main" id="{7DFBEB2F-F1D0-01F1-F9B5-20B36C8ABC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41225"/>
              </p:ext>
            </p:extLst>
          </p:nvPr>
        </p:nvGraphicFramePr>
        <p:xfrm>
          <a:off x="457200" y="1215000"/>
          <a:ext cx="10660000" cy="419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0000"/>
                <a:gridCol w="2400000"/>
                <a:gridCol w="575000"/>
                <a:gridCol w="575000"/>
                <a:gridCol w="575000"/>
                <a:gridCol w="575000"/>
                <a:gridCol w="575000"/>
                <a:gridCol w="575000"/>
                <a:gridCol w="575000"/>
                <a:gridCol w="575000"/>
                <a:gridCol w="575000"/>
                <a:gridCol w="575000"/>
                <a:gridCol w="575000"/>
                <a:gridCol w="575000"/>
                <a:gridCol w="800000"/>
              </a:tblGrid>
              <a:tr h="262000">
                <a:tc>
                  <a:txBody>
                    <a:bodyPr/>
                    <a:lstStyle/>
                    <a:p>
                      <a:pPr algn="l"/>
                      <a:r>
                        <a:rPr lang="pt-BR" sz="800" b="1" i="0">
                          <a:solidFill>
                            <a:srgbClr val="1F1F4C"/>
                          </a:solidFill>
                          <a:latin typeface="DM Sans"/>
                        </a:rPr>
                        <a:t>SIGCO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800" b="1" i="0">
                          <a:solidFill>
                            <a:srgbClr val="1F1F4C"/>
                          </a:solidFill>
                          <a:latin typeface="DM Sans"/>
                        </a:rPr>
                        <a:t>Projeto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1" i="0">
                          <a:solidFill>
                            <a:srgbClr val="1F1F4C"/>
                          </a:solidFill>
                          <a:latin typeface="DM Sans"/>
                        </a:rPr>
                        <a:t>Jan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1" i="0">
                          <a:solidFill>
                            <a:srgbClr val="1F1F4C"/>
                          </a:solidFill>
                          <a:latin typeface="DM Sans"/>
                        </a:rPr>
                        <a:t>Fev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1" i="0">
                          <a:solidFill>
                            <a:srgbClr val="1F1F4C"/>
                          </a:solidFill>
                          <a:latin typeface="DM Sans"/>
                        </a:rPr>
                        <a:t>Mar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1" i="0">
                          <a:solidFill>
                            <a:srgbClr val="1F1F4C"/>
                          </a:solidFill>
                          <a:latin typeface="DM Sans"/>
                        </a:rPr>
                        <a:t>Abr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1" i="0">
                          <a:solidFill>
                            <a:srgbClr val="1F1F4C"/>
                          </a:solidFill>
                          <a:latin typeface="DM Sans"/>
                        </a:rPr>
                        <a:t>Mai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1" i="0">
                          <a:solidFill>
                            <a:srgbClr val="1F1F4C"/>
                          </a:solidFill>
                          <a:latin typeface="DM Sans"/>
                        </a:rPr>
                        <a:t>Jun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1" i="0">
                          <a:solidFill>
                            <a:srgbClr val="1F1F4C"/>
                          </a:solidFill>
                          <a:latin typeface="DM Sans"/>
                        </a:rPr>
                        <a:t>Jul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1" i="0">
                          <a:solidFill>
                            <a:srgbClr val="1F1F4C"/>
                          </a:solidFill>
                          <a:latin typeface="DM Sans"/>
                        </a:rPr>
                        <a:t>Ago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1" i="0">
                          <a:solidFill>
                            <a:srgbClr val="1F1F4C"/>
                          </a:solidFill>
                          <a:latin typeface="DM Sans"/>
                        </a:rPr>
                        <a:t>Set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1" i="0">
                          <a:solidFill>
                            <a:srgbClr val="1F1F4C"/>
                          </a:solidFill>
                          <a:latin typeface="DM Sans"/>
                        </a:rPr>
                        <a:t>Out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1" i="0">
                          <a:solidFill>
                            <a:srgbClr val="1F1F4C"/>
                          </a:solidFill>
                          <a:latin typeface="DM Sans"/>
                        </a:rPr>
                        <a:t>Nov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1" i="0">
                          <a:solidFill>
                            <a:srgbClr val="1F1F4C"/>
                          </a:solidFill>
                          <a:latin typeface="DM Sans"/>
                        </a:rPr>
                        <a:t>Dez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1" i="0">
                          <a:solidFill>
                            <a:srgbClr val="1F1F4C"/>
                          </a:solidFill>
                          <a:latin typeface="DM Sans"/>
                        </a:rPr>
                        <a:t>Total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algn="l"/>
                      <a:r>
                        <a:rPr lang="pt-BR" sz="800" b="1" i="0">
                          <a:solidFill>
                            <a:srgbClr val="1F1F4C"/>
                          </a:solidFill>
                          <a:latin typeface="DM Sans"/>
                        </a:rPr>
                        <a:t>90811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UHE Isamu – Ponte Alta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1.529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272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1.802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algn="l"/>
                      <a:r>
                        <a:rPr lang="pt-BR" sz="800" b="1" i="0">
                          <a:solidFill>
                            <a:srgbClr val="1F1F4C"/>
                          </a:solidFill>
                          <a:latin typeface="DM Sans"/>
                        </a:rPr>
                        <a:t>91979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Gurupi – Duere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185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54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240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algn="l"/>
                      <a:r>
                        <a:rPr lang="pt-BR" sz="800" b="1" i="0">
                          <a:solidFill>
                            <a:srgbClr val="1F1F4C"/>
                          </a:solidFill>
                          <a:latin typeface="DM Sans"/>
                        </a:rPr>
                        <a:t>92118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4 de Araguaína IV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86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25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111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algn="l"/>
                      <a:r>
                        <a:rPr lang="pt-BR" sz="800" b="1" i="0">
                          <a:solidFill>
                            <a:srgbClr val="1F1F4C"/>
                          </a:solidFill>
                          <a:latin typeface="DM Sans"/>
                        </a:rPr>
                        <a:t>89267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Xambioá II – Araguanã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620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182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802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algn="l"/>
                      <a:r>
                        <a:rPr lang="pt-BR" sz="800" b="1" i="0">
                          <a:solidFill>
                            <a:srgbClr val="1F1F4C"/>
                          </a:solidFill>
                          <a:latin typeface="DM Sans"/>
                        </a:rPr>
                        <a:t>92094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Palmas – Aparecida do Rio Negro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292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99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391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algn="l"/>
                      <a:r>
                        <a:rPr lang="pt-BR" sz="800" b="1" i="0">
                          <a:solidFill>
                            <a:srgbClr val="1F1F4C"/>
                          </a:solidFill>
                          <a:latin typeface="DM Sans"/>
                        </a:rPr>
                        <a:t>92095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Palmas – Lajeado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97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33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130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algn="l"/>
                      <a:r>
                        <a:rPr lang="pt-BR" sz="800" b="1" i="0">
                          <a:solidFill>
                            <a:srgbClr val="1F1F4C"/>
                          </a:solidFill>
                          <a:latin typeface="DM Sans"/>
                        </a:rPr>
                        <a:t>92101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8 de Palmas IV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83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28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111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algn="l"/>
                      <a:r>
                        <a:rPr lang="pt-BR" sz="800" b="1" i="0">
                          <a:solidFill>
                            <a:srgbClr val="1F1F4C"/>
                          </a:solidFill>
                          <a:latin typeface="DM Sans"/>
                        </a:rPr>
                        <a:t>92102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6 de Palmas IV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83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28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111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algn="l"/>
                      <a:r>
                        <a:rPr lang="pt-BR" sz="800" b="1" i="0">
                          <a:solidFill>
                            <a:srgbClr val="1F1F4C"/>
                          </a:solidFill>
                          <a:latin typeface="DM Sans"/>
                        </a:rPr>
                        <a:t>70838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Cristalândia – Lagoa da Confusão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298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101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400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algn="l"/>
                      <a:r>
                        <a:rPr lang="pt-BR" sz="800" b="1" i="0">
                          <a:solidFill>
                            <a:srgbClr val="1F1F4C"/>
                          </a:solidFill>
                          <a:latin typeface="DM Sans"/>
                        </a:rPr>
                        <a:t>70978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Paraíso – Caseara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299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101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400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algn="l"/>
                      <a:r>
                        <a:rPr lang="pt-BR" sz="800" b="1" i="0">
                          <a:solidFill>
                            <a:srgbClr val="1F1F4C"/>
                          </a:solidFill>
                          <a:latin typeface="DM Sans"/>
                        </a:rPr>
                        <a:t>89249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Araguaína – Babaçulândia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288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112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400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algn="l"/>
                      <a:r>
                        <a:rPr lang="pt-BR" sz="800" b="1" i="0">
                          <a:solidFill>
                            <a:srgbClr val="1F1F4C"/>
                          </a:solidFill>
                          <a:latin typeface="DM Sans"/>
                        </a:rPr>
                        <a:t>89307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1 de Figueirópolis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238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93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331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algn="l"/>
                      <a:r>
                        <a:rPr lang="pt-BR" sz="800" b="1" i="0">
                          <a:solidFill>
                            <a:srgbClr val="1F1F4C"/>
                          </a:solidFill>
                          <a:latin typeface="DM Sans"/>
                        </a:rPr>
                        <a:t/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800" b="1" i="0">
                          <a:solidFill>
                            <a:srgbClr val="1F1F4C"/>
                          </a:solidFill>
                          <a:latin typeface="DM Sans"/>
                        </a:rPr>
                        <a:t>Total – curva WBS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1" i="0">
                          <a:solidFill>
                            <a:srgbClr val="1F1F4C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1" i="0">
                          <a:solidFill>
                            <a:srgbClr val="1F1F4C"/>
                          </a:solidFill>
                          <a:latin typeface="DM Sans"/>
                        </a:rPr>
                        <a:t>1.529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1" i="0">
                          <a:solidFill>
                            <a:srgbClr val="1F1F4C"/>
                          </a:solidFill>
                          <a:latin typeface="DM Sans"/>
                        </a:rPr>
                        <a:t>1.164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1" i="0">
                          <a:solidFill>
                            <a:srgbClr val="1F1F4C"/>
                          </a:solidFill>
                          <a:latin typeface="DM Sans"/>
                        </a:rPr>
                        <a:t>1.413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1" i="0">
                          <a:solidFill>
                            <a:srgbClr val="1F1F4C"/>
                          </a:solidFill>
                          <a:latin typeface="DM Sans"/>
                        </a:rPr>
                        <a:t>391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1" i="0">
                          <a:solidFill>
                            <a:srgbClr val="1F1F4C"/>
                          </a:solidFill>
                          <a:latin typeface="DM Sans"/>
                        </a:rPr>
                        <a:t>526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1" i="0">
                          <a:solidFill>
                            <a:srgbClr val="1F1F4C"/>
                          </a:solidFill>
                          <a:latin typeface="DM Sans"/>
                        </a:rPr>
                        <a:t>205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1" i="0">
                          <a:solidFill>
                            <a:srgbClr val="1F1F4C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1" i="0">
                          <a:solidFill>
                            <a:srgbClr val="1F1F4C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1" i="0">
                          <a:solidFill>
                            <a:srgbClr val="1F1F4C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1" i="0">
                          <a:solidFill>
                            <a:srgbClr val="1F1F4C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1" i="0">
                          <a:solidFill>
                            <a:srgbClr val="1F1F4C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1" i="0">
                          <a:solidFill>
                            <a:srgbClr val="1F1F4C"/>
                          </a:solidFill>
                          <a:latin typeface="DM Sans"/>
                        </a:rPr>
                        <a:t>5.227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algn="l"/>
                      <a:r>
                        <a:rPr lang="pt-BR" sz="800" b="1" i="0">
                          <a:solidFill>
                            <a:srgbClr val="1F1F4C"/>
                          </a:solidFill>
                          <a:latin typeface="DM Sans"/>
                        </a:rPr>
                        <a:t/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800" b="1" i="0">
                          <a:solidFill>
                            <a:srgbClr val="1F1F4C"/>
                          </a:solidFill>
                          <a:latin typeface="DM Sans"/>
                        </a:rPr>
                        <a:t>Acumulado – curva WBS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1" i="0">
                          <a:solidFill>
                            <a:srgbClr val="1F1F4C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1" i="0">
                          <a:solidFill>
                            <a:srgbClr val="1F1F4C"/>
                          </a:solidFill>
                          <a:latin typeface="DM Sans"/>
                        </a:rPr>
                        <a:t>1.529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1" i="0">
                          <a:solidFill>
                            <a:srgbClr val="1F1F4C"/>
                          </a:solidFill>
                          <a:latin typeface="DM Sans"/>
                        </a:rPr>
                        <a:t>2.693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1" i="0">
                          <a:solidFill>
                            <a:srgbClr val="1F1F4C"/>
                          </a:solidFill>
                          <a:latin typeface="DM Sans"/>
                        </a:rPr>
                        <a:t>4.106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1" i="0">
                          <a:solidFill>
                            <a:srgbClr val="1F1F4C"/>
                          </a:solidFill>
                          <a:latin typeface="DM Sans"/>
                        </a:rPr>
                        <a:t>4.496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1" i="0">
                          <a:solidFill>
                            <a:srgbClr val="1F1F4C"/>
                          </a:solidFill>
                          <a:latin typeface="DM Sans"/>
                        </a:rPr>
                        <a:t>5.022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1" i="0">
                          <a:solidFill>
                            <a:srgbClr val="1F1F4C"/>
                          </a:solidFill>
                          <a:latin typeface="DM Sans"/>
                        </a:rPr>
                        <a:t>5.227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1" i="0">
                          <a:solidFill>
                            <a:srgbClr val="1F1F4C"/>
                          </a:solidFill>
                          <a:latin typeface="DM Sans"/>
                        </a:rPr>
                        <a:t>5.227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1" i="0">
                          <a:solidFill>
                            <a:srgbClr val="1F1F4C"/>
                          </a:solidFill>
                          <a:latin typeface="DM Sans"/>
                        </a:rPr>
                        <a:t>5.227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1" i="0">
                          <a:solidFill>
                            <a:srgbClr val="1F1F4C"/>
                          </a:solidFill>
                          <a:latin typeface="DM Sans"/>
                        </a:rPr>
                        <a:t>5.227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1" i="0">
                          <a:solidFill>
                            <a:srgbClr val="1F1F4C"/>
                          </a:solidFill>
                          <a:latin typeface="DM Sans"/>
                        </a:rPr>
                        <a:t>5.227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1" i="0">
                          <a:solidFill>
                            <a:srgbClr val="1F1F4C"/>
                          </a:solidFill>
                          <a:latin typeface="DM Sans"/>
                        </a:rPr>
                        <a:t>5.227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1" i="0">
                          <a:solidFill>
                            <a:srgbClr val="1F1F4C"/>
                          </a:solidFill>
                          <a:latin typeface="DM Sans"/>
                        </a:rPr>
                        <a:t>5.227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3F5F8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algn="l"/>
                      <a:r>
                        <a:rPr lang="pt-BR" sz="800" b="1" i="0">
                          <a:solidFill>
                            <a:srgbClr val="1F1F4C"/>
                          </a:solidFill>
                          <a:latin typeface="DM Sans"/>
                        </a:rPr>
                        <a:t/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Cadastro 08.10 (rateio linear)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429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429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429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429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449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449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449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449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429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429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429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429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800" b="0" i="0">
                          <a:solidFill>
                            <a:srgbClr val="4D4D4D"/>
                          </a:solidFill>
                          <a:latin typeface="DM Sans"/>
                        </a:rPr>
                        <a:t>5.227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57200" y="5780000"/>
            <a:ext cx="1127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4D4D4D"/>
                </a:solidFill>
                <a:latin typeface="DM Sans"/>
              </a:rPr>
              <a:t>Valores em R$ mil · Total aprovado: R$ 5.226.849 (Orçamento 08.10 do Cadastro CAPEX 2027–2029; Orçamento Agosto: R$ 6.018.889).</a:t>
            </a:r>
          </a:p>
          <a:p>
            <a:pPr algn="l"/>
            <a:r>
              <a:rPr sz="900" b="0" i="0">
                <a:solidFill>
                  <a:srgbClr val="4D4D4D"/>
                </a:solidFill>
                <a:latin typeface="DM Sans"/>
              </a:rPr>
              <a:t>Curva alinhada à WBS (proposta): material (60%) no mês de início da execução e serviço (40%) rateado pelos dias de execução. Como no KOM 2026, o SIACO deve ser atualizado para coincidir com a curva da WBS (cadastro atual: rateio linear de jan a dez).</a:t>
            </a:r>
          </a:p>
        </p:txBody>
      </p:sp>
      <p:sp>
        <p:nvSpPr>
          <p:cNvPr id="4" name="Rodapé">
            <a:extLst>
              <a:ext uri="{FF2B5EF4-FFF2-40B4-BE49-F238E27FC236}">
                <a16:creationId xmlns:a16="http://schemas.microsoft.com/office/drawing/2014/main" id="{F81E71CF-89BA-30B3-477F-D2F80AF6F227}"/>
              </a:ext>
            </a:extLst>
          </p:cNvPr>
          <p:cNvSpPr txBox="1"/>
          <p:nvPr/>
        </p:nvSpPr>
        <p:spPr>
          <a:xfrm>
            <a:off x="457200" y="6428232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1F4C"/>
                </a:solidFill>
                <a:latin typeface="DM Sans"/>
              </a:rPr>
              <a:t>04</a:t>
            </a:r>
            <a:r>
              <a:rPr sz="900" b="0" i="0">
                <a:solidFill>
                  <a:srgbClr val="989898"/>
                </a:solidFill>
                <a:latin typeface="DM Sans"/>
              </a:rPr>
              <a:t>  ·  </a:t>
            </a:r>
            <a:r>
              <a:rPr lang="pt-BR" sz="900" b="0" i="0">
                <a:solidFill>
                  <a:srgbClr val="989898"/>
                </a:solidFill>
                <a:latin typeface="DM Sans"/>
              </a:rPr>
              <a:t>PN 2027 – INSTALAÇÃO DE EQUIPAMENTOS ESPECIAIS (RL E RT)</a:t>
            </a:r>
            <a:endParaRPr sz="900" b="0" i="0">
              <a:solidFill>
                <a:srgbClr val="989898"/>
              </a:solidFill>
              <a:latin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1460311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F822F467-8F1C-A3F0-64D5-01DA4CEAC475}"/>
              </a:ext>
            </a:extLst>
          </p:cNvPr>
          <p:cNvSpPr txBox="1">
            <a:spLocks/>
          </p:cNvSpPr>
          <p:nvPr/>
        </p:nvSpPr>
        <p:spPr>
          <a:xfrm>
            <a:off x="374904" y="448056"/>
            <a:ext cx="9144000" cy="566737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000" b="1">
                <a:solidFill>
                  <a:srgbClr val="1F1F4C"/>
                </a:solidFill>
                <a:latin typeface="DM Sans"/>
              </a:rPr>
              <a:t>Premissas, Restrições e Penalidades</a:t>
            </a:r>
          </a:p>
        </p:txBody>
      </p:sp>
      <p:sp>
        <p:nvSpPr>
          <p:cNvPr id="4" name="Rodapé">
            <a:extLst>
              <a:ext uri="{FF2B5EF4-FFF2-40B4-BE49-F238E27FC236}">
                <a16:creationId xmlns:a16="http://schemas.microsoft.com/office/drawing/2014/main" id="{F81E71CF-89BA-30B3-477F-D2F80AF6F227}"/>
              </a:ext>
            </a:extLst>
          </p:cNvPr>
          <p:cNvSpPr txBox="1"/>
          <p:nvPr/>
        </p:nvSpPr>
        <p:spPr>
          <a:xfrm>
            <a:off x="457200" y="6428232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1F4C"/>
                </a:solidFill>
                <a:latin typeface="DM Sans"/>
              </a:rPr>
              <a:t>05</a:t>
            </a:r>
            <a:r>
              <a:rPr sz="900" b="0" i="0">
                <a:solidFill>
                  <a:srgbClr val="989898"/>
                </a:solidFill>
                <a:latin typeface="DM Sans"/>
              </a:rPr>
              <a:t>  ·  </a:t>
            </a:r>
            <a:r>
              <a:rPr lang="pt-BR" sz="900" b="0" i="0">
                <a:solidFill>
                  <a:srgbClr val="989898"/>
                </a:solidFill>
                <a:latin typeface="DM Sans"/>
              </a:rPr>
              <a:t>PN 2027 – INSTALAÇÃO DE EQUIPAMENTOS ESPECIAIS (RL E RT)</a:t>
            </a:r>
            <a:endParaRPr sz="900" b="0" i="0">
              <a:solidFill>
                <a:srgbClr val="989898"/>
              </a:solidFill>
              <a:latin typeface="DM Sans"/>
            </a:endParaRPr>
          </a:p>
        </p:txBody>
      </p:sp>
      <p:sp>
        <p:nvSpPr>
          <p:cNvPr id="5" name="Premissas – fundo">
            <a:extLst>
              <a:ext uri="{FF2B5EF4-FFF2-40B4-BE49-F238E27FC236}">
                <a16:creationId xmlns:a16="http://schemas.microsoft.com/office/drawing/2014/main" id="{1E2FE0A5-4414-68E2-D4FE-2EB081A6CA1E}"/>
              </a:ext>
            </a:extLst>
          </p:cNvPr>
          <p:cNvSpPr/>
          <p:nvPr/>
        </p:nvSpPr>
        <p:spPr>
          <a:xfrm>
            <a:off x="457200" y="1371600"/>
            <a:ext cx="6903720" cy="480060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Badge check">
            <a:extLst>
              <a:ext uri="{FF2B5EF4-FFF2-40B4-BE49-F238E27FC236}">
                <a16:creationId xmlns:a16="http://schemas.microsoft.com/office/drawing/2014/main" id="{FE65446A-E693-3191-3AC7-451831992F5B}"/>
              </a:ext>
            </a:extLst>
          </p:cNvPr>
          <p:cNvSpPr/>
          <p:nvPr/>
        </p:nvSpPr>
        <p:spPr>
          <a:xfrm>
            <a:off x="731520" y="1572768"/>
            <a:ext cx="384048" cy="384048"/>
          </a:xfrm>
          <a:prstGeom prst="ellipse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Ícone check" descr="check_white.png">
            <a:extLst>
              <a:ext uri="{FF2B5EF4-FFF2-40B4-BE49-F238E27FC236}">
                <a16:creationId xmlns:a16="http://schemas.microsoft.com/office/drawing/2014/main" id="{AD96684F-8183-23FC-61BF-4FD74FD5D2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" y="1668780"/>
            <a:ext cx="192024" cy="192024"/>
          </a:xfrm>
          <a:prstGeom prst="rect">
            <a:avLst/>
          </a:prstGeom>
        </p:spPr>
      </p:pic>
      <p:sp>
        <p:nvSpPr>
          <p:cNvPr id="8" name="Título Premissas">
            <a:extLst>
              <a:ext uri="{FF2B5EF4-FFF2-40B4-BE49-F238E27FC236}">
                <a16:creationId xmlns:a16="http://schemas.microsoft.com/office/drawing/2014/main" id="{9EDF45E4-580C-6B40-11B6-E916BC72937D}"/>
              </a:ext>
            </a:extLst>
          </p:cNvPr>
          <p:cNvSpPr txBox="1"/>
          <p:nvPr/>
        </p:nvSpPr>
        <p:spPr>
          <a:xfrm>
            <a:off x="1234440" y="1572768"/>
            <a:ext cx="45720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spc="80">
                <a:solidFill>
                  <a:srgbClr val="1F1F4C"/>
                </a:solidFill>
                <a:latin typeface="DM Sans"/>
              </a:rPr>
              <a:t>PREMISSAS</a:t>
            </a:r>
          </a:p>
        </p:txBody>
      </p:sp>
      <p:sp>
        <p:nvSpPr>
          <p:cNvPr id="9" name="Premissa 1 – nº">
            <a:extLst>
              <a:ext uri="{FF2B5EF4-FFF2-40B4-BE49-F238E27FC236}">
                <a16:creationId xmlns:a16="http://schemas.microsoft.com/office/drawing/2014/main" id="{25FE24D6-0982-B318-8C7F-E893AFB57E09}"/>
              </a:ext>
            </a:extLst>
          </p:cNvPr>
          <p:cNvSpPr/>
          <p:nvPr/>
        </p:nvSpPr>
        <p:spPr>
          <a:xfrm>
            <a:off x="731520" y="210312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9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Premissa 1 – nº texto">
            <a:extLst>
              <a:ext uri="{FF2B5EF4-FFF2-40B4-BE49-F238E27FC236}">
                <a16:creationId xmlns:a16="http://schemas.microsoft.com/office/drawing/2014/main" id="{FC11B2E7-C410-E36D-4AB8-3C75074264B3}"/>
              </a:ext>
            </a:extLst>
          </p:cNvPr>
          <p:cNvSpPr txBox="1"/>
          <p:nvPr/>
        </p:nvSpPr>
        <p:spPr>
          <a:xfrm>
            <a:off x="731520" y="210312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009FC2"/>
                </a:solidFill>
                <a:latin typeface="DM Sans"/>
              </a:rPr>
              <a:t>1</a:t>
            </a:r>
          </a:p>
        </p:txBody>
      </p:sp>
      <p:sp>
        <p:nvSpPr>
          <p:cNvPr id="11" name="Premissa 1">
            <a:extLst>
              <a:ext uri="{FF2B5EF4-FFF2-40B4-BE49-F238E27FC236}">
                <a16:creationId xmlns:a16="http://schemas.microsoft.com/office/drawing/2014/main" id="{6EDF869A-86E5-2F94-99E3-9ACDEBBC4607}"/>
              </a:ext>
            </a:extLst>
          </p:cNvPr>
          <p:cNvSpPr txBox="1"/>
          <p:nvPr/>
        </p:nvSpPr>
        <p:spPr>
          <a:xfrm>
            <a:off x="1143000" y="2084832"/>
            <a:ext cx="598932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4D4D4D"/>
                </a:solidFill>
                <a:latin typeface="DM Sans"/>
              </a:rPr>
              <a:t>O projeto será executado conforme orçamento aprovado.</a:t>
            </a:r>
          </a:p>
        </p:txBody>
      </p:sp>
      <p:sp>
        <p:nvSpPr>
          <p:cNvPr id="12" name="Premissa 2 – nº">
            <a:extLst>
              <a:ext uri="{FF2B5EF4-FFF2-40B4-BE49-F238E27FC236}">
                <a16:creationId xmlns:a16="http://schemas.microsoft.com/office/drawing/2014/main" id="{47BF487E-BBE2-26F8-CE59-A78D82AB61E2}"/>
              </a:ext>
            </a:extLst>
          </p:cNvPr>
          <p:cNvSpPr/>
          <p:nvPr/>
        </p:nvSpPr>
        <p:spPr>
          <a:xfrm>
            <a:off x="731520" y="2464308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9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Premissa 2 – nº texto">
            <a:extLst>
              <a:ext uri="{FF2B5EF4-FFF2-40B4-BE49-F238E27FC236}">
                <a16:creationId xmlns:a16="http://schemas.microsoft.com/office/drawing/2014/main" id="{105DFF82-EE01-CF60-6601-63E171195C2A}"/>
              </a:ext>
            </a:extLst>
          </p:cNvPr>
          <p:cNvSpPr txBox="1"/>
          <p:nvPr/>
        </p:nvSpPr>
        <p:spPr>
          <a:xfrm>
            <a:off x="731520" y="246430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009FC2"/>
                </a:solidFill>
                <a:latin typeface="DM Sans"/>
              </a:rPr>
              <a:t>2</a:t>
            </a:r>
          </a:p>
        </p:txBody>
      </p:sp>
      <p:sp>
        <p:nvSpPr>
          <p:cNvPr id="14" name="Premissa 2">
            <a:extLst>
              <a:ext uri="{FF2B5EF4-FFF2-40B4-BE49-F238E27FC236}">
                <a16:creationId xmlns:a16="http://schemas.microsoft.com/office/drawing/2014/main" id="{A75170D3-5CA2-9262-3B0C-1A9161851CC2}"/>
              </a:ext>
            </a:extLst>
          </p:cNvPr>
          <p:cNvSpPr txBox="1"/>
          <p:nvPr/>
        </p:nvSpPr>
        <p:spPr>
          <a:xfrm>
            <a:off x="1143000" y="2446020"/>
            <a:ext cx="598932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4D4D4D"/>
                </a:solidFill>
                <a:latin typeface="DM Sans"/>
              </a:rPr>
              <a:t>EPS mobilizará somente após geração e assinatura da O.S.</a:t>
            </a:r>
          </a:p>
        </p:txBody>
      </p:sp>
      <p:sp>
        <p:nvSpPr>
          <p:cNvPr id="15" name="Premissa 3 – nº">
            <a:extLst>
              <a:ext uri="{FF2B5EF4-FFF2-40B4-BE49-F238E27FC236}">
                <a16:creationId xmlns:a16="http://schemas.microsoft.com/office/drawing/2014/main" id="{D298E947-F1C4-1A3C-BEFA-82324A66A69F}"/>
              </a:ext>
            </a:extLst>
          </p:cNvPr>
          <p:cNvSpPr/>
          <p:nvPr/>
        </p:nvSpPr>
        <p:spPr>
          <a:xfrm>
            <a:off x="731520" y="2825496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9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Premissa 3 – nº texto">
            <a:extLst>
              <a:ext uri="{FF2B5EF4-FFF2-40B4-BE49-F238E27FC236}">
                <a16:creationId xmlns:a16="http://schemas.microsoft.com/office/drawing/2014/main" id="{D33CDE8E-DCD2-22BF-C3C2-02DBE0AC5B67}"/>
              </a:ext>
            </a:extLst>
          </p:cNvPr>
          <p:cNvSpPr txBox="1"/>
          <p:nvPr/>
        </p:nvSpPr>
        <p:spPr>
          <a:xfrm>
            <a:off x="731520" y="282549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009FC2"/>
                </a:solidFill>
                <a:latin typeface="DM Sans"/>
              </a:rPr>
              <a:t>3</a:t>
            </a:r>
          </a:p>
        </p:txBody>
      </p:sp>
      <p:sp>
        <p:nvSpPr>
          <p:cNvPr id="17" name="Premissa 3">
            <a:extLst>
              <a:ext uri="{FF2B5EF4-FFF2-40B4-BE49-F238E27FC236}">
                <a16:creationId xmlns:a16="http://schemas.microsoft.com/office/drawing/2014/main" id="{8DE99607-9A20-3306-C3D8-68F66D1F1248}"/>
              </a:ext>
            </a:extLst>
          </p:cNvPr>
          <p:cNvSpPr txBox="1"/>
          <p:nvPr/>
        </p:nvSpPr>
        <p:spPr>
          <a:xfrm>
            <a:off x="1143000" y="2807208"/>
            <a:ext cx="598932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4D4D4D"/>
                </a:solidFill>
                <a:latin typeface="DM Sans"/>
              </a:rPr>
              <a:t>Prazos conforme histórico PN 2026 de instalação de RL/RT (30 dias de execução por pacote de até 4 equipamentos; 45 dias para 5 ou mais).</a:t>
            </a:r>
          </a:p>
        </p:txBody>
      </p:sp>
      <p:sp>
        <p:nvSpPr>
          <p:cNvPr id="18" name="Premissa 4 – nº">
            <a:extLst>
              <a:ext uri="{FF2B5EF4-FFF2-40B4-BE49-F238E27FC236}">
                <a16:creationId xmlns:a16="http://schemas.microsoft.com/office/drawing/2014/main" id="{6A3C957C-44D0-EF12-3FBB-166620330E42}"/>
              </a:ext>
            </a:extLst>
          </p:cNvPr>
          <p:cNvSpPr/>
          <p:nvPr/>
        </p:nvSpPr>
        <p:spPr>
          <a:xfrm>
            <a:off x="731520" y="3186684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9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Premissa 4 – nº texto">
            <a:extLst>
              <a:ext uri="{FF2B5EF4-FFF2-40B4-BE49-F238E27FC236}">
                <a16:creationId xmlns:a16="http://schemas.microsoft.com/office/drawing/2014/main" id="{B12F91DC-6C45-CD2C-1990-A474580C74AB}"/>
              </a:ext>
            </a:extLst>
          </p:cNvPr>
          <p:cNvSpPr txBox="1"/>
          <p:nvPr/>
        </p:nvSpPr>
        <p:spPr>
          <a:xfrm>
            <a:off x="731520" y="318668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009FC2"/>
                </a:solidFill>
                <a:latin typeface="DM Sans"/>
              </a:rPr>
              <a:t>4</a:t>
            </a:r>
          </a:p>
        </p:txBody>
      </p:sp>
      <p:sp>
        <p:nvSpPr>
          <p:cNvPr id="20" name="Premissa 4">
            <a:extLst>
              <a:ext uri="{FF2B5EF4-FFF2-40B4-BE49-F238E27FC236}">
                <a16:creationId xmlns:a16="http://schemas.microsoft.com/office/drawing/2014/main" id="{674DC50A-26C8-9773-342A-0910EDA26D3C}"/>
              </a:ext>
            </a:extLst>
          </p:cNvPr>
          <p:cNvSpPr txBox="1"/>
          <p:nvPr/>
        </p:nvSpPr>
        <p:spPr>
          <a:xfrm>
            <a:off x="1143000" y="3168396"/>
            <a:ext cx="598932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4D4D4D"/>
                </a:solidFill>
                <a:latin typeface="DM Sans"/>
              </a:rPr>
              <a:t>Contratação de empresas com capacidade técnica e financeira para execução das obras.</a:t>
            </a:r>
          </a:p>
        </p:txBody>
      </p:sp>
      <p:sp>
        <p:nvSpPr>
          <p:cNvPr id="21" name="Premissa 5 – nº">
            <a:extLst>
              <a:ext uri="{FF2B5EF4-FFF2-40B4-BE49-F238E27FC236}">
                <a16:creationId xmlns:a16="http://schemas.microsoft.com/office/drawing/2014/main" id="{FA2878B2-FC15-FF04-B828-93E6526A109F}"/>
              </a:ext>
            </a:extLst>
          </p:cNvPr>
          <p:cNvSpPr/>
          <p:nvPr/>
        </p:nvSpPr>
        <p:spPr>
          <a:xfrm>
            <a:off x="731520" y="3547872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9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Premissa 5 – nº texto">
            <a:extLst>
              <a:ext uri="{FF2B5EF4-FFF2-40B4-BE49-F238E27FC236}">
                <a16:creationId xmlns:a16="http://schemas.microsoft.com/office/drawing/2014/main" id="{CAE0570F-C73B-D867-B8C1-2054A67601B0}"/>
              </a:ext>
            </a:extLst>
          </p:cNvPr>
          <p:cNvSpPr txBox="1"/>
          <p:nvPr/>
        </p:nvSpPr>
        <p:spPr>
          <a:xfrm>
            <a:off x="731520" y="354787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009FC2"/>
                </a:solidFill>
                <a:latin typeface="DM Sans"/>
              </a:rPr>
              <a:t>5</a:t>
            </a:r>
          </a:p>
        </p:txBody>
      </p:sp>
      <p:sp>
        <p:nvSpPr>
          <p:cNvPr id="23" name="Premissa 5">
            <a:extLst>
              <a:ext uri="{FF2B5EF4-FFF2-40B4-BE49-F238E27FC236}">
                <a16:creationId xmlns:a16="http://schemas.microsoft.com/office/drawing/2014/main" id="{C8684D72-CD5A-C4F6-6D6C-67EAA513D42A}"/>
              </a:ext>
            </a:extLst>
          </p:cNvPr>
          <p:cNvSpPr txBox="1"/>
          <p:nvPr/>
        </p:nvSpPr>
        <p:spPr>
          <a:xfrm>
            <a:off x="1143000" y="3529584"/>
            <a:ext cx="598932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4D4D4D"/>
                </a:solidFill>
                <a:latin typeface="DM Sans"/>
              </a:rPr>
              <a:t>Aprovação das LSS dentro do prazo solicitado, garantindo continuidade na execução das atividades.</a:t>
            </a:r>
          </a:p>
        </p:txBody>
      </p:sp>
      <p:sp>
        <p:nvSpPr>
          <p:cNvPr id="24" name="Premissa 6 – nº">
            <a:extLst>
              <a:ext uri="{FF2B5EF4-FFF2-40B4-BE49-F238E27FC236}">
                <a16:creationId xmlns:a16="http://schemas.microsoft.com/office/drawing/2014/main" id="{0AF73073-83D5-E2EC-C3AF-FFB240A4830D}"/>
              </a:ext>
            </a:extLst>
          </p:cNvPr>
          <p:cNvSpPr/>
          <p:nvPr/>
        </p:nvSpPr>
        <p:spPr>
          <a:xfrm>
            <a:off x="731520" y="390906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9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Premissa 6 – nº texto">
            <a:extLst>
              <a:ext uri="{FF2B5EF4-FFF2-40B4-BE49-F238E27FC236}">
                <a16:creationId xmlns:a16="http://schemas.microsoft.com/office/drawing/2014/main" id="{7EDF757D-D07F-5385-2811-68027B64B53A}"/>
              </a:ext>
            </a:extLst>
          </p:cNvPr>
          <p:cNvSpPr txBox="1"/>
          <p:nvPr/>
        </p:nvSpPr>
        <p:spPr>
          <a:xfrm>
            <a:off x="731520" y="390906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009FC2"/>
                </a:solidFill>
                <a:latin typeface="DM Sans"/>
              </a:rPr>
              <a:t>6</a:t>
            </a:r>
          </a:p>
        </p:txBody>
      </p:sp>
      <p:sp>
        <p:nvSpPr>
          <p:cNvPr id="26" name="Premissa 6">
            <a:extLst>
              <a:ext uri="{FF2B5EF4-FFF2-40B4-BE49-F238E27FC236}">
                <a16:creationId xmlns:a16="http://schemas.microsoft.com/office/drawing/2014/main" id="{1284D406-7A88-5FDD-B47E-505A8119356F}"/>
              </a:ext>
            </a:extLst>
          </p:cNvPr>
          <p:cNvSpPr txBox="1"/>
          <p:nvPr/>
        </p:nvSpPr>
        <p:spPr>
          <a:xfrm>
            <a:off x="1143000" y="3890772"/>
            <a:ext cx="598932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4D4D4D"/>
                </a:solidFill>
                <a:latin typeface="DM Sans"/>
              </a:rPr>
              <a:t>Cumprimento do prazo de 10 dias corridos para análise da documentação de colaboradores terceiros pelo SESMT ETO.</a:t>
            </a:r>
          </a:p>
        </p:txBody>
      </p:sp>
      <p:sp>
        <p:nvSpPr>
          <p:cNvPr id="27" name="Premissa 7 – nº">
            <a:extLst>
              <a:ext uri="{FF2B5EF4-FFF2-40B4-BE49-F238E27FC236}">
                <a16:creationId xmlns:a16="http://schemas.microsoft.com/office/drawing/2014/main" id="{5ED2610B-049C-4FD4-5D41-7FE5E17469CF}"/>
              </a:ext>
            </a:extLst>
          </p:cNvPr>
          <p:cNvSpPr/>
          <p:nvPr/>
        </p:nvSpPr>
        <p:spPr>
          <a:xfrm>
            <a:off x="731520" y="4270248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9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Premissa 7 – nº texto">
            <a:extLst>
              <a:ext uri="{FF2B5EF4-FFF2-40B4-BE49-F238E27FC236}">
                <a16:creationId xmlns:a16="http://schemas.microsoft.com/office/drawing/2014/main" id="{1BC8035C-29A2-30A2-ACCE-F2C352CBEB93}"/>
              </a:ext>
            </a:extLst>
          </p:cNvPr>
          <p:cNvSpPr txBox="1"/>
          <p:nvPr/>
        </p:nvSpPr>
        <p:spPr>
          <a:xfrm>
            <a:off x="731520" y="427024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009FC2"/>
                </a:solidFill>
                <a:latin typeface="DM Sans"/>
              </a:rPr>
              <a:t>7</a:t>
            </a:r>
          </a:p>
        </p:txBody>
      </p:sp>
      <p:sp>
        <p:nvSpPr>
          <p:cNvPr id="29" name="Premissa 7">
            <a:extLst>
              <a:ext uri="{FF2B5EF4-FFF2-40B4-BE49-F238E27FC236}">
                <a16:creationId xmlns:a16="http://schemas.microsoft.com/office/drawing/2014/main" id="{F0FEBDA2-BDB1-A555-3AA0-EABAB5B7EADB}"/>
              </a:ext>
            </a:extLst>
          </p:cNvPr>
          <p:cNvSpPr txBox="1"/>
          <p:nvPr/>
        </p:nvSpPr>
        <p:spPr>
          <a:xfrm>
            <a:off x="1143000" y="4251960"/>
            <a:ext cx="598932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4D4D4D"/>
                </a:solidFill>
                <a:latin typeface="DM Sans"/>
              </a:rPr>
              <a:t>Manutenção do escopo do projeto, sem inclusão de serviços não previstos inicialmente.</a:t>
            </a:r>
          </a:p>
        </p:txBody>
      </p:sp>
      <p:sp>
        <p:nvSpPr>
          <p:cNvPr id="30" name="Premissa 8 – nº">
            <a:extLst>
              <a:ext uri="{FF2B5EF4-FFF2-40B4-BE49-F238E27FC236}">
                <a16:creationId xmlns:a16="http://schemas.microsoft.com/office/drawing/2014/main" id="{F4E74FAB-7009-C1E9-93CB-3E7893EA1A53}"/>
              </a:ext>
            </a:extLst>
          </p:cNvPr>
          <p:cNvSpPr/>
          <p:nvPr/>
        </p:nvSpPr>
        <p:spPr>
          <a:xfrm>
            <a:off x="731520" y="4631436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9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Premissa 8 – nº texto">
            <a:extLst>
              <a:ext uri="{FF2B5EF4-FFF2-40B4-BE49-F238E27FC236}">
                <a16:creationId xmlns:a16="http://schemas.microsoft.com/office/drawing/2014/main" id="{8A286EBD-098D-D854-4DEB-82829F2F1A64}"/>
              </a:ext>
            </a:extLst>
          </p:cNvPr>
          <p:cNvSpPr txBox="1"/>
          <p:nvPr/>
        </p:nvSpPr>
        <p:spPr>
          <a:xfrm>
            <a:off x="731520" y="463143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009FC2"/>
                </a:solidFill>
                <a:latin typeface="DM Sans"/>
              </a:rPr>
              <a:t>8</a:t>
            </a:r>
          </a:p>
        </p:txBody>
      </p:sp>
      <p:sp>
        <p:nvSpPr>
          <p:cNvPr id="32" name="Premissa 8">
            <a:extLst>
              <a:ext uri="{FF2B5EF4-FFF2-40B4-BE49-F238E27FC236}">
                <a16:creationId xmlns:a16="http://schemas.microsoft.com/office/drawing/2014/main" id="{E12162C8-D0C2-615D-894E-8C45237A2BB3}"/>
              </a:ext>
            </a:extLst>
          </p:cNvPr>
          <p:cNvSpPr txBox="1"/>
          <p:nvPr/>
        </p:nvSpPr>
        <p:spPr>
          <a:xfrm>
            <a:off x="1143000" y="4613148"/>
            <a:ext cx="598932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4D4D4D"/>
                </a:solidFill>
                <a:latin typeface="DM Sans"/>
              </a:rPr>
              <a:t>Ausência de acidentes de trabalho que ocasionem paralisação das atividades.</a:t>
            </a:r>
          </a:p>
        </p:txBody>
      </p:sp>
      <p:sp>
        <p:nvSpPr>
          <p:cNvPr id="33" name="Premissa 9 – nº">
            <a:extLst>
              <a:ext uri="{FF2B5EF4-FFF2-40B4-BE49-F238E27FC236}">
                <a16:creationId xmlns:a16="http://schemas.microsoft.com/office/drawing/2014/main" id="{C2FD9C06-6212-F996-9250-06E1F15FB8AC}"/>
              </a:ext>
            </a:extLst>
          </p:cNvPr>
          <p:cNvSpPr/>
          <p:nvPr/>
        </p:nvSpPr>
        <p:spPr>
          <a:xfrm>
            <a:off x="731520" y="4992623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9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Premissa 9 – nº texto">
            <a:extLst>
              <a:ext uri="{FF2B5EF4-FFF2-40B4-BE49-F238E27FC236}">
                <a16:creationId xmlns:a16="http://schemas.microsoft.com/office/drawing/2014/main" id="{5296B540-361D-AFB8-ADC4-14461EA1CBED}"/>
              </a:ext>
            </a:extLst>
          </p:cNvPr>
          <p:cNvSpPr txBox="1"/>
          <p:nvPr/>
        </p:nvSpPr>
        <p:spPr>
          <a:xfrm>
            <a:off x="731520" y="4992623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009FC2"/>
                </a:solidFill>
                <a:latin typeface="DM Sans"/>
              </a:rPr>
              <a:t>9</a:t>
            </a:r>
          </a:p>
        </p:txBody>
      </p:sp>
      <p:sp>
        <p:nvSpPr>
          <p:cNvPr id="35" name="Premissa 9">
            <a:extLst>
              <a:ext uri="{FF2B5EF4-FFF2-40B4-BE49-F238E27FC236}">
                <a16:creationId xmlns:a16="http://schemas.microsoft.com/office/drawing/2014/main" id="{8C7D109F-5B69-DB11-BB2E-46A8C92ADECF}"/>
              </a:ext>
            </a:extLst>
          </p:cNvPr>
          <p:cNvSpPr txBox="1"/>
          <p:nvPr/>
        </p:nvSpPr>
        <p:spPr>
          <a:xfrm>
            <a:off x="1143000" y="4974336"/>
            <a:ext cx="598932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4D4D4D"/>
                </a:solidFill>
                <a:latin typeface="DM Sans"/>
              </a:rPr>
              <a:t>EPS atender a todos os procedimentos de segurança e às ITs.</a:t>
            </a:r>
          </a:p>
        </p:txBody>
      </p:sp>
      <p:sp>
        <p:nvSpPr>
          <p:cNvPr id="36" name="Premissa 10 – nº">
            <a:extLst>
              <a:ext uri="{FF2B5EF4-FFF2-40B4-BE49-F238E27FC236}">
                <a16:creationId xmlns:a16="http://schemas.microsoft.com/office/drawing/2014/main" id="{AE4FEF8C-2AAE-D12F-D6E3-4765CDDF407E}"/>
              </a:ext>
            </a:extLst>
          </p:cNvPr>
          <p:cNvSpPr/>
          <p:nvPr/>
        </p:nvSpPr>
        <p:spPr>
          <a:xfrm>
            <a:off x="731520" y="5353811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9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Premissa 10 – nº texto">
            <a:extLst>
              <a:ext uri="{FF2B5EF4-FFF2-40B4-BE49-F238E27FC236}">
                <a16:creationId xmlns:a16="http://schemas.microsoft.com/office/drawing/2014/main" id="{B0A57933-8288-BE8F-F893-2E6D6DFBBD6B}"/>
              </a:ext>
            </a:extLst>
          </p:cNvPr>
          <p:cNvSpPr txBox="1"/>
          <p:nvPr/>
        </p:nvSpPr>
        <p:spPr>
          <a:xfrm>
            <a:off x="731520" y="5353811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009FC2"/>
                </a:solidFill>
                <a:latin typeface="DM Sans"/>
              </a:rPr>
              <a:t>10</a:t>
            </a:r>
          </a:p>
        </p:txBody>
      </p:sp>
      <p:sp>
        <p:nvSpPr>
          <p:cNvPr id="38" name="Premissa 10">
            <a:extLst>
              <a:ext uri="{FF2B5EF4-FFF2-40B4-BE49-F238E27FC236}">
                <a16:creationId xmlns:a16="http://schemas.microsoft.com/office/drawing/2014/main" id="{B59F88FE-1D10-AE7A-5B4F-FFBBDFF99F29}"/>
              </a:ext>
            </a:extLst>
          </p:cNvPr>
          <p:cNvSpPr txBox="1"/>
          <p:nvPr/>
        </p:nvSpPr>
        <p:spPr>
          <a:xfrm>
            <a:off x="1143000" y="5335523"/>
            <a:ext cx="598932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4D4D4D"/>
                </a:solidFill>
                <a:latin typeface="DM Sans"/>
              </a:rPr>
              <a:t>Recebimento de materiais e equipamentos conforme datas previstas na WBS, com alta assertividade no forecast financeiro.</a:t>
            </a:r>
          </a:p>
        </p:txBody>
      </p:sp>
      <p:sp>
        <p:nvSpPr>
          <p:cNvPr id="39" name="Premissa 11 – nº">
            <a:extLst>
              <a:ext uri="{FF2B5EF4-FFF2-40B4-BE49-F238E27FC236}">
                <a16:creationId xmlns:a16="http://schemas.microsoft.com/office/drawing/2014/main" id="{6C16CC5C-7345-AAAB-E828-FA263646C0CD}"/>
              </a:ext>
            </a:extLst>
          </p:cNvPr>
          <p:cNvSpPr/>
          <p:nvPr/>
        </p:nvSpPr>
        <p:spPr>
          <a:xfrm>
            <a:off x="731520" y="5714999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9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Premissa 11 – nº texto">
            <a:extLst>
              <a:ext uri="{FF2B5EF4-FFF2-40B4-BE49-F238E27FC236}">
                <a16:creationId xmlns:a16="http://schemas.microsoft.com/office/drawing/2014/main" id="{22AFE68D-F222-DAEF-FE8C-5809E5DB89D8}"/>
              </a:ext>
            </a:extLst>
          </p:cNvPr>
          <p:cNvSpPr txBox="1"/>
          <p:nvPr/>
        </p:nvSpPr>
        <p:spPr>
          <a:xfrm>
            <a:off x="731520" y="5714999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009FC2"/>
                </a:solidFill>
                <a:latin typeface="DM Sans"/>
              </a:rPr>
              <a:t>11</a:t>
            </a:r>
          </a:p>
        </p:txBody>
      </p:sp>
      <p:sp>
        <p:nvSpPr>
          <p:cNvPr id="41" name="Premissa 11">
            <a:extLst>
              <a:ext uri="{FF2B5EF4-FFF2-40B4-BE49-F238E27FC236}">
                <a16:creationId xmlns:a16="http://schemas.microsoft.com/office/drawing/2014/main" id="{139FD980-1BB7-B442-ECFA-6A6B1A88624F}"/>
              </a:ext>
            </a:extLst>
          </p:cNvPr>
          <p:cNvSpPr txBox="1"/>
          <p:nvPr/>
        </p:nvSpPr>
        <p:spPr>
          <a:xfrm>
            <a:off x="1143000" y="5696711"/>
            <a:ext cx="598932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4D4D4D"/>
                </a:solidFill>
                <a:latin typeface="DM Sans"/>
              </a:rPr>
              <a:t>Disponibilidade de equipe de Linha Viva ETO, garantindo continuidade nas atividades em áreas energizadas.</a:t>
            </a:r>
          </a:p>
        </p:txBody>
      </p:sp>
      <p:sp>
        <p:nvSpPr>
          <p:cNvPr id="42" name="Restrições – fundo">
            <a:extLst>
              <a:ext uri="{FF2B5EF4-FFF2-40B4-BE49-F238E27FC236}">
                <a16:creationId xmlns:a16="http://schemas.microsoft.com/office/drawing/2014/main" id="{7AEB1B0D-D48B-7F79-9449-A98F28083915}"/>
              </a:ext>
            </a:extLst>
          </p:cNvPr>
          <p:cNvSpPr/>
          <p:nvPr/>
        </p:nvSpPr>
        <p:spPr>
          <a:xfrm>
            <a:off x="7589520" y="1371600"/>
            <a:ext cx="4144975" cy="2377440"/>
          </a:xfrm>
          <a:prstGeom prst="roundRect">
            <a:avLst>
              <a:gd name="adj" fmla="val 7000"/>
            </a:avLst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Badge lock">
            <a:extLst>
              <a:ext uri="{FF2B5EF4-FFF2-40B4-BE49-F238E27FC236}">
                <a16:creationId xmlns:a16="http://schemas.microsoft.com/office/drawing/2014/main" id="{4AC73F76-8B55-743B-6213-1D0CC062F801}"/>
              </a:ext>
            </a:extLst>
          </p:cNvPr>
          <p:cNvSpPr/>
          <p:nvPr/>
        </p:nvSpPr>
        <p:spPr>
          <a:xfrm>
            <a:off x="7863840" y="1572768"/>
            <a:ext cx="384048" cy="384048"/>
          </a:xfrm>
          <a:prstGeom prst="ellipse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Ícone lock" descr="lock_white.png">
            <a:extLst>
              <a:ext uri="{FF2B5EF4-FFF2-40B4-BE49-F238E27FC236}">
                <a16:creationId xmlns:a16="http://schemas.microsoft.com/office/drawing/2014/main" id="{6AD75AF9-9AB2-15BA-CA1A-0DB280AA80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9852" y="1668780"/>
            <a:ext cx="192024" cy="192024"/>
          </a:xfrm>
          <a:prstGeom prst="rect">
            <a:avLst/>
          </a:prstGeom>
        </p:spPr>
      </p:pic>
      <p:sp>
        <p:nvSpPr>
          <p:cNvPr id="45" name="Restrições lista">
            <a:extLst>
              <a:ext uri="{FF2B5EF4-FFF2-40B4-BE49-F238E27FC236}">
                <a16:creationId xmlns:a16="http://schemas.microsoft.com/office/drawing/2014/main" id="{DDDDFFB4-94D0-80A6-C89E-F2F20E475045}"/>
              </a:ext>
            </a:extLst>
          </p:cNvPr>
          <p:cNvSpPr txBox="1"/>
          <p:nvPr/>
        </p:nvSpPr>
        <p:spPr>
          <a:xfrm>
            <a:off x="7863840" y="2148840"/>
            <a:ext cx="3596335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19456" indent="-219456">
              <a:spcAft>
                <a:spcPts val="600"/>
              </a:spcAft>
              <a:buClr>
                <a:srgbClr val="00DBFF"/>
              </a:buClr>
              <a:buFont typeface="DM Sans"/>
              <a:buAutoNum type="arabicPeriod"/>
            </a:pPr>
            <a:r>
              <a:rPr sz="1100" b="0" i="0">
                <a:solidFill>
                  <a:srgbClr val="FFFFFF"/>
                </a:solidFill>
                <a:latin typeface="DM Sans"/>
              </a:rPr>
              <a:t>Iniciar a obra somente após assinatura do contrato de prestação de serviços com a empreiteira executora.</a:t>
            </a:r>
          </a:p>
          <a:p>
            <a:pPr marL="219456" indent="-219456">
              <a:spcAft>
                <a:spcPts val="600"/>
              </a:spcAft>
              <a:buClr>
                <a:srgbClr val="00DBFF"/>
              </a:buClr>
              <a:buFont typeface="DM Sans"/>
              <a:buAutoNum type="arabicPeriod"/>
            </a:pPr>
            <a:r>
              <a:rPr sz="1100" b="0" i="0">
                <a:solidFill>
                  <a:srgbClr val="FFFFFF"/>
                </a:solidFill>
                <a:latin typeface="DM Sans"/>
              </a:rPr>
              <a:t>Encerramento contábil somente após fiscalização da Gestão de Ativos.</a:t>
            </a:r>
          </a:p>
          <a:p>
            <a:pPr marL="219456" indent="-219456">
              <a:spcAft>
                <a:spcPts val="600"/>
              </a:spcAft>
              <a:buClr>
                <a:srgbClr val="00DBFF"/>
              </a:buClr>
              <a:buFont typeface="DM Sans"/>
              <a:buAutoNum type="arabicPeriod"/>
            </a:pPr>
            <a:r>
              <a:rPr sz="1100" b="0" i="0">
                <a:solidFill>
                  <a:srgbClr val="FFFFFF"/>
                </a:solidFill>
                <a:latin typeface="DM Sans"/>
              </a:rPr>
              <a:t>Encerramento contábil até, no máximo, 17/11/2027.</a:t>
            </a:r>
          </a:p>
          <a:p>
            <a:pPr marL="219456" indent="-219456">
              <a:spcAft>
                <a:spcPts val="600"/>
              </a:spcAft>
              <a:buClr>
                <a:srgbClr val="00DBFF"/>
              </a:buClr>
              <a:buFont typeface="DM Sans"/>
              <a:buAutoNum type="arabicPeriod"/>
            </a:pPr>
            <a:r>
              <a:rPr sz="1100" b="0" i="0">
                <a:solidFill>
                  <a:srgbClr val="FFFFFF"/>
                </a:solidFill>
                <a:latin typeface="DM Sans"/>
              </a:rPr>
              <a:t>Energização até o mês-meta do TM (abr a ago/27).</a:t>
            </a:r>
          </a:p>
        </p:txBody>
      </p:sp>
      <p:sp>
        <p:nvSpPr>
          <p:cNvPr id="46" name="Penalidades – fundo">
            <a:extLst>
              <a:ext uri="{FF2B5EF4-FFF2-40B4-BE49-F238E27FC236}">
                <a16:creationId xmlns:a16="http://schemas.microsoft.com/office/drawing/2014/main" id="{8F31998F-6B35-3169-F48C-CD21A09844A7}"/>
              </a:ext>
            </a:extLst>
          </p:cNvPr>
          <p:cNvSpPr/>
          <p:nvPr/>
        </p:nvSpPr>
        <p:spPr>
          <a:xfrm>
            <a:off x="7589520" y="3977639"/>
            <a:ext cx="4144975" cy="2194560"/>
          </a:xfrm>
          <a:prstGeom prst="roundRect">
            <a:avLst>
              <a:gd name="adj" fmla="val 7000"/>
            </a:avLst>
          </a:prstGeom>
          <a:solidFill>
            <a:srgbClr val="F3F5F8"/>
          </a:solidFill>
          <a:ln w="12700">
            <a:solidFill>
              <a:srgbClr val="F47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Badge gavel">
            <a:extLst>
              <a:ext uri="{FF2B5EF4-FFF2-40B4-BE49-F238E27FC236}">
                <a16:creationId xmlns:a16="http://schemas.microsoft.com/office/drawing/2014/main" id="{6676DB65-E47A-A755-1A60-D7A4C31FB9E8}"/>
              </a:ext>
            </a:extLst>
          </p:cNvPr>
          <p:cNvSpPr/>
          <p:nvPr/>
        </p:nvSpPr>
        <p:spPr>
          <a:xfrm>
            <a:off x="7863840" y="4178807"/>
            <a:ext cx="384048" cy="384048"/>
          </a:xfrm>
          <a:prstGeom prst="ellipse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8" name="Ícone gavel" descr="gavel_white.png">
            <a:extLst>
              <a:ext uri="{FF2B5EF4-FFF2-40B4-BE49-F238E27FC236}">
                <a16:creationId xmlns:a16="http://schemas.microsoft.com/office/drawing/2014/main" id="{6B9EADB7-3CDB-5D71-53AA-6AC5DE16A3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9852" y="4274820"/>
            <a:ext cx="192024" cy="192024"/>
          </a:xfrm>
          <a:prstGeom prst="rect">
            <a:avLst/>
          </a:prstGeom>
        </p:spPr>
      </p:pic>
      <p:sp>
        <p:nvSpPr>
          <p:cNvPr id="49" name="Penalidades lista">
            <a:extLst>
              <a:ext uri="{FF2B5EF4-FFF2-40B4-BE49-F238E27FC236}">
                <a16:creationId xmlns:a16="http://schemas.microsoft.com/office/drawing/2014/main" id="{27A68997-AFD0-5AE2-184A-20FF744EFA34}"/>
              </a:ext>
            </a:extLst>
          </p:cNvPr>
          <p:cNvSpPr txBox="1"/>
          <p:nvPr/>
        </p:nvSpPr>
        <p:spPr>
          <a:xfrm>
            <a:off x="7863840" y="4754879"/>
            <a:ext cx="3596335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19456" indent="-219456">
              <a:spcAft>
                <a:spcPts val="600"/>
              </a:spcAft>
              <a:buClr>
                <a:srgbClr val="F47B20"/>
              </a:buClr>
              <a:buFont typeface="DM Sans"/>
              <a:buAutoNum type="arabicPeriod"/>
            </a:pPr>
            <a:r>
              <a:rPr sz="1100" b="0" i="0" err="1">
                <a:solidFill>
                  <a:srgbClr val="4D4D4D"/>
                </a:solidFill>
                <a:latin typeface="DM Sans"/>
              </a:rPr>
              <a:t>Aplicação</a:t>
            </a:r>
            <a:r>
              <a:rPr sz="1100" b="0" i="0">
                <a:solidFill>
                  <a:srgbClr val="4D4D4D"/>
                </a:solidFill>
                <a:latin typeface="DM Sans"/>
              </a:rPr>
              <a:t> de </a:t>
            </a:r>
            <a:r>
              <a:rPr sz="1100" b="0" i="0" err="1">
                <a:solidFill>
                  <a:srgbClr val="4D4D4D"/>
                </a:solidFill>
                <a:latin typeface="DM Sans"/>
              </a:rPr>
              <a:t>multa</a:t>
            </a:r>
            <a:r>
              <a:rPr sz="1100" b="0" i="0">
                <a:solidFill>
                  <a:srgbClr val="4D4D4D"/>
                </a:solidFill>
                <a:latin typeface="DM Sans"/>
              </a:rPr>
              <a:t> </a:t>
            </a:r>
            <a:r>
              <a:rPr sz="1100" b="0" i="0" err="1">
                <a:solidFill>
                  <a:srgbClr val="4D4D4D"/>
                </a:solidFill>
                <a:latin typeface="DM Sans"/>
              </a:rPr>
              <a:t>às</a:t>
            </a:r>
            <a:r>
              <a:rPr sz="1100" b="0" i="0">
                <a:solidFill>
                  <a:srgbClr val="4D4D4D"/>
                </a:solidFill>
                <a:latin typeface="DM Sans"/>
              </a:rPr>
              <a:t> </a:t>
            </a:r>
            <a:r>
              <a:rPr sz="1100" b="0" i="0" err="1">
                <a:solidFill>
                  <a:srgbClr val="4D4D4D"/>
                </a:solidFill>
                <a:latin typeface="DM Sans"/>
              </a:rPr>
              <a:t>prestadoras</a:t>
            </a:r>
            <a:r>
              <a:rPr sz="1100" b="0" i="0">
                <a:solidFill>
                  <a:srgbClr val="4D4D4D"/>
                </a:solidFill>
                <a:latin typeface="DM Sans"/>
              </a:rPr>
              <a:t> de </a:t>
            </a:r>
            <a:r>
              <a:rPr sz="1100" b="0" i="0" err="1">
                <a:solidFill>
                  <a:srgbClr val="4D4D4D"/>
                </a:solidFill>
                <a:latin typeface="DM Sans"/>
              </a:rPr>
              <a:t>serviço</a:t>
            </a:r>
            <a:r>
              <a:rPr sz="1100" b="0" i="0">
                <a:solidFill>
                  <a:srgbClr val="4D4D4D"/>
                </a:solidFill>
                <a:latin typeface="DM Sans"/>
              </a:rPr>
              <a:t> e </a:t>
            </a:r>
            <a:r>
              <a:rPr sz="1100" b="0" i="0" err="1">
                <a:solidFill>
                  <a:srgbClr val="4D4D4D"/>
                </a:solidFill>
                <a:latin typeface="DM Sans"/>
              </a:rPr>
              <a:t>fornecedores</a:t>
            </a:r>
            <a:r>
              <a:rPr sz="1100" b="0" i="0">
                <a:solidFill>
                  <a:srgbClr val="4D4D4D"/>
                </a:solidFill>
                <a:latin typeface="DM Sans"/>
              </a:rPr>
              <a:t>, após </a:t>
            </a:r>
            <a:r>
              <a:rPr sz="1100" b="0" i="0" err="1">
                <a:solidFill>
                  <a:srgbClr val="4D4D4D"/>
                </a:solidFill>
                <a:latin typeface="DM Sans"/>
              </a:rPr>
              <a:t>notificação</a:t>
            </a:r>
            <a:r>
              <a:rPr sz="1100" b="0" i="0">
                <a:solidFill>
                  <a:srgbClr val="4D4D4D"/>
                </a:solidFill>
                <a:latin typeface="DM Sans"/>
              </a:rPr>
              <a:t>, em </a:t>
            </a:r>
            <a:r>
              <a:rPr sz="1100" b="0" i="0" err="1">
                <a:solidFill>
                  <a:srgbClr val="4D4D4D"/>
                </a:solidFill>
                <a:latin typeface="DM Sans"/>
              </a:rPr>
              <a:t>caso</a:t>
            </a:r>
            <a:r>
              <a:rPr sz="1100" b="0" i="0">
                <a:solidFill>
                  <a:srgbClr val="4D4D4D"/>
                </a:solidFill>
                <a:latin typeface="DM Sans"/>
              </a:rPr>
              <a:t> de </a:t>
            </a:r>
            <a:r>
              <a:rPr sz="1100" b="0" i="0" err="1">
                <a:solidFill>
                  <a:srgbClr val="4D4D4D"/>
                </a:solidFill>
                <a:latin typeface="DM Sans"/>
              </a:rPr>
              <a:t>descumprimento</a:t>
            </a:r>
            <a:r>
              <a:rPr sz="1100" b="0" i="0">
                <a:solidFill>
                  <a:srgbClr val="4D4D4D"/>
                </a:solidFill>
                <a:latin typeface="DM Sans"/>
              </a:rPr>
              <a:t> do </a:t>
            </a:r>
            <a:r>
              <a:rPr sz="1100" b="0" i="0" err="1">
                <a:solidFill>
                  <a:srgbClr val="4D4D4D"/>
                </a:solidFill>
                <a:latin typeface="DM Sans"/>
              </a:rPr>
              <a:t>contrato</a:t>
            </a:r>
            <a:r>
              <a:rPr sz="1100" b="0" i="0">
                <a:solidFill>
                  <a:srgbClr val="4D4D4D"/>
                </a:solidFill>
                <a:latin typeface="DM Sans"/>
              </a:rPr>
              <a:t>.</a:t>
            </a:r>
          </a:p>
          <a:p>
            <a:pPr marL="219456" indent="-219456">
              <a:spcAft>
                <a:spcPts val="600"/>
              </a:spcAft>
              <a:buClr>
                <a:srgbClr val="F47B20"/>
              </a:buClr>
              <a:buFont typeface="DM Sans"/>
              <a:buAutoNum type="arabicPeriod"/>
            </a:pPr>
            <a:r>
              <a:rPr sz="1100" b="0" i="0">
                <a:solidFill>
                  <a:srgbClr val="4D4D4D"/>
                </a:solidFill>
                <a:latin typeface="DM Sans"/>
              </a:rPr>
              <a:t>Não </a:t>
            </a:r>
            <a:r>
              <a:rPr sz="1100" b="0" i="0" err="1">
                <a:solidFill>
                  <a:srgbClr val="4D4D4D"/>
                </a:solidFill>
                <a:latin typeface="DM Sans"/>
              </a:rPr>
              <a:t>atingimento</a:t>
            </a:r>
            <a:r>
              <a:rPr sz="1100" b="0" i="0">
                <a:solidFill>
                  <a:srgbClr val="4D4D4D"/>
                </a:solidFill>
                <a:latin typeface="DM Sans"/>
              </a:rPr>
              <a:t> do </a:t>
            </a:r>
            <a:r>
              <a:rPr sz="1100" b="0" i="0" err="1">
                <a:solidFill>
                  <a:srgbClr val="4D4D4D"/>
                </a:solidFill>
                <a:latin typeface="DM Sans"/>
              </a:rPr>
              <a:t>benefício</a:t>
            </a:r>
            <a:r>
              <a:rPr sz="1100" b="0" i="0">
                <a:solidFill>
                  <a:srgbClr val="4D4D4D"/>
                </a:solidFill>
                <a:latin typeface="DM Sans"/>
              </a:rPr>
              <a:t> </a:t>
            </a:r>
            <a:r>
              <a:rPr sz="1100" b="0" i="0" err="1">
                <a:solidFill>
                  <a:srgbClr val="4D4D4D"/>
                </a:solidFill>
                <a:latin typeface="DM Sans"/>
              </a:rPr>
              <a:t>esperado</a:t>
            </a:r>
            <a:r>
              <a:rPr sz="1100" b="0" i="0">
                <a:solidFill>
                  <a:srgbClr val="4D4D4D"/>
                </a:solidFill>
                <a:latin typeface="DM Sans"/>
              </a:rPr>
              <a:t> pela </a:t>
            </a:r>
            <a:r>
              <a:rPr sz="1100" b="0" i="0" err="1">
                <a:solidFill>
                  <a:srgbClr val="4D4D4D"/>
                </a:solidFill>
                <a:latin typeface="DM Sans"/>
              </a:rPr>
              <a:t>unidade</a:t>
            </a:r>
            <a:r>
              <a:rPr sz="1100" b="0" i="0">
                <a:solidFill>
                  <a:srgbClr val="4D4D4D"/>
                </a:solidFill>
                <a:latin typeface="DM Sans"/>
              </a:rPr>
              <a:t>.</a:t>
            </a:r>
          </a:p>
        </p:txBody>
      </p:sp>
      <p:sp>
        <p:nvSpPr>
          <p:cNvPr id="51" name="Eyebrow">
            <a:extLst>
              <a:ext uri="{FF2B5EF4-FFF2-40B4-BE49-F238E27FC236}">
                <a16:creationId xmlns:a16="http://schemas.microsoft.com/office/drawing/2014/main" id="{57A5C123-FC7F-9DB0-067A-7896B2CC5CEA}"/>
              </a:ext>
            </a:extLst>
          </p:cNvPr>
          <p:cNvSpPr txBox="1"/>
          <p:nvPr/>
        </p:nvSpPr>
        <p:spPr>
          <a:xfrm>
            <a:off x="457200" y="347472"/>
            <a:ext cx="7315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F47B20"/>
                </a:solidFill>
                <a:latin typeface="DM Sans"/>
              </a:rPr>
              <a:t>KICKOFF MEETING</a:t>
            </a:r>
            <a:r>
              <a:rPr sz="1100" b="1" i="0" spc="150">
                <a:solidFill>
                  <a:srgbClr val="989898"/>
                </a:solidFill>
                <a:latin typeface="DM Sans"/>
              </a:rPr>
              <a:t>   |   PN 2027 · 12 SIGCOs</a:t>
            </a:r>
            <a:endParaRPr sz="1100" b="1" i="0" spc="150">
              <a:solidFill>
                <a:srgbClr val="989898"/>
              </a:solidFill>
              <a:latin typeface="DM Sans"/>
            </a:endParaRPr>
          </a:p>
        </p:txBody>
      </p:sp>
      <p:sp>
        <p:nvSpPr>
          <p:cNvPr id="57" name="Título Premissas">
            <a:extLst>
              <a:ext uri="{FF2B5EF4-FFF2-40B4-BE49-F238E27FC236}">
                <a16:creationId xmlns:a16="http://schemas.microsoft.com/office/drawing/2014/main" id="{4178120F-E349-5A6B-8708-756E18C942A4}"/>
              </a:ext>
            </a:extLst>
          </p:cNvPr>
          <p:cNvSpPr txBox="1"/>
          <p:nvPr/>
        </p:nvSpPr>
        <p:spPr>
          <a:xfrm>
            <a:off x="8343900" y="4292215"/>
            <a:ext cx="457200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200" b="1" spc="80">
                <a:solidFill>
                  <a:srgbClr val="1F1F4C"/>
                </a:solidFill>
                <a:latin typeface="DM Sans"/>
              </a:rPr>
              <a:t>PENALIDADES</a:t>
            </a:r>
            <a:endParaRPr sz="1200" b="1" i="0" spc="80">
              <a:solidFill>
                <a:srgbClr val="1F1F4C"/>
              </a:solidFill>
              <a:latin typeface="DM Sans"/>
            </a:endParaRPr>
          </a:p>
        </p:txBody>
      </p:sp>
      <p:sp>
        <p:nvSpPr>
          <p:cNvPr id="59" name="Título Premissas">
            <a:extLst>
              <a:ext uri="{FF2B5EF4-FFF2-40B4-BE49-F238E27FC236}">
                <a16:creationId xmlns:a16="http://schemas.microsoft.com/office/drawing/2014/main" id="{76DF6AAB-AB4C-4D83-ACDD-EB56789B7D6F}"/>
              </a:ext>
            </a:extLst>
          </p:cNvPr>
          <p:cNvSpPr txBox="1"/>
          <p:nvPr/>
        </p:nvSpPr>
        <p:spPr>
          <a:xfrm>
            <a:off x="8410575" y="1681698"/>
            <a:ext cx="457200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200" b="1" spc="80">
                <a:solidFill>
                  <a:schemeClr val="bg1"/>
                </a:solidFill>
                <a:latin typeface="DM Sans"/>
              </a:rPr>
              <a:t>RESTRIÇÕES</a:t>
            </a:r>
            <a:endParaRPr sz="1200" b="1" i="0" spc="80">
              <a:solidFill>
                <a:schemeClr val="bg1"/>
              </a:solidFill>
              <a:latin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772740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073C3E49-823F-34B0-1428-10D6FD755195}"/>
              </a:ext>
            </a:extLst>
          </p:cNvPr>
          <p:cNvSpPr txBox="1">
            <a:spLocks/>
          </p:cNvSpPr>
          <p:nvPr/>
        </p:nvSpPr>
        <p:spPr>
          <a:xfrm>
            <a:off x="457200" y="566928"/>
            <a:ext cx="9144000" cy="566928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000" b="1">
                <a:solidFill>
                  <a:srgbClr val="1F1F4C"/>
                </a:solidFill>
                <a:latin typeface="DM Sans"/>
              </a:rPr>
              <a:t>Principais Riscos do Projeto</a:t>
            </a:r>
          </a:p>
        </p:txBody>
      </p:sp>
      <p:sp>
        <p:nvSpPr>
          <p:cNvPr id="5" name="Canto – esfera">
            <a:extLst>
              <a:ext uri="{FF2B5EF4-FFF2-40B4-BE49-F238E27FC236}">
                <a16:creationId xmlns:a16="http://schemas.microsoft.com/office/drawing/2014/main" id="{9C4FE39E-B17F-49F5-B9C3-FB4650F3F906}"/>
              </a:ext>
            </a:extLst>
          </p:cNvPr>
          <p:cNvSpPr/>
          <p:nvPr/>
        </p:nvSpPr>
        <p:spPr>
          <a:xfrm>
            <a:off x="11750040" y="320040"/>
            <a:ext cx="822960" cy="822960"/>
          </a:xfrm>
          <a:prstGeom prst="ellipse">
            <a:avLst/>
          </a:prstGeom>
          <a:gradFill rotWithShape="1">
            <a:gsLst>
              <a:gs pos="0">
                <a:srgbClr val="009FC2"/>
              </a:gs>
              <a:gs pos="100000">
                <a:srgbClr val="B5E622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Badge alert">
            <a:extLst>
              <a:ext uri="{FF2B5EF4-FFF2-40B4-BE49-F238E27FC236}">
                <a16:creationId xmlns:a16="http://schemas.microsoft.com/office/drawing/2014/main" id="{6F9F7F4E-7062-7003-D34B-76C1F1E95D20}"/>
              </a:ext>
            </a:extLst>
          </p:cNvPr>
          <p:cNvSpPr/>
          <p:nvPr/>
        </p:nvSpPr>
        <p:spPr>
          <a:xfrm>
            <a:off x="594360" y="1298448"/>
            <a:ext cx="310896" cy="310896"/>
          </a:xfrm>
          <a:prstGeom prst="ellipse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Ícone alert" descr="alert_white.png">
            <a:extLst>
              <a:ext uri="{FF2B5EF4-FFF2-40B4-BE49-F238E27FC236}">
                <a16:creationId xmlns:a16="http://schemas.microsoft.com/office/drawing/2014/main" id="{98D33186-2FF4-B753-5473-ECB3CFB794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" y="1376172"/>
            <a:ext cx="155448" cy="155448"/>
          </a:xfrm>
          <a:prstGeom prst="rect">
            <a:avLst/>
          </a:prstGeom>
        </p:spPr>
      </p:pic>
      <p:sp>
        <p:nvSpPr>
          <p:cNvPr id="11" name="Cab Risco">
            <a:extLst>
              <a:ext uri="{FF2B5EF4-FFF2-40B4-BE49-F238E27FC236}">
                <a16:creationId xmlns:a16="http://schemas.microsoft.com/office/drawing/2014/main" id="{F5006289-02ED-947D-A8F1-8A12950996E8}"/>
              </a:ext>
            </a:extLst>
          </p:cNvPr>
          <p:cNvSpPr txBox="1"/>
          <p:nvPr/>
        </p:nvSpPr>
        <p:spPr>
          <a:xfrm>
            <a:off x="1005840" y="1298448"/>
            <a:ext cx="32918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 spc="80">
                <a:solidFill>
                  <a:srgbClr val="1F1F4C"/>
                </a:solidFill>
                <a:latin typeface="DM Sans"/>
              </a:rPr>
              <a:t>RISCO</a:t>
            </a:r>
          </a:p>
        </p:txBody>
      </p:sp>
      <p:sp>
        <p:nvSpPr>
          <p:cNvPr id="12" name="Badge shield">
            <a:extLst>
              <a:ext uri="{FF2B5EF4-FFF2-40B4-BE49-F238E27FC236}">
                <a16:creationId xmlns:a16="http://schemas.microsoft.com/office/drawing/2014/main" id="{7AA98296-EB5B-1EFE-C32B-91583FEFF819}"/>
              </a:ext>
            </a:extLst>
          </p:cNvPr>
          <p:cNvSpPr/>
          <p:nvPr/>
        </p:nvSpPr>
        <p:spPr>
          <a:xfrm>
            <a:off x="4572000" y="1298448"/>
            <a:ext cx="310896" cy="310896"/>
          </a:xfrm>
          <a:prstGeom prst="ellipse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Ícone shield" descr="shield_white.png">
            <a:extLst>
              <a:ext uri="{FF2B5EF4-FFF2-40B4-BE49-F238E27FC236}">
                <a16:creationId xmlns:a16="http://schemas.microsoft.com/office/drawing/2014/main" id="{A989290C-7300-673C-EF01-982D132099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9724" y="1376172"/>
            <a:ext cx="155448" cy="155448"/>
          </a:xfrm>
          <a:prstGeom prst="rect">
            <a:avLst/>
          </a:prstGeom>
        </p:spPr>
      </p:pic>
      <p:sp>
        <p:nvSpPr>
          <p:cNvPr id="14" name="Cab Plano atenuante">
            <a:extLst>
              <a:ext uri="{FF2B5EF4-FFF2-40B4-BE49-F238E27FC236}">
                <a16:creationId xmlns:a16="http://schemas.microsoft.com/office/drawing/2014/main" id="{C57EA16B-0AF5-E47B-B32B-57ABF4DBB566}"/>
              </a:ext>
            </a:extLst>
          </p:cNvPr>
          <p:cNvSpPr txBox="1"/>
          <p:nvPr/>
        </p:nvSpPr>
        <p:spPr>
          <a:xfrm>
            <a:off x="4983479" y="1298448"/>
            <a:ext cx="30632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 spc="80">
                <a:solidFill>
                  <a:srgbClr val="1F1F4C"/>
                </a:solidFill>
                <a:latin typeface="DM Sans"/>
              </a:rPr>
              <a:t>PLANO ATENUANTE</a:t>
            </a:r>
          </a:p>
        </p:txBody>
      </p:sp>
      <p:sp>
        <p:nvSpPr>
          <p:cNvPr id="15" name="Badge life">
            <a:extLst>
              <a:ext uri="{FF2B5EF4-FFF2-40B4-BE49-F238E27FC236}">
                <a16:creationId xmlns:a16="http://schemas.microsoft.com/office/drawing/2014/main" id="{381D5181-AB06-30A4-1ED9-9C00E4242710}"/>
              </a:ext>
            </a:extLst>
          </p:cNvPr>
          <p:cNvSpPr/>
          <p:nvPr/>
        </p:nvSpPr>
        <p:spPr>
          <a:xfrm>
            <a:off x="8321040" y="1298448"/>
            <a:ext cx="310896" cy="310896"/>
          </a:xfrm>
          <a:prstGeom prst="ellipse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Ícone life" descr="life_white.png">
            <a:extLst>
              <a:ext uri="{FF2B5EF4-FFF2-40B4-BE49-F238E27FC236}">
                <a16:creationId xmlns:a16="http://schemas.microsoft.com/office/drawing/2014/main" id="{B021BBD6-1929-F269-317D-13C9361537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8764" y="1376172"/>
            <a:ext cx="155448" cy="155448"/>
          </a:xfrm>
          <a:prstGeom prst="rect">
            <a:avLst/>
          </a:prstGeom>
        </p:spPr>
      </p:pic>
      <p:sp>
        <p:nvSpPr>
          <p:cNvPr id="17" name="Cab Plano de contingência">
            <a:extLst>
              <a:ext uri="{FF2B5EF4-FFF2-40B4-BE49-F238E27FC236}">
                <a16:creationId xmlns:a16="http://schemas.microsoft.com/office/drawing/2014/main" id="{FC31A474-6CE7-87C5-7C60-EA94B6B6A416}"/>
              </a:ext>
            </a:extLst>
          </p:cNvPr>
          <p:cNvSpPr txBox="1"/>
          <p:nvPr/>
        </p:nvSpPr>
        <p:spPr>
          <a:xfrm>
            <a:off x="8732519" y="1298448"/>
            <a:ext cx="299923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 spc="80">
                <a:solidFill>
                  <a:srgbClr val="1F1F4C"/>
                </a:solidFill>
                <a:latin typeface="DM Sans"/>
              </a:rPr>
              <a:t>PLANO DE CONTINGÊNCIA</a:t>
            </a:r>
          </a:p>
        </p:txBody>
      </p:sp>
      <p:sp>
        <p:nvSpPr>
          <p:cNvPr id="18" name="Risco 1 – fundo">
            <a:extLst>
              <a:ext uri="{FF2B5EF4-FFF2-40B4-BE49-F238E27FC236}">
                <a16:creationId xmlns:a16="http://schemas.microsoft.com/office/drawing/2014/main" id="{DD4780C5-3D01-8397-E72B-F229D3164AFB}"/>
              </a:ext>
            </a:extLst>
          </p:cNvPr>
          <p:cNvSpPr/>
          <p:nvPr/>
        </p:nvSpPr>
        <p:spPr>
          <a:xfrm>
            <a:off x="457200" y="1755648"/>
            <a:ext cx="11277295" cy="676656"/>
          </a:xfrm>
          <a:prstGeom prst="roundRect">
            <a:avLst>
              <a:gd name="adj" fmla="val 14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isco 1 – nº">
            <a:extLst>
              <a:ext uri="{FF2B5EF4-FFF2-40B4-BE49-F238E27FC236}">
                <a16:creationId xmlns:a16="http://schemas.microsoft.com/office/drawing/2014/main" id="{DD5EAF01-2F0B-3208-330E-322045312BF1}"/>
              </a:ext>
            </a:extLst>
          </p:cNvPr>
          <p:cNvSpPr/>
          <p:nvPr/>
        </p:nvSpPr>
        <p:spPr>
          <a:xfrm>
            <a:off x="612648" y="1901952"/>
            <a:ext cx="384048" cy="384048"/>
          </a:xfrm>
          <a:prstGeom prst="ellipse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isco 1 – nº texto">
            <a:extLst>
              <a:ext uri="{FF2B5EF4-FFF2-40B4-BE49-F238E27FC236}">
                <a16:creationId xmlns:a16="http://schemas.microsoft.com/office/drawing/2014/main" id="{5DAFEE27-936D-6894-A915-636A1E3BFD5A}"/>
              </a:ext>
            </a:extLst>
          </p:cNvPr>
          <p:cNvSpPr txBox="1"/>
          <p:nvPr/>
        </p:nvSpPr>
        <p:spPr>
          <a:xfrm>
            <a:off x="612648" y="190195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DM Sans"/>
              </a:rPr>
              <a:t>1</a:t>
            </a:r>
          </a:p>
        </p:txBody>
      </p:sp>
      <p:sp>
        <p:nvSpPr>
          <p:cNvPr id="21" name="Risco 1 – título">
            <a:extLst>
              <a:ext uri="{FF2B5EF4-FFF2-40B4-BE49-F238E27FC236}">
                <a16:creationId xmlns:a16="http://schemas.microsoft.com/office/drawing/2014/main" id="{BBE52ECE-5A73-C853-2A2C-549797008954}"/>
              </a:ext>
            </a:extLst>
          </p:cNvPr>
          <p:cNvSpPr txBox="1"/>
          <p:nvPr/>
        </p:nvSpPr>
        <p:spPr>
          <a:xfrm>
            <a:off x="1143000" y="1810512"/>
            <a:ext cx="30632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1F4C"/>
                </a:solidFill>
                <a:latin typeface="DM Sans"/>
              </a:rPr>
              <a:t>Acidente de trabalho</a:t>
            </a:r>
          </a:p>
          <a:p>
            <a:pPr algn="l"/>
            <a:r>
              <a:rPr sz="950" b="0" i="0">
                <a:solidFill>
                  <a:srgbClr val="4D4D4D"/>
                </a:solidFill>
                <a:latin typeface="DM Sans"/>
              </a:rPr>
              <a:t>Acidente de trabalho durante a instalação dos equipamentos</a:t>
            </a:r>
          </a:p>
        </p:txBody>
      </p:sp>
      <p:sp>
        <p:nvSpPr>
          <p:cNvPr id="22" name="Risco 1 – plano">
            <a:extLst>
              <a:ext uri="{FF2B5EF4-FFF2-40B4-BE49-F238E27FC236}">
                <a16:creationId xmlns:a16="http://schemas.microsoft.com/office/drawing/2014/main" id="{1DD33862-EC4E-DB38-25F6-0B5E67F8C75B}"/>
              </a:ext>
            </a:extLst>
          </p:cNvPr>
          <p:cNvSpPr txBox="1"/>
          <p:nvPr/>
        </p:nvSpPr>
        <p:spPr>
          <a:xfrm>
            <a:off x="4572000" y="1810512"/>
            <a:ext cx="33375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146304" indent="-146304">
              <a:spcAft>
                <a:spcPts val="100"/>
              </a:spcAft>
              <a:buClr>
                <a:srgbClr val="009FC2"/>
              </a:buClr>
              <a:buFont typeface="Arial"/>
              <a:buChar char="•"/>
            </a:pPr>
            <a:r>
              <a:rPr sz="950" b="0" i="0">
                <a:solidFill>
                  <a:srgbClr val="4D4D4D"/>
                </a:solidFill>
                <a:latin typeface="DM Sans"/>
              </a:rPr>
              <a:t>Reunião de integração e alinhamento com a empreiteira</a:t>
            </a:r>
          </a:p>
          <a:p>
            <a:pPr marL="146304" indent="-146304">
              <a:spcAft>
                <a:spcPts val="100"/>
              </a:spcAft>
              <a:buClr>
                <a:srgbClr val="009FC2"/>
              </a:buClr>
              <a:buFont typeface="Arial"/>
              <a:buChar char="•"/>
            </a:pPr>
            <a:r>
              <a:rPr sz="950" b="0" i="0">
                <a:solidFill>
                  <a:srgbClr val="4D4D4D"/>
                </a:solidFill>
                <a:latin typeface="DM Sans"/>
              </a:rPr>
              <a:t>Inspeções de segurança periódicas</a:t>
            </a:r>
          </a:p>
          <a:p>
            <a:pPr marL="146304" indent="-146304">
              <a:spcAft>
                <a:spcPts val="100"/>
              </a:spcAft>
              <a:buClr>
                <a:srgbClr val="009FC2"/>
              </a:buClr>
              <a:buFont typeface="Arial"/>
              <a:buChar char="•"/>
            </a:pPr>
            <a:r>
              <a:rPr sz="950" b="0" i="0">
                <a:solidFill>
                  <a:srgbClr val="4D4D4D"/>
                </a:solidFill>
                <a:latin typeface="DM Sans"/>
              </a:rPr>
              <a:t>Realização do DDS</a:t>
            </a:r>
          </a:p>
        </p:txBody>
      </p:sp>
      <p:sp>
        <p:nvSpPr>
          <p:cNvPr id="23" name="Risco 1 – plano">
            <a:extLst>
              <a:ext uri="{FF2B5EF4-FFF2-40B4-BE49-F238E27FC236}">
                <a16:creationId xmlns:a16="http://schemas.microsoft.com/office/drawing/2014/main" id="{032ACACF-3E76-B785-BC31-C33322F3890B}"/>
              </a:ext>
            </a:extLst>
          </p:cNvPr>
          <p:cNvSpPr txBox="1"/>
          <p:nvPr/>
        </p:nvSpPr>
        <p:spPr>
          <a:xfrm>
            <a:off x="8321040" y="1810512"/>
            <a:ext cx="3273552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146304" indent="-146304">
              <a:spcAft>
                <a:spcPts val="100"/>
              </a:spcAft>
              <a:buClr>
                <a:srgbClr val="F47B20"/>
              </a:buClr>
              <a:buFont typeface="Arial"/>
              <a:buChar char="•"/>
            </a:pPr>
            <a:r>
              <a:rPr sz="950" b="0" i="0">
                <a:solidFill>
                  <a:srgbClr val="4D4D4D"/>
                </a:solidFill>
                <a:latin typeface="DM Sans"/>
              </a:rPr>
              <a:t>Paralisar qualquer atividade executada de forma insegura</a:t>
            </a:r>
          </a:p>
          <a:p>
            <a:pPr marL="146304" indent="-146304">
              <a:spcAft>
                <a:spcPts val="100"/>
              </a:spcAft>
              <a:buClr>
                <a:srgbClr val="F47B20"/>
              </a:buClr>
              <a:buFont typeface="Arial"/>
              <a:buChar char="•"/>
            </a:pPr>
            <a:r>
              <a:rPr sz="950" b="0" i="0">
                <a:solidFill>
                  <a:srgbClr val="4D4D4D"/>
                </a:solidFill>
                <a:latin typeface="DM Sans"/>
              </a:rPr>
              <a:t>Acionar o SESMT</a:t>
            </a:r>
          </a:p>
          <a:p>
            <a:pPr marL="146304" indent="-146304">
              <a:spcAft>
                <a:spcPts val="100"/>
              </a:spcAft>
              <a:buClr>
                <a:srgbClr val="F47B20"/>
              </a:buClr>
              <a:buFont typeface="Arial"/>
              <a:buChar char="•"/>
            </a:pPr>
            <a:r>
              <a:rPr sz="950" b="0" i="0">
                <a:solidFill>
                  <a:srgbClr val="4D4D4D"/>
                </a:solidFill>
                <a:latin typeface="DM Sans"/>
              </a:rPr>
              <a:t>Investigar o ocorrido</a:t>
            </a:r>
          </a:p>
        </p:txBody>
      </p:sp>
      <p:sp>
        <p:nvSpPr>
          <p:cNvPr id="24" name="Risco 2 – fundo">
            <a:extLst>
              <a:ext uri="{FF2B5EF4-FFF2-40B4-BE49-F238E27FC236}">
                <a16:creationId xmlns:a16="http://schemas.microsoft.com/office/drawing/2014/main" id="{B8E792EF-29E1-1F50-C126-CAF044FC4FD2}"/>
              </a:ext>
            </a:extLst>
          </p:cNvPr>
          <p:cNvSpPr/>
          <p:nvPr/>
        </p:nvSpPr>
        <p:spPr>
          <a:xfrm>
            <a:off x="457200" y="2505456"/>
            <a:ext cx="11277295" cy="676656"/>
          </a:xfrm>
          <a:prstGeom prst="roundRect">
            <a:avLst>
              <a:gd name="adj" fmla="val 14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isco 2 – nº">
            <a:extLst>
              <a:ext uri="{FF2B5EF4-FFF2-40B4-BE49-F238E27FC236}">
                <a16:creationId xmlns:a16="http://schemas.microsoft.com/office/drawing/2014/main" id="{3A5C20EF-2307-1A64-D030-9A38FF99FB2E}"/>
              </a:ext>
            </a:extLst>
          </p:cNvPr>
          <p:cNvSpPr/>
          <p:nvPr/>
        </p:nvSpPr>
        <p:spPr>
          <a:xfrm>
            <a:off x="612648" y="2651760"/>
            <a:ext cx="384048" cy="384048"/>
          </a:xfrm>
          <a:prstGeom prst="ellipse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isco 2 – nº texto">
            <a:extLst>
              <a:ext uri="{FF2B5EF4-FFF2-40B4-BE49-F238E27FC236}">
                <a16:creationId xmlns:a16="http://schemas.microsoft.com/office/drawing/2014/main" id="{710C6512-55B0-932F-AA89-1297266CF19C}"/>
              </a:ext>
            </a:extLst>
          </p:cNvPr>
          <p:cNvSpPr txBox="1"/>
          <p:nvPr/>
        </p:nvSpPr>
        <p:spPr>
          <a:xfrm>
            <a:off x="612648" y="265176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DM Sans"/>
              </a:rPr>
              <a:t>2</a:t>
            </a:r>
          </a:p>
        </p:txBody>
      </p:sp>
      <p:sp>
        <p:nvSpPr>
          <p:cNvPr id="27" name="Risco 2 – título">
            <a:extLst>
              <a:ext uri="{FF2B5EF4-FFF2-40B4-BE49-F238E27FC236}">
                <a16:creationId xmlns:a16="http://schemas.microsoft.com/office/drawing/2014/main" id="{8234EAFE-037E-C3BC-10D6-0DBD82068830}"/>
              </a:ext>
            </a:extLst>
          </p:cNvPr>
          <p:cNvSpPr txBox="1"/>
          <p:nvPr/>
        </p:nvSpPr>
        <p:spPr>
          <a:xfrm>
            <a:off x="1143000" y="2560320"/>
            <a:ext cx="30632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1F4C"/>
                </a:solidFill>
                <a:latin typeface="DM Sans"/>
              </a:rPr>
              <a:t>Atraso na aprovação de LSS / documentos</a:t>
            </a:r>
          </a:p>
          <a:p>
            <a:pPr algn="l"/>
            <a:r>
              <a:rPr sz="950" b="0" i="0">
                <a:solidFill>
                  <a:srgbClr val="4D4D4D"/>
                </a:solidFill>
                <a:latin typeface="DM Sans"/>
              </a:rPr>
              <a:t>Atraso na aprovação das LSS e da documentação de terceiros pelo SESMT ETO</a:t>
            </a:r>
          </a:p>
        </p:txBody>
      </p:sp>
      <p:sp>
        <p:nvSpPr>
          <p:cNvPr id="28" name="Risco 2 – plano">
            <a:extLst>
              <a:ext uri="{FF2B5EF4-FFF2-40B4-BE49-F238E27FC236}">
                <a16:creationId xmlns:a16="http://schemas.microsoft.com/office/drawing/2014/main" id="{0D3ED5F1-6F63-5812-25DC-076D4412D999}"/>
              </a:ext>
            </a:extLst>
          </p:cNvPr>
          <p:cNvSpPr txBox="1"/>
          <p:nvPr/>
        </p:nvSpPr>
        <p:spPr>
          <a:xfrm>
            <a:off x="4572000" y="2560320"/>
            <a:ext cx="33375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146304" indent="-146304">
              <a:spcAft>
                <a:spcPts val="100"/>
              </a:spcAft>
              <a:buClr>
                <a:srgbClr val="009FC2"/>
              </a:buClr>
              <a:buFont typeface="Arial"/>
              <a:buChar char="•"/>
            </a:pPr>
            <a:r>
              <a:rPr sz="950" b="0" i="0">
                <a:solidFill>
                  <a:srgbClr val="4D4D4D"/>
                </a:solidFill>
                <a:latin typeface="DM Sans"/>
              </a:rPr>
              <a:t>Antecipar o envio da documentação dos colaboradores</a:t>
            </a:r>
          </a:p>
          <a:p>
            <a:pPr marL="146304" indent="-146304">
              <a:spcAft>
                <a:spcPts val="100"/>
              </a:spcAft>
              <a:buClr>
                <a:srgbClr val="009FC2"/>
              </a:buClr>
              <a:buFont typeface="Arial"/>
              <a:buChar char="•"/>
            </a:pPr>
            <a:r>
              <a:rPr sz="950" b="0" i="0">
                <a:solidFill>
                  <a:srgbClr val="4D4D4D"/>
                </a:solidFill>
                <a:latin typeface="DM Sans"/>
              </a:rPr>
              <a:t>Acompanhar o prazo de 10 dias de análise</a:t>
            </a:r>
          </a:p>
        </p:txBody>
      </p:sp>
      <p:sp>
        <p:nvSpPr>
          <p:cNvPr id="29" name="Risco 2 – plano">
            <a:extLst>
              <a:ext uri="{FF2B5EF4-FFF2-40B4-BE49-F238E27FC236}">
                <a16:creationId xmlns:a16="http://schemas.microsoft.com/office/drawing/2014/main" id="{EE659EFD-790F-1231-551E-533E5EAED51E}"/>
              </a:ext>
            </a:extLst>
          </p:cNvPr>
          <p:cNvSpPr txBox="1"/>
          <p:nvPr/>
        </p:nvSpPr>
        <p:spPr>
          <a:xfrm>
            <a:off x="8321040" y="2560320"/>
            <a:ext cx="3273552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146304" indent="-146304">
              <a:spcAft>
                <a:spcPts val="100"/>
              </a:spcAft>
              <a:buClr>
                <a:srgbClr val="F47B20"/>
              </a:buClr>
              <a:buFont typeface="Arial"/>
              <a:buChar char="•"/>
            </a:pPr>
            <a:r>
              <a:rPr sz="950" b="0" i="0">
                <a:solidFill>
                  <a:srgbClr val="4D4D4D"/>
                </a:solidFill>
                <a:latin typeface="DM Sans"/>
              </a:rPr>
              <a:t>Antecipar outras atividades da obra</a:t>
            </a:r>
          </a:p>
          <a:p>
            <a:pPr marL="146304" indent="-146304">
              <a:spcAft>
                <a:spcPts val="100"/>
              </a:spcAft>
              <a:buClr>
                <a:srgbClr val="F47B20"/>
              </a:buClr>
              <a:buFont typeface="Arial"/>
              <a:buChar char="•"/>
            </a:pPr>
            <a:r>
              <a:rPr sz="950" b="0" i="0">
                <a:solidFill>
                  <a:srgbClr val="4D4D4D"/>
                </a:solidFill>
                <a:latin typeface="DM Sans"/>
              </a:rPr>
              <a:t>Acompanhar as entregas junto ao SESMT</a:t>
            </a:r>
          </a:p>
        </p:txBody>
      </p:sp>
      <p:sp>
        <p:nvSpPr>
          <p:cNvPr id="30" name="Risco 3 – fundo">
            <a:extLst>
              <a:ext uri="{FF2B5EF4-FFF2-40B4-BE49-F238E27FC236}">
                <a16:creationId xmlns:a16="http://schemas.microsoft.com/office/drawing/2014/main" id="{CB37453F-355B-3A29-E1E4-E9D594F6E216}"/>
              </a:ext>
            </a:extLst>
          </p:cNvPr>
          <p:cNvSpPr/>
          <p:nvPr/>
        </p:nvSpPr>
        <p:spPr>
          <a:xfrm>
            <a:off x="457200" y="3255263"/>
            <a:ext cx="11277295" cy="676656"/>
          </a:xfrm>
          <a:prstGeom prst="roundRect">
            <a:avLst>
              <a:gd name="adj" fmla="val 14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isco 3 – nº">
            <a:extLst>
              <a:ext uri="{FF2B5EF4-FFF2-40B4-BE49-F238E27FC236}">
                <a16:creationId xmlns:a16="http://schemas.microsoft.com/office/drawing/2014/main" id="{D047DA21-6AD7-2862-E793-6019298F0380}"/>
              </a:ext>
            </a:extLst>
          </p:cNvPr>
          <p:cNvSpPr/>
          <p:nvPr/>
        </p:nvSpPr>
        <p:spPr>
          <a:xfrm>
            <a:off x="612648" y="3401568"/>
            <a:ext cx="384048" cy="384048"/>
          </a:xfrm>
          <a:prstGeom prst="ellipse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isco 3 – nº texto">
            <a:extLst>
              <a:ext uri="{FF2B5EF4-FFF2-40B4-BE49-F238E27FC236}">
                <a16:creationId xmlns:a16="http://schemas.microsoft.com/office/drawing/2014/main" id="{3D44F698-58E4-A1D5-EB11-351365E73B60}"/>
              </a:ext>
            </a:extLst>
          </p:cNvPr>
          <p:cNvSpPr txBox="1"/>
          <p:nvPr/>
        </p:nvSpPr>
        <p:spPr>
          <a:xfrm>
            <a:off x="612648" y="340156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DM Sans"/>
              </a:rPr>
              <a:t>3</a:t>
            </a:r>
          </a:p>
        </p:txBody>
      </p:sp>
      <p:sp>
        <p:nvSpPr>
          <p:cNvPr id="33" name="Risco 3 – título">
            <a:extLst>
              <a:ext uri="{FF2B5EF4-FFF2-40B4-BE49-F238E27FC236}">
                <a16:creationId xmlns:a16="http://schemas.microsoft.com/office/drawing/2014/main" id="{0FC8B7F5-470C-BE35-2C60-AC269594A12D}"/>
              </a:ext>
            </a:extLst>
          </p:cNvPr>
          <p:cNvSpPr txBox="1"/>
          <p:nvPr/>
        </p:nvSpPr>
        <p:spPr>
          <a:xfrm>
            <a:off x="1143000" y="3310127"/>
            <a:ext cx="30632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1F4C"/>
                </a:solidFill>
                <a:latin typeface="DM Sans"/>
              </a:rPr>
              <a:t>Atraso de materiais e equipamentos</a:t>
            </a:r>
          </a:p>
          <a:p>
            <a:pPr algn="l"/>
            <a:r>
              <a:rPr sz="950" b="0" i="0">
                <a:solidFill>
                  <a:srgbClr val="4D4D4D"/>
                </a:solidFill>
                <a:latin typeface="DM Sans"/>
              </a:rPr>
              <a:t>Entrega de RL/RT fora das datas da WBS (lead time de fornecimento a validar)</a:t>
            </a:r>
          </a:p>
        </p:txBody>
      </p:sp>
      <p:sp>
        <p:nvSpPr>
          <p:cNvPr id="34" name="Risco 3 – plano">
            <a:extLst>
              <a:ext uri="{FF2B5EF4-FFF2-40B4-BE49-F238E27FC236}">
                <a16:creationId xmlns:a16="http://schemas.microsoft.com/office/drawing/2014/main" id="{6E90C081-FA0D-9059-B8AC-5204D75984BF}"/>
              </a:ext>
            </a:extLst>
          </p:cNvPr>
          <p:cNvSpPr txBox="1"/>
          <p:nvPr/>
        </p:nvSpPr>
        <p:spPr>
          <a:xfrm>
            <a:off x="4572000" y="3310127"/>
            <a:ext cx="33375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146304" indent="-146304">
              <a:spcAft>
                <a:spcPts val="100"/>
              </a:spcAft>
              <a:buClr>
                <a:srgbClr val="009FC2"/>
              </a:buClr>
              <a:buFont typeface="Arial"/>
              <a:buChar char="•"/>
            </a:pPr>
            <a:r>
              <a:rPr sz="950" b="0" i="0">
                <a:solidFill>
                  <a:srgbClr val="4D4D4D"/>
                </a:solidFill>
                <a:latin typeface="DM Sans"/>
              </a:rPr>
              <a:t>Antecipar a emissão dos PMAs e diligenciar fornecedores</a:t>
            </a:r>
          </a:p>
          <a:p>
            <a:pPr marL="146304" indent="-146304">
              <a:spcAft>
                <a:spcPts val="100"/>
              </a:spcAft>
              <a:buClr>
                <a:srgbClr val="009FC2"/>
              </a:buClr>
              <a:buFont typeface="Arial"/>
              <a:buChar char="•"/>
            </a:pPr>
            <a:r>
              <a:rPr sz="950" b="0" i="0">
                <a:solidFill>
                  <a:srgbClr val="4D4D4D"/>
                </a:solidFill>
                <a:latin typeface="DM Sans"/>
              </a:rPr>
              <a:t>Acompanhamento do forecast financeiro</a:t>
            </a:r>
          </a:p>
        </p:txBody>
      </p:sp>
      <p:sp>
        <p:nvSpPr>
          <p:cNvPr id="35" name="Risco 3 – plano">
            <a:extLst>
              <a:ext uri="{FF2B5EF4-FFF2-40B4-BE49-F238E27FC236}">
                <a16:creationId xmlns:a16="http://schemas.microsoft.com/office/drawing/2014/main" id="{83C614E1-DEC1-4426-F4E7-888C757C2C09}"/>
              </a:ext>
            </a:extLst>
          </p:cNvPr>
          <p:cNvSpPr txBox="1"/>
          <p:nvPr/>
        </p:nvSpPr>
        <p:spPr>
          <a:xfrm>
            <a:off x="8321040" y="3310127"/>
            <a:ext cx="3273552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146304" indent="-146304">
              <a:spcAft>
                <a:spcPts val="100"/>
              </a:spcAft>
              <a:buClr>
                <a:srgbClr val="F47B20"/>
              </a:buClr>
              <a:buFont typeface="Arial"/>
              <a:buChar char="•"/>
            </a:pPr>
            <a:r>
              <a:rPr sz="950" b="0" i="0">
                <a:solidFill>
                  <a:srgbClr val="4D4D4D"/>
                </a:solidFill>
                <a:latin typeface="DM Sans"/>
              </a:rPr>
              <a:t>Priorizar as frentes pela meta de energização</a:t>
            </a:r>
          </a:p>
          <a:p>
            <a:pPr marL="146304" indent="-146304">
              <a:spcAft>
                <a:spcPts val="100"/>
              </a:spcAft>
              <a:buClr>
                <a:srgbClr val="F47B20"/>
              </a:buClr>
              <a:buFont typeface="Arial"/>
              <a:buChar char="•"/>
            </a:pPr>
            <a:r>
              <a:rPr sz="950" b="0" i="0">
                <a:solidFill>
                  <a:srgbClr val="4D4D4D"/>
                </a:solidFill>
                <a:latin typeface="DM Sans"/>
              </a:rPr>
              <a:t>Avaliar fornecedor homologado alternativo</a:t>
            </a:r>
          </a:p>
        </p:txBody>
      </p:sp>
      <p:sp>
        <p:nvSpPr>
          <p:cNvPr id="36" name="Risco 4 – fundo">
            <a:extLst>
              <a:ext uri="{FF2B5EF4-FFF2-40B4-BE49-F238E27FC236}">
                <a16:creationId xmlns:a16="http://schemas.microsoft.com/office/drawing/2014/main" id="{C4BA10C2-17D4-0DAD-45AF-4D7FDA60AC05}"/>
              </a:ext>
            </a:extLst>
          </p:cNvPr>
          <p:cNvSpPr/>
          <p:nvPr/>
        </p:nvSpPr>
        <p:spPr>
          <a:xfrm>
            <a:off x="457200" y="4005072"/>
            <a:ext cx="11277295" cy="676656"/>
          </a:xfrm>
          <a:prstGeom prst="roundRect">
            <a:avLst>
              <a:gd name="adj" fmla="val 14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isco 4 – nº">
            <a:extLst>
              <a:ext uri="{FF2B5EF4-FFF2-40B4-BE49-F238E27FC236}">
                <a16:creationId xmlns:a16="http://schemas.microsoft.com/office/drawing/2014/main" id="{F363E88C-74C6-808B-6051-2E5443599F0B}"/>
              </a:ext>
            </a:extLst>
          </p:cNvPr>
          <p:cNvSpPr/>
          <p:nvPr/>
        </p:nvSpPr>
        <p:spPr>
          <a:xfrm>
            <a:off x="612648" y="4151376"/>
            <a:ext cx="384048" cy="384048"/>
          </a:xfrm>
          <a:prstGeom prst="ellipse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isco 4 – nº texto">
            <a:extLst>
              <a:ext uri="{FF2B5EF4-FFF2-40B4-BE49-F238E27FC236}">
                <a16:creationId xmlns:a16="http://schemas.microsoft.com/office/drawing/2014/main" id="{6F8E2B3C-DEBB-7656-D4D8-012313D3F5E5}"/>
              </a:ext>
            </a:extLst>
          </p:cNvPr>
          <p:cNvSpPr txBox="1"/>
          <p:nvPr/>
        </p:nvSpPr>
        <p:spPr>
          <a:xfrm>
            <a:off x="612648" y="415137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DM Sans"/>
              </a:rPr>
              <a:t>4</a:t>
            </a:r>
          </a:p>
        </p:txBody>
      </p:sp>
      <p:sp>
        <p:nvSpPr>
          <p:cNvPr id="39" name="Risco 4 – título">
            <a:extLst>
              <a:ext uri="{FF2B5EF4-FFF2-40B4-BE49-F238E27FC236}">
                <a16:creationId xmlns:a16="http://schemas.microsoft.com/office/drawing/2014/main" id="{1975D767-A08F-20B7-DA5A-F483C49C1588}"/>
              </a:ext>
            </a:extLst>
          </p:cNvPr>
          <p:cNvSpPr txBox="1"/>
          <p:nvPr/>
        </p:nvSpPr>
        <p:spPr>
          <a:xfrm>
            <a:off x="1143000" y="4059935"/>
            <a:ext cx="30632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1F4C"/>
                </a:solidFill>
                <a:latin typeface="DM Sans"/>
              </a:rPr>
              <a:t>Indisponibilidade de Linha Viva / frentes simultâneas</a:t>
            </a:r>
          </a:p>
          <a:p>
            <a:pPr algn="l"/>
            <a:r>
              <a:rPr sz="950" b="0" i="0">
                <a:solidFill>
                  <a:srgbClr val="4D4D4D"/>
                </a:solidFill>
                <a:latin typeface="DM Sans"/>
              </a:rPr>
              <a:t>Falta de equipe de Linha Viva ETO e até 6 frentes simultâneas (20/04 a 20/05/2027)</a:t>
            </a:r>
          </a:p>
        </p:txBody>
      </p:sp>
      <p:sp>
        <p:nvSpPr>
          <p:cNvPr id="40" name="Risco 4 – plano">
            <a:extLst>
              <a:ext uri="{FF2B5EF4-FFF2-40B4-BE49-F238E27FC236}">
                <a16:creationId xmlns:a16="http://schemas.microsoft.com/office/drawing/2014/main" id="{C540BF30-8232-6DB0-21A7-DD0B6FFFAB18}"/>
              </a:ext>
            </a:extLst>
          </p:cNvPr>
          <p:cNvSpPr txBox="1"/>
          <p:nvPr/>
        </p:nvSpPr>
        <p:spPr>
          <a:xfrm>
            <a:off x="4572000" y="4059935"/>
            <a:ext cx="33375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146304" indent="-146304">
              <a:spcAft>
                <a:spcPts val="100"/>
              </a:spcAft>
              <a:buClr>
                <a:srgbClr val="009FC2"/>
              </a:buClr>
              <a:buFont typeface="Arial"/>
              <a:buChar char="•"/>
            </a:pPr>
            <a:r>
              <a:rPr sz="950" b="0" i="0">
                <a:solidFill>
                  <a:srgbClr val="4D4D4D"/>
                </a:solidFill>
                <a:latin typeface="DM Sans"/>
              </a:rPr>
              <a:t>Programar as atividades com antecedência junto à ETO</a:t>
            </a:r>
          </a:p>
          <a:p>
            <a:pPr marL="146304" indent="-146304">
              <a:spcAft>
                <a:spcPts val="100"/>
              </a:spcAft>
              <a:buClr>
                <a:srgbClr val="009FC2"/>
              </a:buClr>
              <a:buFont typeface="Arial"/>
              <a:buChar char="•"/>
            </a:pPr>
            <a:r>
              <a:rPr sz="950" b="0" i="0">
                <a:solidFill>
                  <a:srgbClr val="4D4D4D"/>
                </a:solidFill>
                <a:latin typeface="DM Sans"/>
              </a:rPr>
              <a:t>Escalonar as frentes por meta de energização</a:t>
            </a:r>
          </a:p>
        </p:txBody>
      </p:sp>
      <p:sp>
        <p:nvSpPr>
          <p:cNvPr id="41" name="Risco 4 – plano">
            <a:extLst>
              <a:ext uri="{FF2B5EF4-FFF2-40B4-BE49-F238E27FC236}">
                <a16:creationId xmlns:a16="http://schemas.microsoft.com/office/drawing/2014/main" id="{BDC42145-2152-71CB-13B2-D09B30089F57}"/>
              </a:ext>
            </a:extLst>
          </p:cNvPr>
          <p:cNvSpPr txBox="1"/>
          <p:nvPr/>
        </p:nvSpPr>
        <p:spPr>
          <a:xfrm>
            <a:off x="8321040" y="4059935"/>
            <a:ext cx="3273552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146304" indent="-146304">
              <a:spcAft>
                <a:spcPts val="100"/>
              </a:spcAft>
              <a:buClr>
                <a:srgbClr val="F47B20"/>
              </a:buClr>
              <a:buFont typeface="Arial"/>
              <a:buChar char="•"/>
            </a:pPr>
            <a:r>
              <a:rPr sz="950" b="0" i="0">
                <a:solidFill>
                  <a:srgbClr val="4D4D4D"/>
                </a:solidFill>
                <a:latin typeface="DM Sans"/>
              </a:rPr>
              <a:t>Reprogramar desligamentos e ajustar a sequência das atividades</a:t>
            </a:r>
          </a:p>
        </p:txBody>
      </p:sp>
      <p:sp>
        <p:nvSpPr>
          <p:cNvPr id="42" name="Risco 5 – fundo">
            <a:extLst>
              <a:ext uri="{FF2B5EF4-FFF2-40B4-BE49-F238E27FC236}">
                <a16:creationId xmlns:a16="http://schemas.microsoft.com/office/drawing/2014/main" id="{E51A9335-BDFC-2E13-4950-B7F7E697FA98}"/>
              </a:ext>
            </a:extLst>
          </p:cNvPr>
          <p:cNvSpPr/>
          <p:nvPr/>
        </p:nvSpPr>
        <p:spPr>
          <a:xfrm>
            <a:off x="457200" y="4754880"/>
            <a:ext cx="11277295" cy="676656"/>
          </a:xfrm>
          <a:prstGeom prst="roundRect">
            <a:avLst>
              <a:gd name="adj" fmla="val 14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isco 5 – nº">
            <a:extLst>
              <a:ext uri="{FF2B5EF4-FFF2-40B4-BE49-F238E27FC236}">
                <a16:creationId xmlns:a16="http://schemas.microsoft.com/office/drawing/2014/main" id="{4BE1B83F-B298-D737-856E-3EDBB1F3DEA0}"/>
              </a:ext>
            </a:extLst>
          </p:cNvPr>
          <p:cNvSpPr/>
          <p:nvPr/>
        </p:nvSpPr>
        <p:spPr>
          <a:xfrm>
            <a:off x="612648" y="4901184"/>
            <a:ext cx="384048" cy="384048"/>
          </a:xfrm>
          <a:prstGeom prst="ellipse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isco 5 – nº texto">
            <a:extLst>
              <a:ext uri="{FF2B5EF4-FFF2-40B4-BE49-F238E27FC236}">
                <a16:creationId xmlns:a16="http://schemas.microsoft.com/office/drawing/2014/main" id="{DF066F9B-F232-D1EC-99B4-D196AE2922FA}"/>
              </a:ext>
            </a:extLst>
          </p:cNvPr>
          <p:cNvSpPr txBox="1"/>
          <p:nvPr/>
        </p:nvSpPr>
        <p:spPr>
          <a:xfrm>
            <a:off x="612648" y="490118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DM Sans"/>
              </a:rPr>
              <a:t>5</a:t>
            </a:r>
          </a:p>
        </p:txBody>
      </p:sp>
      <p:sp>
        <p:nvSpPr>
          <p:cNvPr id="45" name="Risco 5 – título">
            <a:extLst>
              <a:ext uri="{FF2B5EF4-FFF2-40B4-BE49-F238E27FC236}">
                <a16:creationId xmlns:a16="http://schemas.microsoft.com/office/drawing/2014/main" id="{953B94CB-6B38-CABE-1E8C-49916BD8169B}"/>
              </a:ext>
            </a:extLst>
          </p:cNvPr>
          <p:cNvSpPr txBox="1"/>
          <p:nvPr/>
        </p:nvSpPr>
        <p:spPr>
          <a:xfrm>
            <a:off x="1143000" y="4809744"/>
            <a:ext cx="30632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1F4C"/>
                </a:solidFill>
                <a:latin typeface="DM Sans"/>
              </a:rPr>
              <a:t>Atraso no comissionamento</a:t>
            </a:r>
          </a:p>
          <a:p>
            <a:pPr algn="l"/>
            <a:r>
              <a:rPr sz="950" b="0" i="0">
                <a:solidFill>
                  <a:srgbClr val="4D4D4D"/>
                </a:solidFill>
                <a:latin typeface="DM Sans"/>
              </a:rPr>
              <a:t>Atraso no comissionamento e no ajuste de proteção dos RL/RT</a:t>
            </a:r>
          </a:p>
        </p:txBody>
      </p:sp>
      <p:sp>
        <p:nvSpPr>
          <p:cNvPr id="46" name="Risco 5 – plano">
            <a:extLst>
              <a:ext uri="{FF2B5EF4-FFF2-40B4-BE49-F238E27FC236}">
                <a16:creationId xmlns:a16="http://schemas.microsoft.com/office/drawing/2014/main" id="{EBD2F9C0-8E04-FA5B-AE36-B48F7B85503C}"/>
              </a:ext>
            </a:extLst>
          </p:cNvPr>
          <p:cNvSpPr txBox="1"/>
          <p:nvPr/>
        </p:nvSpPr>
        <p:spPr>
          <a:xfrm>
            <a:off x="4572000" y="4809744"/>
            <a:ext cx="33375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146304" indent="-146304">
              <a:spcAft>
                <a:spcPts val="100"/>
              </a:spcAft>
              <a:buClr>
                <a:srgbClr val="009FC2"/>
              </a:buClr>
              <a:buFont typeface="Arial"/>
              <a:buChar char="•"/>
            </a:pPr>
            <a:r>
              <a:rPr sz="950" b="0" i="0">
                <a:solidFill>
                  <a:srgbClr val="4D4D4D"/>
                </a:solidFill>
                <a:latin typeface="DM Sans"/>
              </a:rPr>
              <a:t>Reunião semanal de acompanhamento da programação de comissionamento (DMSL/DEOP)</a:t>
            </a:r>
          </a:p>
        </p:txBody>
      </p:sp>
      <p:sp>
        <p:nvSpPr>
          <p:cNvPr id="47" name="Risco 5 – plano">
            <a:extLst>
              <a:ext uri="{FF2B5EF4-FFF2-40B4-BE49-F238E27FC236}">
                <a16:creationId xmlns:a16="http://schemas.microsoft.com/office/drawing/2014/main" id="{1EAAA1C1-E40C-259F-74B0-0EA381C442EE}"/>
              </a:ext>
            </a:extLst>
          </p:cNvPr>
          <p:cNvSpPr txBox="1"/>
          <p:nvPr/>
        </p:nvSpPr>
        <p:spPr>
          <a:xfrm>
            <a:off x="8321040" y="4809744"/>
            <a:ext cx="3273552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146304" indent="-146304">
              <a:spcAft>
                <a:spcPts val="100"/>
              </a:spcAft>
              <a:buClr>
                <a:srgbClr val="F47B20"/>
              </a:buClr>
              <a:buFont typeface="Arial"/>
              <a:buChar char="•"/>
            </a:pPr>
            <a:r>
              <a:rPr sz="950" b="0" i="0">
                <a:solidFill>
                  <a:srgbClr val="4D4D4D"/>
                </a:solidFill>
                <a:latin typeface="DM Sans"/>
              </a:rPr>
              <a:t>Reavaliar a programação e adequar para finalizar os equipamentos no prazo</a:t>
            </a:r>
          </a:p>
        </p:txBody>
      </p:sp>
      <p:sp>
        <p:nvSpPr>
          <p:cNvPr id="48" name="Risco 6 – fundo">
            <a:extLst>
              <a:ext uri="{FF2B5EF4-FFF2-40B4-BE49-F238E27FC236}">
                <a16:creationId xmlns:a16="http://schemas.microsoft.com/office/drawing/2014/main" id="{F99F1B40-744B-27E6-7077-2BCD72A3B2F8}"/>
              </a:ext>
            </a:extLst>
          </p:cNvPr>
          <p:cNvSpPr/>
          <p:nvPr/>
        </p:nvSpPr>
        <p:spPr>
          <a:xfrm>
            <a:off x="457200" y="5504688"/>
            <a:ext cx="11277295" cy="676656"/>
          </a:xfrm>
          <a:prstGeom prst="roundRect">
            <a:avLst>
              <a:gd name="adj" fmla="val 14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isco 6 – nº">
            <a:extLst>
              <a:ext uri="{FF2B5EF4-FFF2-40B4-BE49-F238E27FC236}">
                <a16:creationId xmlns:a16="http://schemas.microsoft.com/office/drawing/2014/main" id="{B5F17DE4-D078-94CD-142E-9B96197BD65E}"/>
              </a:ext>
            </a:extLst>
          </p:cNvPr>
          <p:cNvSpPr/>
          <p:nvPr/>
        </p:nvSpPr>
        <p:spPr>
          <a:xfrm>
            <a:off x="612648" y="5650992"/>
            <a:ext cx="384048" cy="384048"/>
          </a:xfrm>
          <a:prstGeom prst="ellipse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isco 6 – nº texto">
            <a:extLst>
              <a:ext uri="{FF2B5EF4-FFF2-40B4-BE49-F238E27FC236}">
                <a16:creationId xmlns:a16="http://schemas.microsoft.com/office/drawing/2014/main" id="{634F2688-9FDF-46E4-5F17-C45E4CE45D30}"/>
              </a:ext>
            </a:extLst>
          </p:cNvPr>
          <p:cNvSpPr txBox="1"/>
          <p:nvPr/>
        </p:nvSpPr>
        <p:spPr>
          <a:xfrm>
            <a:off x="612648" y="565099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DM Sans"/>
              </a:rPr>
              <a:t>6</a:t>
            </a:r>
          </a:p>
        </p:txBody>
      </p:sp>
      <p:sp>
        <p:nvSpPr>
          <p:cNvPr id="51" name="Risco 6 – título">
            <a:extLst>
              <a:ext uri="{FF2B5EF4-FFF2-40B4-BE49-F238E27FC236}">
                <a16:creationId xmlns:a16="http://schemas.microsoft.com/office/drawing/2014/main" id="{B0EBF816-0838-60F5-B9AD-593D992704DF}"/>
              </a:ext>
            </a:extLst>
          </p:cNvPr>
          <p:cNvSpPr txBox="1"/>
          <p:nvPr/>
        </p:nvSpPr>
        <p:spPr>
          <a:xfrm>
            <a:off x="1143000" y="5559552"/>
            <a:ext cx="30632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1F4C"/>
                </a:solidFill>
                <a:latin typeface="DM Sans"/>
              </a:rPr>
              <a:t>Abandono de contrato</a:t>
            </a:r>
          </a:p>
          <a:p>
            <a:pPr algn="l"/>
            <a:r>
              <a:rPr sz="950" b="0" i="0">
                <a:solidFill>
                  <a:srgbClr val="4D4D4D"/>
                </a:solidFill>
                <a:latin typeface="DM Sans"/>
              </a:rPr>
              <a:t>Indisponibilidade da empreiteira executora</a:t>
            </a:r>
          </a:p>
        </p:txBody>
      </p:sp>
      <p:sp>
        <p:nvSpPr>
          <p:cNvPr id="52" name="Risco 6 – plano">
            <a:extLst>
              <a:ext uri="{FF2B5EF4-FFF2-40B4-BE49-F238E27FC236}">
                <a16:creationId xmlns:a16="http://schemas.microsoft.com/office/drawing/2014/main" id="{DA587AB9-ACD1-35A5-9550-855BB6AB8081}"/>
              </a:ext>
            </a:extLst>
          </p:cNvPr>
          <p:cNvSpPr txBox="1"/>
          <p:nvPr/>
        </p:nvSpPr>
        <p:spPr>
          <a:xfrm>
            <a:off x="4572000" y="5559552"/>
            <a:ext cx="33375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146304" indent="-146304">
              <a:spcAft>
                <a:spcPts val="100"/>
              </a:spcAft>
              <a:buClr>
                <a:srgbClr val="009FC2"/>
              </a:buClr>
              <a:buFont typeface="Arial"/>
              <a:buChar char="•"/>
            </a:pPr>
            <a:r>
              <a:rPr sz="950" b="0" i="0">
                <a:solidFill>
                  <a:srgbClr val="4D4D4D"/>
                </a:solidFill>
                <a:latin typeface="DM Sans"/>
              </a:rPr>
              <a:t>Abertura de RFP</a:t>
            </a:r>
          </a:p>
        </p:txBody>
      </p:sp>
      <p:sp>
        <p:nvSpPr>
          <p:cNvPr id="53" name="Risco 6 – plano">
            <a:extLst>
              <a:ext uri="{FF2B5EF4-FFF2-40B4-BE49-F238E27FC236}">
                <a16:creationId xmlns:a16="http://schemas.microsoft.com/office/drawing/2014/main" id="{059FF739-AC0F-2C5B-7A84-651FF2CDADF0}"/>
              </a:ext>
            </a:extLst>
          </p:cNvPr>
          <p:cNvSpPr txBox="1"/>
          <p:nvPr/>
        </p:nvSpPr>
        <p:spPr>
          <a:xfrm>
            <a:off x="8321040" y="5559552"/>
            <a:ext cx="3273552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146304" indent="-146304">
              <a:spcAft>
                <a:spcPts val="100"/>
              </a:spcAft>
              <a:buClr>
                <a:srgbClr val="F47B20"/>
              </a:buClr>
              <a:buFont typeface="Arial"/>
              <a:buChar char="•"/>
            </a:pPr>
            <a:r>
              <a:rPr sz="950" b="0" i="0">
                <a:solidFill>
                  <a:srgbClr val="4D4D4D"/>
                </a:solidFill>
                <a:latin typeface="DM Sans"/>
              </a:rPr>
              <a:t>Remanejamento de equipes entre regionais e aditivo de contratos vigentes</a:t>
            </a:r>
          </a:p>
        </p:txBody>
      </p:sp>
      <p:sp>
        <p:nvSpPr>
          <p:cNvPr id="57" name="Rodapé">
            <a:extLst>
              <a:ext uri="{FF2B5EF4-FFF2-40B4-BE49-F238E27FC236}">
                <a16:creationId xmlns:a16="http://schemas.microsoft.com/office/drawing/2014/main" id="{E531366C-658E-41C2-1864-31F7B0B2EEEA}"/>
              </a:ext>
            </a:extLst>
          </p:cNvPr>
          <p:cNvSpPr txBox="1"/>
          <p:nvPr/>
        </p:nvSpPr>
        <p:spPr>
          <a:xfrm>
            <a:off x="457200" y="6428232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1F4C"/>
                </a:solidFill>
                <a:latin typeface="DM Sans"/>
              </a:rPr>
              <a:t>06</a:t>
            </a:r>
            <a:r>
              <a:rPr sz="900" b="0" i="0">
                <a:solidFill>
                  <a:srgbClr val="989898"/>
                </a:solidFill>
                <a:latin typeface="DM Sans"/>
              </a:rPr>
              <a:t> ·  </a:t>
            </a:r>
            <a:r>
              <a:rPr lang="pt-BR" sz="900" b="0" i="0">
                <a:solidFill>
                  <a:srgbClr val="989898"/>
                </a:solidFill>
                <a:latin typeface="DM Sans"/>
              </a:rPr>
              <a:t>PN 2027 – INSTALAÇÃO DE EQUIPAMENTOS ESPECIAIS (RL E RT)</a:t>
            </a:r>
            <a:endParaRPr sz="900" b="0" i="0">
              <a:solidFill>
                <a:srgbClr val="989898"/>
              </a:solidFill>
              <a:latin typeface="DM Sans"/>
            </a:endParaRPr>
          </a:p>
        </p:txBody>
      </p:sp>
      <p:sp>
        <p:nvSpPr>
          <p:cNvPr id="59" name="Eyebrow">
            <a:extLst>
              <a:ext uri="{FF2B5EF4-FFF2-40B4-BE49-F238E27FC236}">
                <a16:creationId xmlns:a16="http://schemas.microsoft.com/office/drawing/2014/main" id="{8153AAE6-5FBE-B3C8-72C5-6B5318C75EAE}"/>
              </a:ext>
            </a:extLst>
          </p:cNvPr>
          <p:cNvSpPr txBox="1"/>
          <p:nvPr/>
        </p:nvSpPr>
        <p:spPr>
          <a:xfrm>
            <a:off x="457200" y="347472"/>
            <a:ext cx="7315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F47B20"/>
                </a:solidFill>
                <a:latin typeface="DM Sans"/>
              </a:rPr>
              <a:t>KICKOFF MEETING</a:t>
            </a:r>
            <a:r>
              <a:rPr sz="1100" b="1" i="0" spc="150">
                <a:solidFill>
                  <a:srgbClr val="989898"/>
                </a:solidFill>
                <a:latin typeface="DM Sans"/>
              </a:rPr>
              <a:t>   |   PN 2027 · 12 SIGCOs</a:t>
            </a:r>
            <a:endParaRPr sz="1100" b="1" i="0" spc="150">
              <a:solidFill>
                <a:srgbClr val="989898"/>
              </a:solidFill>
              <a:latin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39766740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BBAC4CB0-69CB-452A-4A56-4E4A151CF2C1}"/>
              </a:ext>
            </a:extLst>
          </p:cNvPr>
          <p:cNvSpPr txBox="1">
            <a:spLocks/>
          </p:cNvSpPr>
          <p:nvPr/>
        </p:nvSpPr>
        <p:spPr>
          <a:xfrm>
            <a:off x="457200" y="566928"/>
            <a:ext cx="7790688" cy="566928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000" b="1">
                <a:solidFill>
                  <a:srgbClr val="1F1F4C"/>
                </a:solidFill>
                <a:latin typeface="DM Sans"/>
              </a:rPr>
              <a:t>Cronograma Macro do projeto</a:t>
            </a:r>
          </a:p>
        </p:txBody>
      </p:sp>
      <p:sp>
        <p:nvSpPr>
          <p:cNvPr id="7" name="Eyebrow">
            <a:extLst>
              <a:ext uri="{FF2B5EF4-FFF2-40B4-BE49-F238E27FC236}">
                <a16:creationId xmlns:a16="http://schemas.microsoft.com/office/drawing/2014/main" id="{50824C48-A21F-0B29-3A2A-0036E3CE3299}"/>
              </a:ext>
            </a:extLst>
          </p:cNvPr>
          <p:cNvSpPr txBox="1"/>
          <p:nvPr/>
        </p:nvSpPr>
        <p:spPr>
          <a:xfrm>
            <a:off x="457200" y="347472"/>
            <a:ext cx="7315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F47B20"/>
                </a:solidFill>
                <a:latin typeface="DM Sans"/>
              </a:rPr>
              <a:t>KICKOFF MEETING</a:t>
            </a:r>
            <a:r>
              <a:rPr sz="1100" b="1" i="0" spc="150">
                <a:solidFill>
                  <a:srgbClr val="989898"/>
                </a:solidFill>
                <a:latin typeface="DM Sans"/>
              </a:rPr>
              <a:t>   |   PN 2027 · 12 SIGCOs</a:t>
            </a:r>
            <a:endParaRPr sz="1100" b="1" i="0" spc="150">
              <a:solidFill>
                <a:srgbClr val="989898"/>
              </a:solidFill>
              <a:latin typeface="DM Sans"/>
            </a:endParaRPr>
          </a:p>
        </p:txBody>
      </p:sp>
      <p:sp>
        <p:nvSpPr>
          <p:cNvPr id="8" name="Rodapé">
            <a:extLst>
              <a:ext uri="{FF2B5EF4-FFF2-40B4-BE49-F238E27FC236}">
                <a16:creationId xmlns:a16="http://schemas.microsoft.com/office/drawing/2014/main" id="{8F7B4335-BE0B-DF62-CED3-FA23D73E207F}"/>
              </a:ext>
            </a:extLst>
          </p:cNvPr>
          <p:cNvSpPr txBox="1"/>
          <p:nvPr/>
        </p:nvSpPr>
        <p:spPr>
          <a:xfrm>
            <a:off x="457200" y="6428232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1F4C"/>
                </a:solidFill>
                <a:latin typeface="DM Sans"/>
              </a:rPr>
              <a:t>09</a:t>
            </a:r>
            <a:r>
              <a:rPr sz="900" b="0" i="0">
                <a:solidFill>
                  <a:srgbClr val="989898"/>
                </a:solidFill>
                <a:latin typeface="DM Sans"/>
              </a:rPr>
              <a:t>  ·  </a:t>
            </a:r>
            <a:r>
              <a:rPr lang="pt-BR" sz="900" b="0" i="0">
                <a:solidFill>
                  <a:srgbClr val="989898"/>
                </a:solidFill>
                <a:latin typeface="DM Sans"/>
              </a:rPr>
              <a:t>PN 2027 – INSTALAÇÃO DE EQUIPAMENTOS ESPECIAIS (RL E RT)</a:t>
            </a:r>
            <a:endParaRPr sz="900" b="0" i="0">
              <a:solidFill>
                <a:srgbClr val="989898"/>
              </a:solidFill>
              <a:latin typeface="DM San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7200" y="1250000"/>
            <a:ext cx="11277295" cy="28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0000" y="1250000"/>
            <a:ext cx="8000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DM Sans"/>
              </a:rPr>
              <a:t>SIGCO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0000" y="1250000"/>
            <a:ext cx="20000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DM Sans"/>
              </a:rPr>
              <a:t>Projeto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0000" y="1250000"/>
            <a:ext cx="660726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DM Sans"/>
              </a:rPr>
              <a:t>Fev/27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10726" y="1250000"/>
            <a:ext cx="731518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DM Sans"/>
              </a:rPr>
              <a:t>Mar/27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42244" y="1250000"/>
            <a:ext cx="70792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DM Sans"/>
              </a:rPr>
              <a:t>Abr/27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50165" y="1250000"/>
            <a:ext cx="731518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DM Sans"/>
              </a:rPr>
              <a:t>Mai/27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1683" y="1250000"/>
            <a:ext cx="70792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DM Sans"/>
              </a:rPr>
              <a:t>Jun/27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89603" y="1250000"/>
            <a:ext cx="731518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DM Sans"/>
              </a:rPr>
              <a:t>Jul/27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1122" y="1250000"/>
            <a:ext cx="731518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DM Sans"/>
              </a:rPr>
              <a:t>Ago/27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2640" y="1250000"/>
            <a:ext cx="70792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DM Sans"/>
              </a:rPr>
              <a:t>Set/27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60561" y="1250000"/>
            <a:ext cx="731518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DM Sans"/>
              </a:rPr>
              <a:t>Out/27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92079" y="1250000"/>
            <a:ext cx="70792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DM Sans"/>
              </a:rPr>
              <a:t>Nov/27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60000" y="1250000"/>
            <a:ext cx="11700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DM Sans"/>
              </a:rPr>
              <a:t>Operação · Enc. contábil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1530000"/>
            <a:ext cx="11277295" cy="330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0000" y="1530000"/>
            <a:ext cx="700000" cy="3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F1F4C"/>
                </a:solidFill>
                <a:latin typeface="DM Sans"/>
              </a:rPr>
              <a:t>90811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50000" y="1530000"/>
            <a:ext cx="2050000" cy="3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UHE Isamu – Ponte Alta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50000" y="1620000"/>
            <a:ext cx="1061881" cy="15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35478" y="1620000"/>
            <a:ext cx="542739" cy="150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01815" y="1620000"/>
            <a:ext cx="353960" cy="150000"/>
          </a:xfrm>
          <a:prstGeom prst="rect">
            <a:avLst/>
          </a:prstGeom>
          <a:solidFill>
            <a:srgbClr val="628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379372" y="1620000"/>
            <a:ext cx="353960" cy="150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Diamond 29"/>
          <p:cNvSpPr/>
          <p:nvPr/>
        </p:nvSpPr>
        <p:spPr>
          <a:xfrm>
            <a:off x="5300775" y="1640000"/>
            <a:ext cx="110000" cy="110000"/>
          </a:xfrm>
          <a:prstGeom prst="diamond">
            <a:avLst/>
          </a:prstGeom>
          <a:solidFill>
            <a:srgbClr val="C0000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60000" y="1530000"/>
            <a:ext cx="1170000" cy="3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27/04 · 13/05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0000" y="1860000"/>
            <a:ext cx="700000" cy="3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F1F4C"/>
                </a:solidFill>
                <a:latin typeface="DM Sans"/>
              </a:rPr>
              <a:t>91979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50000" y="1860000"/>
            <a:ext cx="2050000" cy="3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Gurupi – Duere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35478" y="1950000"/>
            <a:ext cx="707920" cy="15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166996" y="1950000"/>
            <a:ext cx="566336" cy="150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56930" y="1950000"/>
            <a:ext cx="353960" cy="150000"/>
          </a:xfrm>
          <a:prstGeom prst="rect">
            <a:avLst/>
          </a:prstGeom>
          <a:solidFill>
            <a:srgbClr val="628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58085" y="1950000"/>
            <a:ext cx="353960" cy="150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iamond 37"/>
          <p:cNvSpPr/>
          <p:nvPr/>
        </p:nvSpPr>
        <p:spPr>
          <a:xfrm>
            <a:off x="6055891" y="1970000"/>
            <a:ext cx="110000" cy="110000"/>
          </a:xfrm>
          <a:prstGeom prst="diamond">
            <a:avLst/>
          </a:prstGeom>
          <a:solidFill>
            <a:srgbClr val="C0000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60000" y="1860000"/>
            <a:ext cx="1170000" cy="3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29/05 · 15/06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2190000"/>
            <a:ext cx="11277295" cy="330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0000" y="2190000"/>
            <a:ext cx="700000" cy="3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F1F4C"/>
                </a:solidFill>
                <a:latin typeface="DM Sans"/>
              </a:rPr>
              <a:t>92118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50000" y="2190000"/>
            <a:ext cx="2050000" cy="3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4 de Araguaína IV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435478" y="2280000"/>
            <a:ext cx="707920" cy="15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166996" y="2280000"/>
            <a:ext cx="566336" cy="150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756930" y="2280000"/>
            <a:ext cx="353960" cy="150000"/>
          </a:xfrm>
          <a:prstGeom prst="rect">
            <a:avLst/>
          </a:prstGeom>
          <a:solidFill>
            <a:srgbClr val="628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158085" y="2280000"/>
            <a:ext cx="353960" cy="150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Diamond 46"/>
          <p:cNvSpPr/>
          <p:nvPr/>
        </p:nvSpPr>
        <p:spPr>
          <a:xfrm>
            <a:off x="6055891" y="2300000"/>
            <a:ext cx="110000" cy="110000"/>
          </a:xfrm>
          <a:prstGeom prst="diamond">
            <a:avLst/>
          </a:prstGeom>
          <a:solidFill>
            <a:srgbClr val="C0000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560000" y="2190000"/>
            <a:ext cx="1170000" cy="3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29/05 · 15/06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0000" y="2520000"/>
            <a:ext cx="700000" cy="3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F1F4C"/>
                </a:solidFill>
                <a:latin typeface="DM Sans"/>
              </a:rPr>
              <a:t>89267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50000" y="2520000"/>
            <a:ext cx="2050000" cy="3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Xambioá II – Araguanã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435478" y="2610000"/>
            <a:ext cx="707920" cy="15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166996" y="2610000"/>
            <a:ext cx="566336" cy="150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756930" y="2610000"/>
            <a:ext cx="353960" cy="150000"/>
          </a:xfrm>
          <a:prstGeom prst="rect">
            <a:avLst/>
          </a:prstGeom>
          <a:solidFill>
            <a:srgbClr val="628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158085" y="2610000"/>
            <a:ext cx="353960" cy="150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Diamond 54"/>
          <p:cNvSpPr/>
          <p:nvPr/>
        </p:nvSpPr>
        <p:spPr>
          <a:xfrm>
            <a:off x="6055891" y="2630000"/>
            <a:ext cx="110000" cy="110000"/>
          </a:xfrm>
          <a:prstGeom prst="diamond">
            <a:avLst/>
          </a:prstGeom>
          <a:solidFill>
            <a:srgbClr val="C0000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560000" y="2520000"/>
            <a:ext cx="1170000" cy="3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29/05 · 15/06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2850000"/>
            <a:ext cx="11277295" cy="330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20000" y="2850000"/>
            <a:ext cx="700000" cy="3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F1F4C"/>
                </a:solidFill>
                <a:latin typeface="DM Sans"/>
              </a:rPr>
              <a:t>92094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50000" y="2850000"/>
            <a:ext cx="2050000" cy="3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Palmas – Aparecida do Rio Negro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190594" y="2940000"/>
            <a:ext cx="707920" cy="15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22112" y="2940000"/>
            <a:ext cx="542739" cy="150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488448" y="2940000"/>
            <a:ext cx="353960" cy="150000"/>
          </a:xfrm>
          <a:prstGeom prst="rect">
            <a:avLst/>
          </a:prstGeom>
          <a:solidFill>
            <a:srgbClr val="628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866006" y="2940000"/>
            <a:ext cx="353960" cy="150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Diamond 63"/>
          <p:cNvSpPr/>
          <p:nvPr/>
        </p:nvSpPr>
        <p:spPr>
          <a:xfrm>
            <a:off x="6787409" y="2960000"/>
            <a:ext cx="110000" cy="110000"/>
          </a:xfrm>
          <a:prstGeom prst="diamond">
            <a:avLst/>
          </a:prstGeom>
          <a:solidFill>
            <a:srgbClr val="C0000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560000" y="2850000"/>
            <a:ext cx="1170000" cy="3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29/06 · 15/07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20000" y="3180000"/>
            <a:ext cx="700000" cy="3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F1F4C"/>
                </a:solidFill>
                <a:latin typeface="DM Sans"/>
              </a:rPr>
              <a:t>92095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50000" y="3180000"/>
            <a:ext cx="2050000" cy="3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Palmas – Lajeado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190594" y="3270000"/>
            <a:ext cx="707920" cy="15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922112" y="3270000"/>
            <a:ext cx="542739" cy="150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88448" y="3270000"/>
            <a:ext cx="353960" cy="150000"/>
          </a:xfrm>
          <a:prstGeom prst="rect">
            <a:avLst/>
          </a:prstGeom>
          <a:solidFill>
            <a:srgbClr val="628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866006" y="3270000"/>
            <a:ext cx="353960" cy="150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Diamond 71"/>
          <p:cNvSpPr/>
          <p:nvPr/>
        </p:nvSpPr>
        <p:spPr>
          <a:xfrm>
            <a:off x="6787409" y="3290000"/>
            <a:ext cx="110000" cy="110000"/>
          </a:xfrm>
          <a:prstGeom prst="diamond">
            <a:avLst/>
          </a:prstGeom>
          <a:solidFill>
            <a:srgbClr val="C0000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560000" y="3180000"/>
            <a:ext cx="1170000" cy="3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29/06 · 15/07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57200" y="3510000"/>
            <a:ext cx="11277295" cy="330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20000" y="3510000"/>
            <a:ext cx="700000" cy="3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F1F4C"/>
                </a:solidFill>
                <a:latin typeface="DM Sans"/>
              </a:rPr>
              <a:t>92101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250000" y="3510000"/>
            <a:ext cx="2050000" cy="3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8 de Palmas IV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190594" y="3600000"/>
            <a:ext cx="707920" cy="15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5922112" y="3600000"/>
            <a:ext cx="542739" cy="150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488448" y="3600000"/>
            <a:ext cx="353960" cy="150000"/>
          </a:xfrm>
          <a:prstGeom prst="rect">
            <a:avLst/>
          </a:prstGeom>
          <a:solidFill>
            <a:srgbClr val="628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866006" y="3600000"/>
            <a:ext cx="353960" cy="150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Diamond 80"/>
          <p:cNvSpPr/>
          <p:nvPr/>
        </p:nvSpPr>
        <p:spPr>
          <a:xfrm>
            <a:off x="6787409" y="3620000"/>
            <a:ext cx="110000" cy="110000"/>
          </a:xfrm>
          <a:prstGeom prst="diamond">
            <a:avLst/>
          </a:prstGeom>
          <a:solidFill>
            <a:srgbClr val="C0000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560000" y="3510000"/>
            <a:ext cx="1170000" cy="3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29/06 · 15/07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20000" y="3840000"/>
            <a:ext cx="700000" cy="3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F1F4C"/>
                </a:solidFill>
                <a:latin typeface="DM Sans"/>
              </a:rPr>
              <a:t>92102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250000" y="3840000"/>
            <a:ext cx="2050000" cy="3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6 de Palmas IV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190594" y="3930000"/>
            <a:ext cx="707920" cy="15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5922112" y="3930000"/>
            <a:ext cx="542739" cy="150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488448" y="3930000"/>
            <a:ext cx="353960" cy="150000"/>
          </a:xfrm>
          <a:prstGeom prst="rect">
            <a:avLst/>
          </a:prstGeom>
          <a:solidFill>
            <a:srgbClr val="628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866006" y="3930000"/>
            <a:ext cx="353960" cy="150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Diamond 88"/>
          <p:cNvSpPr/>
          <p:nvPr/>
        </p:nvSpPr>
        <p:spPr>
          <a:xfrm>
            <a:off x="6787409" y="3950000"/>
            <a:ext cx="110000" cy="110000"/>
          </a:xfrm>
          <a:prstGeom prst="diamond">
            <a:avLst/>
          </a:prstGeom>
          <a:solidFill>
            <a:srgbClr val="C0000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0560000" y="3840000"/>
            <a:ext cx="1170000" cy="3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29/06 · 15/07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57200" y="4170000"/>
            <a:ext cx="11277295" cy="330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20000" y="4170000"/>
            <a:ext cx="700000" cy="3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F1F4C"/>
                </a:solidFill>
                <a:latin typeface="DM Sans"/>
              </a:rPr>
              <a:t>70838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250000" y="4170000"/>
            <a:ext cx="2050000" cy="3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Cristalândia – Lagoa da Confusão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190594" y="4260000"/>
            <a:ext cx="707920" cy="15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5922112" y="4260000"/>
            <a:ext cx="542739" cy="150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6488448" y="4260000"/>
            <a:ext cx="353960" cy="150000"/>
          </a:xfrm>
          <a:prstGeom prst="rect">
            <a:avLst/>
          </a:prstGeom>
          <a:solidFill>
            <a:srgbClr val="628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6866006" y="4260000"/>
            <a:ext cx="353960" cy="150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Diamond 97"/>
          <p:cNvSpPr/>
          <p:nvPr/>
        </p:nvSpPr>
        <p:spPr>
          <a:xfrm>
            <a:off x="6787409" y="4280000"/>
            <a:ext cx="110000" cy="110000"/>
          </a:xfrm>
          <a:prstGeom prst="diamond">
            <a:avLst/>
          </a:prstGeom>
          <a:solidFill>
            <a:srgbClr val="C0000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0560000" y="4170000"/>
            <a:ext cx="1170000" cy="3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29/06 · 15/07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20000" y="4500000"/>
            <a:ext cx="700000" cy="3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F1F4C"/>
                </a:solidFill>
                <a:latin typeface="DM Sans"/>
              </a:rPr>
              <a:t>70978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250000" y="4500000"/>
            <a:ext cx="2050000" cy="3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Paraíso – Caseara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190594" y="4590000"/>
            <a:ext cx="707920" cy="15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5922112" y="4590000"/>
            <a:ext cx="542739" cy="150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6488448" y="4590000"/>
            <a:ext cx="353960" cy="150000"/>
          </a:xfrm>
          <a:prstGeom prst="rect">
            <a:avLst/>
          </a:prstGeom>
          <a:solidFill>
            <a:srgbClr val="628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6866006" y="4590000"/>
            <a:ext cx="353960" cy="150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Diamond 105"/>
          <p:cNvSpPr/>
          <p:nvPr/>
        </p:nvSpPr>
        <p:spPr>
          <a:xfrm>
            <a:off x="6787409" y="4610000"/>
            <a:ext cx="110000" cy="110000"/>
          </a:xfrm>
          <a:prstGeom prst="diamond">
            <a:avLst/>
          </a:prstGeom>
          <a:solidFill>
            <a:srgbClr val="C0000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560000" y="4500000"/>
            <a:ext cx="1170000" cy="3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29/06 · 15/07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57200" y="4830000"/>
            <a:ext cx="11277295" cy="330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20000" y="4830000"/>
            <a:ext cx="700000" cy="3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F1F4C"/>
                </a:solidFill>
                <a:latin typeface="DM Sans"/>
              </a:rPr>
              <a:t>89249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250000" y="4830000"/>
            <a:ext cx="2050000" cy="3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Araguaína – Babaçulândia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677227" y="4920000"/>
            <a:ext cx="707920" cy="15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7408745" y="4920000"/>
            <a:ext cx="542739" cy="150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7975082" y="4920000"/>
            <a:ext cx="353960" cy="150000"/>
          </a:xfrm>
          <a:prstGeom prst="rect">
            <a:avLst/>
          </a:prstGeom>
          <a:solidFill>
            <a:srgbClr val="628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8352640" y="4920000"/>
            <a:ext cx="377557" cy="150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Diamond 114"/>
          <p:cNvSpPr/>
          <p:nvPr/>
        </p:nvSpPr>
        <p:spPr>
          <a:xfrm>
            <a:off x="8274042" y="4940000"/>
            <a:ext cx="110000" cy="110000"/>
          </a:xfrm>
          <a:prstGeom prst="diamond">
            <a:avLst/>
          </a:prstGeom>
          <a:solidFill>
            <a:srgbClr val="C0000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0560000" y="4830000"/>
            <a:ext cx="1170000" cy="3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31/08 · 17/09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20000" y="5160000"/>
            <a:ext cx="700000" cy="3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F1F4C"/>
                </a:solidFill>
                <a:latin typeface="DM Sans"/>
              </a:rPr>
              <a:t>89307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250000" y="5160000"/>
            <a:ext cx="2050000" cy="3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1 de Figueirópolis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677227" y="5250000"/>
            <a:ext cx="707920" cy="15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7408745" y="5250000"/>
            <a:ext cx="542739" cy="150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7975082" y="5250000"/>
            <a:ext cx="353960" cy="150000"/>
          </a:xfrm>
          <a:prstGeom prst="rect">
            <a:avLst/>
          </a:prstGeom>
          <a:solidFill>
            <a:srgbClr val="628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8352640" y="5250000"/>
            <a:ext cx="377557" cy="150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Diamond 122"/>
          <p:cNvSpPr/>
          <p:nvPr/>
        </p:nvSpPr>
        <p:spPr>
          <a:xfrm>
            <a:off x="8274042" y="5270000"/>
            <a:ext cx="110000" cy="110000"/>
          </a:xfrm>
          <a:prstGeom prst="diamond">
            <a:avLst/>
          </a:prstGeom>
          <a:solidFill>
            <a:srgbClr val="C0000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0560000" y="5160000"/>
            <a:ext cx="1170000" cy="3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31/08 · 17/09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10162636" y="1530000"/>
            <a:ext cx="14000" cy="3960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9469636" y="5510000"/>
            <a:ext cx="1400000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 i="0">
                <a:solidFill>
                  <a:srgbClr val="C00000"/>
                </a:solidFill>
                <a:latin typeface="DM Sans"/>
              </a:rPr>
              <a:t>Limite contábil 17/11/2027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57200" y="5860000"/>
            <a:ext cx="220000" cy="12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727200" y="5820000"/>
            <a:ext cx="2100000" cy="2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4D4D4D"/>
                </a:solidFill>
                <a:latin typeface="DM Sans"/>
              </a:rPr>
              <a:t>Execução (instalação)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857200" y="5860000"/>
            <a:ext cx="220000" cy="120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3127200" y="5820000"/>
            <a:ext cx="2100000" cy="2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4D4D4D"/>
                </a:solidFill>
                <a:latin typeface="DM Sans"/>
              </a:rPr>
              <a:t>Fiscalização + Cadastro EO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5257200" y="5860000"/>
            <a:ext cx="220000" cy="120000"/>
          </a:xfrm>
          <a:prstGeom prst="rect">
            <a:avLst/>
          </a:prstGeom>
          <a:solidFill>
            <a:srgbClr val="628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5527200" y="5820000"/>
            <a:ext cx="2100000" cy="2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4D4D4D"/>
                </a:solidFill>
                <a:latin typeface="DM Sans"/>
              </a:rPr>
              <a:t>TCI / GAT / Comissionamento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7657200" y="5860000"/>
            <a:ext cx="220000" cy="120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7927200" y="5820000"/>
            <a:ext cx="2100000" cy="2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4D4D4D"/>
                </a:solidFill>
                <a:latin typeface="DM Sans"/>
              </a:rPr>
              <a:t>Enc. Técnico + Contábil</a:t>
            </a:r>
          </a:p>
        </p:txBody>
      </p:sp>
      <p:sp>
        <p:nvSpPr>
          <p:cNvPr id="135" name="Diamond 134"/>
          <p:cNvSpPr/>
          <p:nvPr/>
        </p:nvSpPr>
        <p:spPr>
          <a:xfrm>
            <a:off x="10107200" y="5850000"/>
            <a:ext cx="120000" cy="120000"/>
          </a:xfrm>
          <a:prstGeom prst="diamond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10277200" y="5820000"/>
            <a:ext cx="1500000" cy="2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4D4D4D"/>
                </a:solidFill>
                <a:latin typeface="DM Sans"/>
              </a:rPr>
              <a:t>Equip. em operação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57200" y="6090000"/>
            <a:ext cx="11277295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989898"/>
                </a:solidFill>
                <a:latin typeface="DM Sans"/>
              </a:rPr>
              <a:t>12 SIGCOs · 9 RT, 13 RL e 3 TripSavers · primeira execução em 01/02/27, última energização em 31/08/27, encerramento contábil até 17/09/27 (limite 17/11/2027).</a:t>
            </a:r>
          </a:p>
        </p:txBody>
      </p:sp>
    </p:spTree>
    <p:extLst>
      <p:ext uri="{BB962C8B-B14F-4D97-AF65-F5344CB8AC3E}">
        <p14:creationId xmlns:p14="http://schemas.microsoft.com/office/powerpoint/2010/main" val="17488687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892F2-413B-FB08-F734-3432928B2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9A7A9CB9-DB87-EDEF-FF05-2F8A56908B51}"/>
              </a:ext>
            </a:extLst>
          </p:cNvPr>
          <p:cNvSpPr txBox="1">
            <a:spLocks/>
          </p:cNvSpPr>
          <p:nvPr/>
        </p:nvSpPr>
        <p:spPr>
          <a:xfrm>
            <a:off x="457200" y="566928"/>
            <a:ext cx="7790688" cy="566928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000" b="1">
                <a:solidFill>
                  <a:srgbClr val="1F1F4C"/>
                </a:solidFill>
                <a:latin typeface="DM Sans"/>
              </a:rPr>
              <a:t>Cronograma Detalhado do projeto</a:t>
            </a:r>
          </a:p>
        </p:txBody>
      </p:sp>
      <p:sp>
        <p:nvSpPr>
          <p:cNvPr id="7" name="Eyebrow">
            <a:extLst>
              <a:ext uri="{FF2B5EF4-FFF2-40B4-BE49-F238E27FC236}">
                <a16:creationId xmlns:a16="http://schemas.microsoft.com/office/drawing/2014/main" id="{56570C7F-46D1-416F-022D-99F82A30AF7B}"/>
              </a:ext>
            </a:extLst>
          </p:cNvPr>
          <p:cNvSpPr txBox="1"/>
          <p:nvPr/>
        </p:nvSpPr>
        <p:spPr>
          <a:xfrm>
            <a:off x="457200" y="347472"/>
            <a:ext cx="7315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F47B20"/>
                </a:solidFill>
                <a:latin typeface="DM Sans"/>
              </a:rPr>
              <a:t>KICKOFF MEETING</a:t>
            </a:r>
            <a:r>
              <a:rPr sz="1100" b="1" i="0" spc="150">
                <a:solidFill>
                  <a:srgbClr val="989898"/>
                </a:solidFill>
                <a:latin typeface="DM Sans"/>
              </a:rPr>
              <a:t>   |   PN 2027 · 12 SIGCOs</a:t>
            </a:r>
            <a:endParaRPr sz="1100" b="1" i="0" spc="150">
              <a:solidFill>
                <a:srgbClr val="989898"/>
              </a:solidFill>
              <a:latin typeface="DM Sans"/>
            </a:endParaRPr>
          </a:p>
        </p:txBody>
      </p:sp>
      <p:sp>
        <p:nvSpPr>
          <p:cNvPr id="8" name="Rodapé">
            <a:extLst>
              <a:ext uri="{FF2B5EF4-FFF2-40B4-BE49-F238E27FC236}">
                <a16:creationId xmlns:a16="http://schemas.microsoft.com/office/drawing/2014/main" id="{5812CB6B-1816-43D3-C1AD-B01D7C3F16F7}"/>
              </a:ext>
            </a:extLst>
          </p:cNvPr>
          <p:cNvSpPr txBox="1"/>
          <p:nvPr/>
        </p:nvSpPr>
        <p:spPr>
          <a:xfrm>
            <a:off x="457200" y="6428232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1F4C"/>
                </a:solidFill>
                <a:latin typeface="DM Sans"/>
              </a:rPr>
              <a:t>10</a:t>
            </a:r>
            <a:r>
              <a:rPr sz="900" b="0" i="0">
                <a:solidFill>
                  <a:srgbClr val="989898"/>
                </a:solidFill>
                <a:latin typeface="DM Sans"/>
              </a:rPr>
              <a:t>  ·  </a:t>
            </a:r>
            <a:r>
              <a:rPr lang="pt-BR" sz="900" b="0" i="0">
                <a:solidFill>
                  <a:srgbClr val="989898"/>
                </a:solidFill>
                <a:latin typeface="DM Sans"/>
              </a:rPr>
              <a:t>PN 2027 – INSTALAÇÃO DE EQUIPAMENTOS ESPECIAIS (RL E RT)</a:t>
            </a:r>
            <a:endParaRPr sz="900" b="0" i="0">
              <a:solidFill>
                <a:srgbClr val="989898"/>
              </a:solidFill>
              <a:latin typeface="DM Sans"/>
            </a:endParaRPr>
          </a:p>
        </p:txBody>
      </p:sp>
      <p:graphicFrame>
        <p:nvGraphicFramePr>
          <p:cNvPr id="9" name="Tabela cronograma detalhado">
            <a:extLst>
              <a:ext uri="{FF2B5EF4-FFF2-40B4-BE49-F238E27FC236}">
                <a16:creationId xmlns:a16="http://schemas.microsoft.com/office/drawing/2014/main" id="{7DFBEB2F-F1D0-01F1-F9B5-20B36C8ABC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41225"/>
              </p:ext>
            </p:extLst>
          </p:nvPr>
        </p:nvGraphicFramePr>
        <p:xfrm>
          <a:off x="457200" y="1215000"/>
          <a:ext cx="11275000" cy="39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00000"/>
                <a:gridCol w="975000"/>
                <a:gridCol w="975000"/>
                <a:gridCol w="975000"/>
                <a:gridCol w="975000"/>
                <a:gridCol w="975000"/>
                <a:gridCol w="975000"/>
                <a:gridCol w="975000"/>
                <a:gridCol w="975000"/>
                <a:gridCol w="975000"/>
              </a:tblGrid>
              <a:tr h="300000">
                <a:tc>
                  <a:txBody>
                    <a:bodyPr/>
                    <a:lstStyle/>
                    <a:p>
                      <a:pPr algn="l"/>
                      <a:r>
                        <a:rPr lang="pt-BR" sz="750" b="1" i="0">
                          <a:solidFill>
                            <a:srgbClr val="1F1F4C"/>
                          </a:solidFill>
                          <a:latin typeface="DM Sans"/>
                        </a:rPr>
                        <a:t>SIGCO / Projeto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1" i="0">
                          <a:solidFill>
                            <a:srgbClr val="1F1F4C"/>
                          </a:solidFill>
                          <a:latin typeface="DM Sans"/>
                        </a:rPr>
                        <a:t>Execução
30/45 d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1" i="0">
                          <a:solidFill>
                            <a:srgbClr val="1F1F4C"/>
                          </a:solidFill>
                          <a:latin typeface="DM Sans"/>
                        </a:rPr>
                        <a:t>Fiscalização
12 d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1" i="0">
                          <a:solidFill>
                            <a:srgbClr val="1F1F4C"/>
                          </a:solidFill>
                          <a:latin typeface="DM Sans"/>
                        </a:rPr>
                        <a:t>Cadastro EO
10 d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1" i="0">
                          <a:solidFill>
                            <a:srgbClr val="1F1F4C"/>
                          </a:solidFill>
                          <a:latin typeface="DM Sans"/>
                        </a:rPr>
                        <a:t>TCI / Integração
15 d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1" i="0">
                          <a:solidFill>
                            <a:srgbClr val="1F1F4C"/>
                          </a:solidFill>
                          <a:latin typeface="DM Sans"/>
                        </a:rPr>
                        <a:t>GAT
8 d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1" i="0">
                          <a:solidFill>
                            <a:srgbClr val="1F1F4C"/>
                          </a:solidFill>
                          <a:latin typeface="DM Sans"/>
                        </a:rPr>
                        <a:t>Comissionamento
15 d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1" i="0">
                          <a:solidFill>
                            <a:srgbClr val="1F1F4C"/>
                          </a:solidFill>
                          <a:latin typeface="DM Sans"/>
                        </a:rPr>
                        <a:t>Em operação
(marco)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1" i="0">
                          <a:solidFill>
                            <a:srgbClr val="1F1F4C"/>
                          </a:solidFill>
                          <a:latin typeface="DM Sans"/>
                        </a:rPr>
                        <a:t>Enc. Técnico
7 d úteis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1" i="0">
                          <a:solidFill>
                            <a:srgbClr val="1F1F4C"/>
                          </a:solidFill>
                          <a:latin typeface="DM Sans"/>
                        </a:rPr>
                        <a:t>Enc. Contábil
3 d úteis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lang="pt-BR" sz="750" b="1" i="0">
                          <a:solidFill>
                            <a:srgbClr val="1F1F4C"/>
                          </a:solidFill>
                          <a:latin typeface="DM Sans"/>
                        </a:rPr>
                        <a:t>90811 – UHE Isamu – Ponte Alta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01/02 a 18/03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19/03 a 31/03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01/04 a 11/04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12/04 a 27/04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12/04 a 20/04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12/04 a 27/04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27/04/27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28/04 a 07/05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10/05 a 13/05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lang="pt-BR" sz="750" b="1" i="0">
                          <a:solidFill>
                            <a:srgbClr val="1F1F4C"/>
                          </a:solidFill>
                          <a:latin typeface="DM Sans"/>
                        </a:rPr>
                        <a:t>91979 – Gurupi – Duere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19/03 a 18/04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19/04 a 01/05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03/05 a 13/05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14/05 a 29/05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14/05 a 22/05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14/05 a 29/05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29/05/27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31/05 a 09/06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10/06 a 15/06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lang="pt-BR" sz="750" b="1" i="0">
                          <a:solidFill>
                            <a:srgbClr val="1F1F4C"/>
                          </a:solidFill>
                          <a:latin typeface="DM Sans"/>
                        </a:rPr>
                        <a:t>92118 – 4 de Araguaína IV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19/03 a 18/04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19/04 a 01/05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03/05 a 13/05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14/05 a 29/05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14/05 a 22/05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14/05 a 29/05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29/05/27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31/05 a 09/06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10/06 a 15/06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lang="pt-BR" sz="750" b="1" i="0">
                          <a:solidFill>
                            <a:srgbClr val="1F1F4C"/>
                          </a:solidFill>
                          <a:latin typeface="DM Sans"/>
                        </a:rPr>
                        <a:t>89267 – Xambioá II – Araguanã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19/03 a 18/04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19/04 a 01/05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03/05 a 13/05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14/05 a 29/05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14/05 a 22/05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14/05 a 29/05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29/05/27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31/05 a 09/06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10/06 a 15/06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lang="pt-BR" sz="750" b="1" i="0">
                          <a:solidFill>
                            <a:srgbClr val="1F1F4C"/>
                          </a:solidFill>
                          <a:latin typeface="DM Sans"/>
                        </a:rPr>
                        <a:t>92094 – Palmas – Aparecida do Rio Negro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20/04 a 20/05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21/05 a 02/06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03/06 a 13/06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14/06 a 29/06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14/06 a 22/06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14/06 a 29/06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29/06/27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30/06 a 09/07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12/07 a 15/07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lang="pt-BR" sz="750" b="1" i="0">
                          <a:solidFill>
                            <a:srgbClr val="1F1F4C"/>
                          </a:solidFill>
                          <a:latin typeface="DM Sans"/>
                        </a:rPr>
                        <a:t>92095 – Palmas – Lajeado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20/04 a 20/05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21/05 a 02/06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03/06 a 13/06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14/06 a 29/06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14/06 a 22/06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14/06 a 29/06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29/06/27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30/06 a 09/07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12/07 a 15/07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lang="pt-BR" sz="750" b="1" i="0">
                          <a:solidFill>
                            <a:srgbClr val="1F1F4C"/>
                          </a:solidFill>
                          <a:latin typeface="DM Sans"/>
                        </a:rPr>
                        <a:t>92101 – 8 de Palmas IV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20/04 a 20/05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21/05 a 02/06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03/06 a 13/06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14/06 a 29/06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14/06 a 22/06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14/06 a 29/06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29/06/27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30/06 a 09/07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12/07 a 15/07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lang="pt-BR" sz="750" b="1" i="0">
                          <a:solidFill>
                            <a:srgbClr val="1F1F4C"/>
                          </a:solidFill>
                          <a:latin typeface="DM Sans"/>
                        </a:rPr>
                        <a:t>92102 – 6 de Palmas IV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20/04 a 20/05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21/05 a 02/06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03/06 a 13/06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14/06 a 29/06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14/06 a 22/06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14/06 a 29/06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29/06/27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30/06 a 09/07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12/07 a 15/07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lang="pt-BR" sz="750" b="1" i="0">
                          <a:solidFill>
                            <a:srgbClr val="1F1F4C"/>
                          </a:solidFill>
                          <a:latin typeface="DM Sans"/>
                        </a:rPr>
                        <a:t>70838 – Cristalândia – Lagoa da Confusão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20/04 a 20/05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21/05 a 02/06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03/06 a 13/06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14/06 a 29/06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14/06 a 22/06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14/06 a 29/06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29/06/27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30/06 a 09/07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12/07 a 15/07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lang="pt-BR" sz="750" b="1" i="0">
                          <a:solidFill>
                            <a:srgbClr val="1F1F4C"/>
                          </a:solidFill>
                          <a:latin typeface="DM Sans"/>
                        </a:rPr>
                        <a:t>70978 – Paraíso – Caseara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20/04 a 20/05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21/05 a 02/06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03/06 a 13/06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14/06 a 29/06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14/06 a 22/06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14/06 a 29/06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29/06/27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30/06 a 09/07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12/07 a 15/07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lang="pt-BR" sz="750" b="1" i="0">
                          <a:solidFill>
                            <a:srgbClr val="1F1F4C"/>
                          </a:solidFill>
                          <a:latin typeface="DM Sans"/>
                        </a:rPr>
                        <a:t>89249 – Araguaína – Babaçulândia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22/06 a 22/07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23/07 a 04/08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05/08 a 15/08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16/08 a 31/08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16/08 a 24/08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16/08 a 31/08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31/08/27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01/09 a 13/09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14/09 a 17/09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lang="pt-BR" sz="750" b="1" i="0">
                          <a:solidFill>
                            <a:srgbClr val="1F1F4C"/>
                          </a:solidFill>
                          <a:latin typeface="DM Sans"/>
                        </a:rPr>
                        <a:t>89307 – 1 de Figueirópolis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22/06 a 22/07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23/07 a 04/08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05/08 a 15/08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16/08 a 31/08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16/08 a 24/08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16/08 a 31/08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31/08/27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01/09 a 13/09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750" b="0" i="0">
                          <a:solidFill>
                            <a:srgbClr val="4D4D4D"/>
                          </a:solidFill>
                          <a:latin typeface="DM Sans"/>
                        </a:rPr>
                        <a:t>14/09 a 17/09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5215000"/>
            <a:ext cx="11277295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989898"/>
                </a:solidFill>
                <a:latin typeface="DM Sans"/>
              </a:rPr>
              <a:t>Datas dd/mm de 2027 (marco de operação: dd/mm/aa). Execução: 30 dias (pacotes até 4 equipamentos) ou 45 dias (SIGCO 90811). Prazos do histórico PN 2026 de RL/RT.</a:t>
            </a:r>
          </a:p>
          <a:p>
            <a:pPr algn="l"/>
            <a:r>
              <a:rPr sz="850" b="0" i="1">
                <a:solidFill>
                  <a:srgbClr val="989898"/>
                </a:solidFill>
                <a:latin typeface="DM Sans"/>
              </a:rPr>
              <a:t>Início da execução calculado de trás para frente a partir do mês-meta de energização (TM 06/10/2026); encerramento contábil dentro do limite de 17/11/2027.</a:t>
            </a:r>
          </a:p>
        </p:txBody>
      </p:sp>
    </p:spTree>
    <p:extLst>
      <p:ext uri="{BB962C8B-B14F-4D97-AF65-F5344CB8AC3E}">
        <p14:creationId xmlns:p14="http://schemas.microsoft.com/office/powerpoint/2010/main" val="27835562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76656" y="2468880"/>
            <a:ext cx="6400800" cy="1280160"/>
          </a:xfrm>
        </p:spPr>
        <p:txBody>
          <a:bodyPr lIns="0" tIns="0" rIns="0" bIns="0" anchor="t"/>
          <a:lstStyle/>
          <a:p>
            <a:r>
              <a:rPr sz="9200" b="1" i="0" spc="-150">
                <a:solidFill>
                  <a:srgbClr val="1F1F4C"/>
                </a:solidFill>
                <a:latin typeface="DM Sans"/>
              </a:rPr>
              <a:t>Obrigado</a:t>
            </a:r>
            <a:r>
              <a:rPr sz="9200" b="1" i="0">
                <a:solidFill>
                  <a:srgbClr val="F47B20"/>
                </a:solidFill>
                <a:latin typeface="DM Sans"/>
              </a:rPr>
              <a:t>.</a:t>
            </a:r>
          </a:p>
        </p:txBody>
      </p:sp>
      <p:sp>
        <p:nvSpPr>
          <p:cNvPr id="4" name="Anel 1"/>
          <p:cNvSpPr/>
          <p:nvPr/>
        </p:nvSpPr>
        <p:spPr>
          <a:xfrm>
            <a:off x="6492240" y="-502919"/>
            <a:ext cx="7863840" cy="7863840"/>
          </a:xfrm>
          <a:prstGeom prst="ellipse">
            <a:avLst/>
          </a:prstGeom>
          <a:noFill/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nel 2"/>
          <p:cNvSpPr/>
          <p:nvPr/>
        </p:nvSpPr>
        <p:spPr>
          <a:xfrm>
            <a:off x="7406640" y="411480"/>
            <a:ext cx="6035040" cy="6035040"/>
          </a:xfrm>
          <a:prstGeom prst="ellipse">
            <a:avLst/>
          </a:prstGeom>
          <a:noFill/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Anel 3"/>
          <p:cNvSpPr/>
          <p:nvPr/>
        </p:nvSpPr>
        <p:spPr>
          <a:xfrm>
            <a:off x="8321040" y="1325880"/>
            <a:ext cx="4206240" cy="4206240"/>
          </a:xfrm>
          <a:prstGeom prst="ellipse">
            <a:avLst/>
          </a:prstGeom>
          <a:noFill/>
          <a:ln w="15875">
            <a:solidFill>
              <a:srgbClr val="009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Esfera gradiente"/>
          <p:cNvSpPr/>
          <p:nvPr/>
        </p:nvSpPr>
        <p:spPr>
          <a:xfrm>
            <a:off x="9464040" y="2468880"/>
            <a:ext cx="1920240" cy="1920240"/>
          </a:xfrm>
          <a:prstGeom prst="ellipse">
            <a:avLst/>
          </a:prstGeom>
          <a:gradFill rotWithShape="1">
            <a:gsLst>
              <a:gs pos="0">
                <a:srgbClr val="009FC2"/>
              </a:gs>
              <a:gs pos="100000">
                <a:srgbClr val="B5E622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Ponto laranja"/>
          <p:cNvSpPr/>
          <p:nvPr/>
        </p:nvSpPr>
        <p:spPr>
          <a:xfrm>
            <a:off x="8247888" y="1783080"/>
            <a:ext cx="201168" cy="201168"/>
          </a:xfrm>
          <a:prstGeom prst="ellipse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Logo Energisa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40080"/>
            <a:ext cx="1600200" cy="520954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731520" y="21488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F47B20"/>
                </a:solidFill>
                <a:latin typeface="DM Sans"/>
              </a:rPr>
              <a:t>KICKOFF MEETING  ·  PN 2027</a:t>
            </a:r>
          </a:p>
        </p:txBody>
      </p:sp>
      <p:sp>
        <p:nvSpPr>
          <p:cNvPr id="11" name="Mensagem"/>
          <p:cNvSpPr txBox="1"/>
          <p:nvPr/>
        </p:nvSpPr>
        <p:spPr>
          <a:xfrm>
            <a:off x="731520" y="3840480"/>
            <a:ext cx="60350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600">
                <a:solidFill>
                  <a:srgbClr val="4D4D4D"/>
                </a:solidFill>
                <a:latin typeface="DM Sans"/>
              </a:rPr>
              <a:t>Escritório de Projetos PMO-ETO</a:t>
            </a:r>
            <a:endParaRPr sz="1600" b="0" i="0">
              <a:solidFill>
                <a:srgbClr val="4D4D4D"/>
              </a:solidFill>
              <a:latin typeface="DM Sans"/>
            </a:endParaRPr>
          </a:p>
        </p:txBody>
      </p:sp>
      <p:sp>
        <p:nvSpPr>
          <p:cNvPr id="12" name="Badge user"/>
          <p:cNvSpPr/>
          <p:nvPr/>
        </p:nvSpPr>
        <p:spPr>
          <a:xfrm>
            <a:off x="731520" y="5257800"/>
            <a:ext cx="402336" cy="402336"/>
          </a:xfrm>
          <a:prstGeom prst="ellipse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Ícone user" descr="us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5358384"/>
            <a:ext cx="201168" cy="201168"/>
          </a:xfrm>
          <a:prstGeom prst="rect">
            <a:avLst/>
          </a:prstGeom>
        </p:spPr>
      </p:pic>
      <p:sp>
        <p:nvSpPr>
          <p:cNvPr id="14" name="Contato GERENTE DO PROJETO"/>
          <p:cNvSpPr txBox="1"/>
          <p:nvPr/>
        </p:nvSpPr>
        <p:spPr>
          <a:xfrm>
            <a:off x="1261872" y="5239512"/>
            <a:ext cx="201168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989898"/>
                </a:solidFill>
                <a:latin typeface="DM Sans"/>
              </a:rPr>
              <a:t>GERENTE DO PROJETO</a:t>
            </a:r>
          </a:p>
          <a:p>
            <a:pPr algn="l"/>
            <a:r>
              <a:rPr lang="pt-BR" sz="1300" b="1" i="0">
                <a:solidFill>
                  <a:srgbClr val="1F1F4C"/>
                </a:solidFill>
                <a:latin typeface="DM Sans"/>
              </a:rPr>
              <a:t>Sandro Padilha</a:t>
            </a:r>
            <a:endParaRPr sz="1300" b="1" i="0">
              <a:solidFill>
                <a:srgbClr val="1F1F4C"/>
              </a:solidFill>
              <a:latin typeface="DM Sans"/>
            </a:endParaRPr>
          </a:p>
        </p:txBody>
      </p:sp>
      <p:sp>
        <p:nvSpPr>
          <p:cNvPr id="15" name="Badge pin"/>
          <p:cNvSpPr/>
          <p:nvPr/>
        </p:nvSpPr>
        <p:spPr>
          <a:xfrm>
            <a:off x="3063240" y="5257800"/>
            <a:ext cx="402336" cy="402336"/>
          </a:xfrm>
          <a:prstGeom prst="ellipse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Ícone pin" descr="pi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3824" y="5358384"/>
            <a:ext cx="201168" cy="201168"/>
          </a:xfrm>
          <a:prstGeom prst="rect">
            <a:avLst/>
          </a:prstGeom>
        </p:spPr>
      </p:pic>
      <p:sp>
        <p:nvSpPr>
          <p:cNvPr id="17" name="Contato UNIDADE"/>
          <p:cNvSpPr txBox="1"/>
          <p:nvPr/>
        </p:nvSpPr>
        <p:spPr>
          <a:xfrm>
            <a:off x="3593592" y="5239512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989898"/>
                </a:solidFill>
                <a:latin typeface="DM Sans"/>
              </a:rPr>
              <a:t>UNIDADE</a:t>
            </a:r>
          </a:p>
          <a:p>
            <a:pPr algn="l"/>
            <a:r>
              <a:rPr sz="1300" b="1" i="0">
                <a:solidFill>
                  <a:srgbClr val="1F1F4C"/>
                </a:solidFill>
                <a:latin typeface="DM Sans"/>
              </a:rPr>
              <a:t>Energisa Tocantins</a:t>
            </a:r>
          </a:p>
        </p:txBody>
      </p:sp>
      <p:cxnSp>
        <p:nvCxnSpPr>
          <p:cNvPr id="18" name="Separador"/>
          <p:cNvCxnSpPr/>
          <p:nvPr/>
        </p:nvCxnSpPr>
        <p:spPr>
          <a:xfrm>
            <a:off x="2852928" y="5257800"/>
            <a:ext cx="0" cy="41148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Title 2">
            <a:extLst>
              <a:ext uri="{FF2B5EF4-FFF2-40B4-BE49-F238E27FC236}">
                <a16:creationId xmlns:a16="http://schemas.microsoft.com/office/drawing/2014/main" id="{9A7A9CB9-DB87-EDEF-FF05-2F8A56908B51}"/>
              </a:ext>
            </a:extLst>
          </p:cNvPr>
          <p:cNvSpPr txBox="1">
            <a:spLocks/>
          </p:cNvSpPr>
          <p:nvPr/>
        </p:nvSpPr>
        <p:spPr>
          <a:xfrm>
            <a:off x="457200" y="566928"/>
            <a:ext cx="7790688" cy="566928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000" b="1">
                <a:solidFill>
                  <a:srgbClr val="1F1F4C"/>
                </a:solidFill>
                <a:latin typeface="DM Sans"/>
              </a:rPr>
              <a:t>WBS – EAP do Projeto (PMBOK)</a:t>
            </a:r>
          </a:p>
        </p:txBody>
      </p:sp>
      <p:sp>
        <p:nvSpPr>
          <p:cNvPr id="7" name="Eyebrow">
            <a:extLst>
              <a:ext uri="{FF2B5EF4-FFF2-40B4-BE49-F238E27FC236}">
                <a16:creationId xmlns:a16="http://schemas.microsoft.com/office/drawing/2014/main" id="{56570C7F-46D1-416F-022D-99F82A30AF7B}"/>
              </a:ext>
            </a:extLst>
          </p:cNvPr>
          <p:cNvSpPr txBox="1"/>
          <p:nvPr/>
        </p:nvSpPr>
        <p:spPr>
          <a:xfrm>
            <a:off x="457200" y="347472"/>
            <a:ext cx="7315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F47B20"/>
                </a:solidFill>
                <a:latin typeface="DM Sans"/>
              </a:rPr>
              <a:t>KICKOFF MEETING</a:t>
            </a:r>
            <a:r>
              <a:rPr sz="1100" b="1" i="0" spc="150">
                <a:solidFill>
                  <a:srgbClr val="989898"/>
                </a:solidFill>
                <a:latin typeface="DM Sans"/>
              </a:rPr>
              <a:t>   |   PN 2027 · 12 SIGCOs</a:t>
            </a:r>
            <a:endParaRPr sz="1100" b="1" i="0" spc="150">
              <a:solidFill>
                <a:srgbClr val="989898"/>
              </a:solidFill>
              <a:latin typeface="DM Sans"/>
            </a:endParaRPr>
          </a:p>
        </p:txBody>
      </p:sp>
      <p:sp>
        <p:nvSpPr>
          <p:cNvPr id="8" name="Rodapé">
            <a:extLst>
              <a:ext uri="{FF2B5EF4-FFF2-40B4-BE49-F238E27FC236}">
                <a16:creationId xmlns:a16="http://schemas.microsoft.com/office/drawing/2014/main" id="{5812CB6B-1816-43D3-C1AD-B01D7C3F16F7}"/>
              </a:ext>
            </a:extLst>
          </p:cNvPr>
          <p:cNvSpPr txBox="1"/>
          <p:nvPr/>
        </p:nvSpPr>
        <p:spPr>
          <a:xfrm>
            <a:off x="457200" y="6428232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1F4C"/>
                </a:solidFill>
                <a:latin typeface="DM Sans"/>
              </a:rPr>
              <a:t>07</a:t>
            </a:r>
            <a:r>
              <a:rPr sz="900" b="0" i="0">
                <a:solidFill>
                  <a:srgbClr val="989898"/>
                </a:solidFill>
                <a:latin typeface="DM Sans"/>
              </a:rPr>
              <a:t>  ·  </a:t>
            </a:r>
            <a:r>
              <a:rPr lang="pt-BR" sz="900" b="0" i="0">
                <a:solidFill>
                  <a:srgbClr val="989898"/>
                </a:solidFill>
                <a:latin typeface="DM Sans"/>
              </a:rPr>
              <a:t>PN 2027 – INSTALAÇÃO DE EQUIPAMENTOS ESPECIAIS (RL E RT)</a:t>
            </a:r>
            <a:endParaRPr sz="900" b="0" i="0">
              <a:solidFill>
                <a:srgbClr val="989898"/>
              </a:solidFill>
              <a:latin typeface="DM San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795847" y="1250000"/>
            <a:ext cx="6600000" cy="400000"/>
          </a:xfrm>
          <a:prstGeom prst="roundRect">
            <a:avLst>
              <a:gd name="adj" fmla="val 15000"/>
            </a:avLst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95847" y="1250000"/>
            <a:ext cx="66000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DM Sans"/>
              </a:rPr>
              <a:t>1  PN 2027 – Instalação de Equipamentos Especiais (RL e RT)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9847" y="1650000"/>
            <a:ext cx="12000" cy="170000"/>
          </a:xfrm>
          <a:prstGeom prst="rect">
            <a:avLst/>
          </a:prstGeom>
          <a:solidFill>
            <a:srgbClr val="989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57200" y="1815000"/>
            <a:ext cx="7188647" cy="12000"/>
          </a:xfrm>
          <a:prstGeom prst="rect">
            <a:avLst/>
          </a:prstGeom>
          <a:solidFill>
            <a:srgbClr val="989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51200" y="1815000"/>
            <a:ext cx="12000" cy="195000"/>
          </a:xfrm>
          <a:prstGeom prst="rect">
            <a:avLst/>
          </a:prstGeom>
          <a:solidFill>
            <a:srgbClr val="989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01200" y="1815000"/>
            <a:ext cx="12000" cy="195000"/>
          </a:xfrm>
          <a:prstGeom prst="rect">
            <a:avLst/>
          </a:prstGeom>
          <a:solidFill>
            <a:srgbClr val="989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39847" y="1815000"/>
            <a:ext cx="12000" cy="195000"/>
          </a:xfrm>
          <a:prstGeom prst="rect">
            <a:avLst/>
          </a:prstGeom>
          <a:solidFill>
            <a:srgbClr val="989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2010000"/>
            <a:ext cx="2800000" cy="39000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7200" y="2065000"/>
            <a:ext cx="256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F1F4C"/>
                </a:solidFill>
                <a:latin typeface="DM Sans"/>
              </a:rPr>
              <a:t>1.1  Gerenciamento do Projeto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7200" y="2410000"/>
            <a:ext cx="2560000" cy="3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4D4D4D"/>
                </a:solidFill>
                <a:latin typeface="DM Sans"/>
              </a:rPr>
              <a:t>1.1.1  Transfer Meeting (06/10/2026)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4D4D4D"/>
                </a:solidFill>
                <a:latin typeface="DM Sans"/>
              </a:rPr>
              <a:t>1.1.2  Kickoff Meeting (29/10/2026)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4D4D4D"/>
                </a:solidFill>
                <a:latin typeface="DM Sans"/>
              </a:rPr>
              <a:t>1.1.3  PRM – linha de base (02/12/2026)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4D4D4D"/>
                </a:solidFill>
                <a:latin typeface="DM Sans"/>
              </a:rPr>
              <a:t>1.1.4  Monitoramento e controle: FUM mensal, reports, forecast, riscos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4D4D4D"/>
                </a:solidFill>
                <a:latin typeface="DM Sans"/>
              </a:rPr>
              <a:t>1.1.5  Encerramento: CM, termo de aceite e lições aprendidas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07200" y="2010000"/>
            <a:ext cx="2800000" cy="39000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27200" y="2065000"/>
            <a:ext cx="256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F1F4C"/>
                </a:solidFill>
                <a:latin typeface="DM Sans"/>
              </a:rPr>
              <a:t>1.2  Aquisições e Contratações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7200" y="2410000"/>
            <a:ext cx="2560000" cy="3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4D4D4D"/>
                </a:solidFill>
                <a:latin typeface="DM Sans"/>
              </a:rPr>
              <a:t>1.2.1  RT (9), RL (13) e TripSaver (3) – PMA/RFP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4D4D4D"/>
                </a:solidFill>
                <a:latin typeface="DM Sans"/>
              </a:rPr>
              <a:t>1.2.2  Materiais complementares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4D4D4D"/>
                </a:solidFill>
                <a:latin typeface="DM Sans"/>
              </a:rPr>
              <a:t>1.2.3  Contratação da empreiteira executora (EPS) e O.S.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4D4D4D"/>
                </a:solidFill>
                <a:latin typeface="DM Sans"/>
              </a:rPr>
              <a:t>Data necessária em campo: 01/02/27 (1ª frente)</a:t>
            </a:r>
          </a:p>
        </p:txBody>
      </p:sp>
      <p:graphicFrame>
        <p:nvGraphicFramePr>
          <p:cNvPr id="22" name="Tabela equipamentos">
            <a:extLst>
              <a:ext uri="{FF2B5EF4-FFF2-40B4-BE49-F238E27FC236}">
                <a16:creationId xmlns:a16="http://schemas.microsoft.com/office/drawing/2014/main" id="{7DFBEB2F-F1D0-01F1-F9B5-20B36C8ABC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41225"/>
              </p:ext>
            </p:extLst>
          </p:nvPr>
        </p:nvGraphicFramePr>
        <p:xfrm>
          <a:off x="3527200" y="4460000"/>
          <a:ext cx="2660000" cy="1275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00000"/>
                <a:gridCol w="580000"/>
                <a:gridCol w="580000"/>
              </a:tblGrid>
              <a:tr h="255000">
                <a:tc>
                  <a:txBody>
                    <a:bodyPr/>
                    <a:lstStyle/>
                    <a:p>
                      <a:pPr algn="l"/>
                      <a:r>
                        <a:rPr lang="pt-BR" sz="850" b="1" i="0">
                          <a:solidFill>
                            <a:srgbClr val="1F1F4C"/>
                          </a:solidFill>
                          <a:latin typeface="DM Sans"/>
                        </a:rPr>
                        <a:t>Equipamento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850" b="1" i="0">
                          <a:solidFill>
                            <a:srgbClr val="1F1F4C"/>
                          </a:solidFill>
                          <a:latin typeface="DM Sans"/>
                        </a:rPr>
                        <a:t>34,5 kV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850" b="1" i="0">
                          <a:solidFill>
                            <a:srgbClr val="1F1F4C"/>
                          </a:solidFill>
                          <a:latin typeface="DM Sans"/>
                        </a:rPr>
                        <a:t>13,8 kV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255000">
                <a:tc>
                  <a:txBody>
                    <a:bodyPr/>
                    <a:lstStyle/>
                    <a:p>
                      <a:pPr algn="l"/>
                      <a:r>
                        <a:rPr lang="pt-BR" sz="850" b="0" i="0">
                          <a:solidFill>
                            <a:srgbClr val="4D4D4D"/>
                          </a:solidFill>
                          <a:latin typeface="DM Sans"/>
                        </a:rPr>
                        <a:t>Regulador de tensão (RT)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850" b="0" i="0">
                          <a:solidFill>
                            <a:srgbClr val="4D4D4D"/>
                          </a:solidFill>
                          <a:latin typeface="DM Sans"/>
                        </a:rPr>
                        <a:t>8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850" b="0" i="0">
                          <a:solidFill>
                            <a:srgbClr val="4D4D4D"/>
                          </a:solidFill>
                          <a:latin typeface="DM Sans"/>
                        </a:rPr>
                        <a:t>1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5000">
                <a:tc>
                  <a:txBody>
                    <a:bodyPr/>
                    <a:lstStyle/>
                    <a:p>
                      <a:pPr algn="l"/>
                      <a:r>
                        <a:rPr lang="pt-BR" sz="850" b="0" i="0">
                          <a:solidFill>
                            <a:srgbClr val="4D4D4D"/>
                          </a:solidFill>
                          <a:latin typeface="DM Sans"/>
                        </a:rPr>
                        <a:t>Religador (RL) novo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850" b="0" i="0">
                          <a:solidFill>
                            <a:srgbClr val="4D4D4D"/>
                          </a:solidFill>
                          <a:latin typeface="DM Sans"/>
                        </a:rPr>
                        <a:t>9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850" b="0" i="0">
                          <a:solidFill>
                            <a:srgbClr val="4D4D4D"/>
                          </a:solidFill>
                          <a:latin typeface="DM Sans"/>
                        </a:rPr>
                        <a:t>3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5000">
                <a:tc>
                  <a:txBody>
                    <a:bodyPr/>
                    <a:lstStyle/>
                    <a:p>
                      <a:pPr algn="l"/>
                      <a:r>
                        <a:rPr lang="pt-BR" sz="850" b="0" i="0">
                          <a:solidFill>
                            <a:srgbClr val="4D4D4D"/>
                          </a:solidFill>
                          <a:latin typeface="DM Sans"/>
                        </a:rPr>
                        <a:t>Religador remanejado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85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850" b="0" i="0">
                          <a:solidFill>
                            <a:srgbClr val="4D4D4D"/>
                          </a:solidFill>
                          <a:latin typeface="DM Sans"/>
                        </a:rPr>
                        <a:t>1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5000">
                <a:tc>
                  <a:txBody>
                    <a:bodyPr/>
                    <a:lstStyle/>
                    <a:p>
                      <a:pPr algn="l"/>
                      <a:r>
                        <a:rPr lang="pt-BR" sz="850" b="0" i="0">
                          <a:solidFill>
                            <a:srgbClr val="4D4D4D"/>
                          </a:solidFill>
                          <a:latin typeface="DM Sans"/>
                        </a:rPr>
                        <a:t>TripSaver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850" b="0" i="0">
                          <a:solidFill>
                            <a:srgbClr val="4D4D4D"/>
                          </a:solidFill>
                          <a:latin typeface="DM Sans"/>
                        </a:rPr>
                        <a:t>3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850" b="0" i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6357200" y="2010000"/>
            <a:ext cx="5377295" cy="39000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77200" y="2065000"/>
            <a:ext cx="5137295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F1F4C"/>
                </a:solidFill>
                <a:latin typeface="DM Sans"/>
              </a:rPr>
              <a:t>1.3  Instalação, comissionamento e encerramento – 12 pacotes (1.3.1 a 1.3.12, um por SIGCO)</a:t>
            </a:r>
          </a:p>
        </p:txBody>
      </p:sp>
      <p:graphicFrame>
        <p:nvGraphicFramePr>
          <p:cNvPr id="25" name="Tabela EAP">
            <a:extLst>
              <a:ext uri="{FF2B5EF4-FFF2-40B4-BE49-F238E27FC236}">
                <a16:creationId xmlns:a16="http://schemas.microsoft.com/office/drawing/2014/main" id="{7DFBEB2F-F1D0-01F1-F9B5-20B36C8ABC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41225"/>
              </p:ext>
            </p:extLst>
          </p:nvPr>
        </p:nvGraphicFramePr>
        <p:xfrm>
          <a:off x="6477200" y="2510000"/>
          <a:ext cx="5100000" cy="2805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00000"/>
                <a:gridCol w="3300000"/>
                <a:gridCol w="1000000"/>
              </a:tblGrid>
              <a:tr h="255000">
                <a:tc>
                  <a:txBody>
                    <a:bodyPr/>
                    <a:lstStyle/>
                    <a:p>
                      <a:pPr algn="l"/>
                      <a:r>
                        <a:rPr lang="pt-BR" sz="900" b="1" i="0">
                          <a:solidFill>
                            <a:srgbClr val="1F1F4C"/>
                          </a:solidFill>
                          <a:latin typeface="DM Sans"/>
                        </a:rPr>
                        <a:t>Código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900" b="1" i="0">
                          <a:solidFill>
                            <a:srgbClr val="1F1F4C"/>
                          </a:solidFill>
                          <a:latin typeface="DM Sans"/>
                        </a:rPr>
                        <a:t>Atividade / marco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900" b="1" i="0">
                          <a:solidFill>
                            <a:srgbClr val="1F1F4C"/>
                          </a:solidFill>
                          <a:latin typeface="DM Sans"/>
                        </a:rPr>
                        <a:t>Prazo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255000">
                <a:tc>
                  <a:txBody>
                    <a:bodyPr/>
                    <a:lstStyle/>
                    <a:p>
                      <a:pPr algn="l"/>
                      <a:r>
                        <a:rPr lang="pt-BR" sz="900" b="1" i="0">
                          <a:solidFill>
                            <a:srgbClr val="1F1F4C"/>
                          </a:solidFill>
                          <a:latin typeface="DM Sans"/>
                        </a:rPr>
                        <a:t>1.3.n.1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900" b="0" i="0">
                          <a:solidFill>
                            <a:srgbClr val="4D4D4D"/>
                          </a:solidFill>
                          <a:latin typeface="DM Sans"/>
                        </a:rPr>
                        <a:t>Executar Obras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900" b="0" i="0">
                          <a:solidFill>
                            <a:srgbClr val="4D4D4D"/>
                          </a:solidFill>
                          <a:latin typeface="DM Sans"/>
                        </a:rPr>
                        <a:t>30 / 45 d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5000">
                <a:tc>
                  <a:txBody>
                    <a:bodyPr/>
                    <a:lstStyle/>
                    <a:p>
                      <a:pPr algn="l"/>
                      <a:r>
                        <a:rPr lang="pt-BR" sz="900" b="1" i="0">
                          <a:solidFill>
                            <a:srgbClr val="1F1F4C"/>
                          </a:solidFill>
                          <a:latin typeface="DM Sans"/>
                        </a:rPr>
                        <a:t>1.3.n.2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900" b="0" i="0">
                          <a:solidFill>
                            <a:srgbClr val="4D4D4D"/>
                          </a:solidFill>
                          <a:latin typeface="DM Sans"/>
                        </a:rPr>
                        <a:t>Obras Concluídas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900" b="0" i="0">
                          <a:solidFill>
                            <a:srgbClr val="4D4D4D"/>
                          </a:solidFill>
                          <a:latin typeface="DM Sans"/>
                        </a:rPr>
                        <a:t>marco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5000">
                <a:tc>
                  <a:txBody>
                    <a:bodyPr/>
                    <a:lstStyle/>
                    <a:p>
                      <a:pPr algn="l"/>
                      <a:r>
                        <a:rPr lang="pt-BR" sz="900" b="1" i="0">
                          <a:solidFill>
                            <a:srgbClr val="1F1F4C"/>
                          </a:solidFill>
                          <a:latin typeface="DM Sans"/>
                        </a:rPr>
                        <a:t>1.3.n.3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900" b="0" i="0">
                          <a:solidFill>
                            <a:srgbClr val="4D4D4D"/>
                          </a:solidFill>
                          <a:latin typeface="DM Sans"/>
                        </a:rPr>
                        <a:t>Fiscalização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900" b="0" i="0">
                          <a:solidFill>
                            <a:srgbClr val="4D4D4D"/>
                          </a:solidFill>
                          <a:latin typeface="DM Sans"/>
                        </a:rPr>
                        <a:t>12 d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5000">
                <a:tc>
                  <a:txBody>
                    <a:bodyPr/>
                    <a:lstStyle/>
                    <a:p>
                      <a:pPr algn="l"/>
                      <a:r>
                        <a:rPr lang="pt-BR" sz="900" b="1" i="0">
                          <a:solidFill>
                            <a:srgbClr val="1F1F4C"/>
                          </a:solidFill>
                          <a:latin typeface="DM Sans"/>
                        </a:rPr>
                        <a:t>1.3.n.4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900" b="0" i="0">
                          <a:solidFill>
                            <a:srgbClr val="4D4D4D"/>
                          </a:solidFill>
                          <a:latin typeface="DM Sans"/>
                        </a:rPr>
                        <a:t>Cadastro EO / Integração parcial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900" b="0" i="0">
                          <a:solidFill>
                            <a:srgbClr val="4D4D4D"/>
                          </a:solidFill>
                          <a:latin typeface="DM Sans"/>
                        </a:rPr>
                        <a:t>10 d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5000">
                <a:tc>
                  <a:txBody>
                    <a:bodyPr/>
                    <a:lstStyle/>
                    <a:p>
                      <a:pPr algn="l"/>
                      <a:r>
                        <a:rPr lang="pt-BR" sz="900" b="1" i="0">
                          <a:solidFill>
                            <a:srgbClr val="1F1F4C"/>
                          </a:solidFill>
                          <a:latin typeface="DM Sans"/>
                        </a:rPr>
                        <a:t>1.3.n.5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900" b="0" i="0">
                          <a:solidFill>
                            <a:srgbClr val="4D4D4D"/>
                          </a:solidFill>
                          <a:latin typeface="DM Sans"/>
                        </a:rPr>
                        <a:t>Entrega do TCI / Integração final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900" b="0" i="0">
                          <a:solidFill>
                            <a:srgbClr val="4D4D4D"/>
                          </a:solidFill>
                          <a:latin typeface="DM Sans"/>
                        </a:rPr>
                        <a:t>15 d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5000">
                <a:tc>
                  <a:txBody>
                    <a:bodyPr/>
                    <a:lstStyle/>
                    <a:p>
                      <a:pPr algn="l"/>
                      <a:r>
                        <a:rPr lang="pt-BR" sz="900" b="1" i="0">
                          <a:solidFill>
                            <a:srgbClr val="1F1F4C"/>
                          </a:solidFill>
                          <a:latin typeface="DM Sans"/>
                        </a:rPr>
                        <a:t>1.3.n.6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900" b="0" i="0">
                          <a:solidFill>
                            <a:srgbClr val="4D4D4D"/>
                          </a:solidFill>
                          <a:latin typeface="DM Sans"/>
                        </a:rPr>
                        <a:t>Abertura de chamado / Atendimento GAT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900" b="0" i="0">
                          <a:solidFill>
                            <a:srgbClr val="4D4D4D"/>
                          </a:solidFill>
                          <a:latin typeface="DM Sans"/>
                        </a:rPr>
                        <a:t>8 d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5000">
                <a:tc>
                  <a:txBody>
                    <a:bodyPr/>
                    <a:lstStyle/>
                    <a:p>
                      <a:pPr algn="l"/>
                      <a:r>
                        <a:rPr lang="pt-BR" sz="900" b="1" i="0">
                          <a:solidFill>
                            <a:srgbClr val="1F1F4C"/>
                          </a:solidFill>
                          <a:latin typeface="DM Sans"/>
                        </a:rPr>
                        <a:t>1.3.n.7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900" b="0" i="0">
                          <a:solidFill>
                            <a:srgbClr val="4D4D4D"/>
                          </a:solidFill>
                          <a:latin typeface="DM Sans"/>
                        </a:rPr>
                        <a:t>Comissionar Equipamentos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900" b="0" i="0">
                          <a:solidFill>
                            <a:srgbClr val="4D4D4D"/>
                          </a:solidFill>
                          <a:latin typeface="DM Sans"/>
                        </a:rPr>
                        <a:t>15 d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5000">
                <a:tc>
                  <a:txBody>
                    <a:bodyPr/>
                    <a:lstStyle/>
                    <a:p>
                      <a:pPr algn="l"/>
                      <a:r>
                        <a:rPr lang="pt-BR" sz="900" b="1" i="0">
                          <a:solidFill>
                            <a:srgbClr val="1F1F4C"/>
                          </a:solidFill>
                          <a:latin typeface="DM Sans"/>
                        </a:rPr>
                        <a:t>1.3.n.8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900" b="0" i="0">
                          <a:solidFill>
                            <a:srgbClr val="4D4D4D"/>
                          </a:solidFill>
                          <a:latin typeface="DM Sans"/>
                        </a:rPr>
                        <a:t>Equipamentos em Operação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900" b="0" i="0">
                          <a:solidFill>
                            <a:srgbClr val="4D4D4D"/>
                          </a:solidFill>
                          <a:latin typeface="DM Sans"/>
                        </a:rPr>
                        <a:t>marco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5000">
                <a:tc>
                  <a:txBody>
                    <a:bodyPr/>
                    <a:lstStyle/>
                    <a:p>
                      <a:pPr algn="l"/>
                      <a:r>
                        <a:rPr lang="pt-BR" sz="900" b="1" i="0">
                          <a:solidFill>
                            <a:srgbClr val="1F1F4C"/>
                          </a:solidFill>
                          <a:latin typeface="DM Sans"/>
                        </a:rPr>
                        <a:t>1.3.n.9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900" b="0" i="0">
                          <a:solidFill>
                            <a:srgbClr val="4D4D4D"/>
                          </a:solidFill>
                          <a:latin typeface="DM Sans"/>
                        </a:rPr>
                        <a:t>Encerramento Técnico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900" b="0" i="0">
                          <a:solidFill>
                            <a:srgbClr val="4D4D4D"/>
                          </a:solidFill>
                          <a:latin typeface="DM Sans"/>
                        </a:rPr>
                        <a:t>7 d úteis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5000">
                <a:tc>
                  <a:txBody>
                    <a:bodyPr/>
                    <a:lstStyle/>
                    <a:p>
                      <a:pPr algn="l"/>
                      <a:r>
                        <a:rPr lang="pt-BR" sz="900" b="1" i="0">
                          <a:solidFill>
                            <a:srgbClr val="1F1F4C"/>
                          </a:solidFill>
                          <a:latin typeface="DM Sans"/>
                        </a:rPr>
                        <a:t>1.3.n.10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900" b="0" i="0">
                          <a:solidFill>
                            <a:srgbClr val="4D4D4D"/>
                          </a:solidFill>
                          <a:latin typeface="DM Sans"/>
                        </a:rPr>
                        <a:t>Encerramento Contábil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900" b="0" i="0">
                          <a:solidFill>
                            <a:srgbClr val="4D4D4D"/>
                          </a:solidFill>
                          <a:latin typeface="DM Sans"/>
                        </a:rPr>
                        <a:t>3 d úteis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477200" y="5385000"/>
            <a:ext cx="5137295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89898"/>
                </a:solidFill>
                <a:latin typeface="DM Sans"/>
              </a:rPr>
              <a:t>Pacote P30 (até 4 equipamentos): execução em 30 dias · Pacote P45 (5 ou mais, SIGCO 90811): 45 dias. Prazos do histórico PN 2026 de RL/RT; dias corridos, exceto encerramentos (dias úteis).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000000"/>
            <a:ext cx="11277295" cy="3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989898"/>
                </a:solidFill>
                <a:latin typeface="DM Sans"/>
              </a:rPr>
              <a:t>EAP em 3 níveis de entrega (regra dos 100%) · detalhamento completo, com responsáveis e predecessoras, na planilha WBS_Cronograma_PN2027.xlsx (aba WBS).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Title 2">
            <a:extLst>
              <a:ext uri="{FF2B5EF4-FFF2-40B4-BE49-F238E27FC236}">
                <a16:creationId xmlns:a16="http://schemas.microsoft.com/office/drawing/2014/main" id="{9A7A9CB9-DB87-EDEF-FF05-2F8A56908B51}"/>
              </a:ext>
            </a:extLst>
          </p:cNvPr>
          <p:cNvSpPr txBox="1">
            <a:spLocks/>
          </p:cNvSpPr>
          <p:nvPr/>
        </p:nvSpPr>
        <p:spPr>
          <a:xfrm>
            <a:off x="457200" y="566928"/>
            <a:ext cx="7790688" cy="566928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000" b="1">
                <a:solidFill>
                  <a:srgbClr val="1F1F4C"/>
                </a:solidFill>
                <a:latin typeface="DM Sans"/>
              </a:rPr>
              <a:t>Base dos Prazos – PN 2026 (RL e RT)</a:t>
            </a:r>
          </a:p>
        </p:txBody>
      </p:sp>
      <p:sp>
        <p:nvSpPr>
          <p:cNvPr id="7" name="Eyebrow">
            <a:extLst>
              <a:ext uri="{FF2B5EF4-FFF2-40B4-BE49-F238E27FC236}">
                <a16:creationId xmlns:a16="http://schemas.microsoft.com/office/drawing/2014/main" id="{56570C7F-46D1-416F-022D-99F82A30AF7B}"/>
              </a:ext>
            </a:extLst>
          </p:cNvPr>
          <p:cNvSpPr txBox="1"/>
          <p:nvPr/>
        </p:nvSpPr>
        <p:spPr>
          <a:xfrm>
            <a:off x="457200" y="347472"/>
            <a:ext cx="7315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F47B20"/>
                </a:solidFill>
                <a:latin typeface="DM Sans"/>
              </a:rPr>
              <a:t>KICKOFF MEETING</a:t>
            </a:r>
            <a:r>
              <a:rPr sz="1100" b="1" i="0" spc="150">
                <a:solidFill>
                  <a:srgbClr val="989898"/>
                </a:solidFill>
                <a:latin typeface="DM Sans"/>
              </a:rPr>
              <a:t>   |   PN 2027 · 12 SIGCOs</a:t>
            </a:r>
            <a:endParaRPr sz="1100" b="1" i="0" spc="150">
              <a:solidFill>
                <a:srgbClr val="989898"/>
              </a:solidFill>
              <a:latin typeface="DM Sans"/>
            </a:endParaRPr>
          </a:p>
        </p:txBody>
      </p:sp>
      <p:sp>
        <p:nvSpPr>
          <p:cNvPr id="8" name="Rodapé">
            <a:extLst>
              <a:ext uri="{FF2B5EF4-FFF2-40B4-BE49-F238E27FC236}">
                <a16:creationId xmlns:a16="http://schemas.microsoft.com/office/drawing/2014/main" id="{5812CB6B-1816-43D3-C1AD-B01D7C3F16F7}"/>
              </a:ext>
            </a:extLst>
          </p:cNvPr>
          <p:cNvSpPr txBox="1"/>
          <p:nvPr/>
        </p:nvSpPr>
        <p:spPr>
          <a:xfrm>
            <a:off x="457200" y="6428232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1F4C"/>
                </a:solidFill>
                <a:latin typeface="DM Sans"/>
              </a:rPr>
              <a:t>08</a:t>
            </a:r>
            <a:r>
              <a:rPr sz="900" b="0" i="0">
                <a:solidFill>
                  <a:srgbClr val="989898"/>
                </a:solidFill>
                <a:latin typeface="DM Sans"/>
              </a:rPr>
              <a:t>  ·  </a:t>
            </a:r>
            <a:r>
              <a:rPr lang="pt-BR" sz="900" b="0" i="0">
                <a:solidFill>
                  <a:srgbClr val="989898"/>
                </a:solidFill>
                <a:latin typeface="DM Sans"/>
              </a:rPr>
              <a:t>PN 2027 – INSTALAÇÃO DE EQUIPAMENTOS ESPECIAIS (RL E RT)</a:t>
            </a:r>
            <a:endParaRPr sz="900" b="0" i="0">
              <a:solidFill>
                <a:srgbClr val="989898"/>
              </a:solidFill>
              <a:latin typeface="DM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1215000"/>
            <a:ext cx="63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1F4C"/>
                </a:solidFill>
                <a:latin typeface="DM Sans"/>
              </a:rPr>
              <a:t>Blocos de instalação de RL e RT usados como referência</a:t>
            </a:r>
          </a:p>
        </p:txBody>
      </p:sp>
      <p:graphicFrame>
        <p:nvGraphicFramePr>
          <p:cNvPr id="10" name="Tabela base 2026">
            <a:extLst>
              <a:ext uri="{FF2B5EF4-FFF2-40B4-BE49-F238E27FC236}">
                <a16:creationId xmlns:a16="http://schemas.microsoft.com/office/drawing/2014/main" id="{7DFBEB2F-F1D0-01F1-F9B5-20B36C8ABC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41225"/>
              </p:ext>
            </p:extLst>
          </p:nvPr>
        </p:nvGraphicFramePr>
        <p:xfrm>
          <a:off x="457200" y="1560000"/>
          <a:ext cx="6300000" cy="24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00000"/>
                <a:gridCol w="700000"/>
                <a:gridCol w="900000"/>
                <a:gridCol w="800000"/>
              </a:tblGrid>
              <a:tr h="300000">
                <a:tc>
                  <a:txBody>
                    <a:bodyPr/>
                    <a:lstStyle/>
                    <a:p>
                      <a:pPr algn="l"/>
                      <a:r>
                        <a:rPr lang="pt-BR" sz="900" b="1" i="0">
                          <a:solidFill>
                            <a:srgbClr val="1F1F4C"/>
                          </a:solidFill>
                          <a:latin typeface="DM Sans"/>
                        </a:rPr>
                        <a:t>Bloco PN 2026 (WBS)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900" b="1" i="0">
                          <a:solidFill>
                            <a:srgbClr val="1F1F4C"/>
                          </a:solidFill>
                          <a:latin typeface="DM Sans"/>
                        </a:rPr>
                        <a:t>Equip.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900" b="1" i="0">
                          <a:solidFill>
                            <a:srgbClr val="1F1F4C"/>
                          </a:solidFill>
                          <a:latin typeface="DM Sans"/>
                        </a:rPr>
                        <a:t>Execução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900" b="1" i="0">
                          <a:solidFill>
                            <a:srgbClr val="1F1F4C"/>
                          </a:solidFill>
                          <a:latin typeface="DM Sans"/>
                        </a:rPr>
                        <a:t>Total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lang="pt-BR" sz="900" b="0" i="0">
                          <a:solidFill>
                            <a:srgbClr val="4D4D4D"/>
                          </a:solidFill>
                          <a:latin typeface="DM Sans"/>
                        </a:rPr>
                        <a:t>BLOCO 1 – 5 RL + 1 remanej. (71018)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900" b="0" i="0">
                          <a:solidFill>
                            <a:srgbClr val="4D4D4D"/>
                          </a:solidFill>
                          <a:latin typeface="DM Sans"/>
                        </a:rPr>
                        <a:t>6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900" b="0" i="0">
                          <a:solidFill>
                            <a:srgbClr val="4D4D4D"/>
                          </a:solidFill>
                          <a:latin typeface="DM Sans"/>
                        </a:rPr>
                        <a:t>45 d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900" b="0" i="0">
                          <a:solidFill>
                            <a:srgbClr val="4D4D4D"/>
                          </a:solidFill>
                          <a:latin typeface="DM Sans"/>
                        </a:rPr>
                        <a:t>101 d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lang="pt-BR" sz="900" b="0" i="0">
                          <a:solidFill>
                            <a:srgbClr val="4D4D4D"/>
                          </a:solidFill>
                          <a:latin typeface="DM Sans"/>
                        </a:rPr>
                        <a:t>BLOCO 3 – 5 RL 13,8 kV (73521)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900" b="0" i="0">
                          <a:solidFill>
                            <a:srgbClr val="4D4D4D"/>
                          </a:solidFill>
                          <a:latin typeface="DM Sans"/>
                        </a:rPr>
                        <a:t>5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900" b="0" i="0">
                          <a:solidFill>
                            <a:srgbClr val="4D4D4D"/>
                          </a:solidFill>
                          <a:latin typeface="DM Sans"/>
                        </a:rPr>
                        <a:t>45 d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900" b="0" i="0">
                          <a:solidFill>
                            <a:srgbClr val="4D4D4D"/>
                          </a:solidFill>
                          <a:latin typeface="DM Sans"/>
                        </a:rPr>
                        <a:t>101 d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lang="pt-BR" sz="900" b="0" i="0">
                          <a:solidFill>
                            <a:srgbClr val="4D4D4D"/>
                          </a:solidFill>
                          <a:latin typeface="DM Sans"/>
                        </a:rPr>
                        <a:t>RT 34,5 kV Bielândia – Palmeirante (72240)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900" b="0" i="0">
                          <a:solidFill>
                            <a:srgbClr val="4D4D4D"/>
                          </a:solidFill>
                          <a:latin typeface="DM Sans"/>
                        </a:rPr>
                        <a:t>1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900" b="0" i="0">
                          <a:solidFill>
                            <a:srgbClr val="4D4D4D"/>
                          </a:solidFill>
                          <a:latin typeface="DM Sans"/>
                        </a:rPr>
                        <a:t>30 d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900" b="0" i="0">
                          <a:solidFill>
                            <a:srgbClr val="4D4D4D"/>
                          </a:solidFill>
                          <a:latin typeface="DM Sans"/>
                        </a:rPr>
                        <a:t>86 d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lang="pt-BR" sz="900" b="0" i="0">
                          <a:solidFill>
                            <a:srgbClr val="4D4D4D"/>
                          </a:solidFill>
                          <a:latin typeface="DM Sans"/>
                        </a:rPr>
                        <a:t>RT 34,5 kV Araguaína – Araguanã (71579)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900" b="0" i="0">
                          <a:solidFill>
                            <a:srgbClr val="4D4D4D"/>
                          </a:solidFill>
                          <a:latin typeface="DM Sans"/>
                        </a:rPr>
                        <a:t>1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900" b="0" i="0">
                          <a:solidFill>
                            <a:srgbClr val="4D4D4D"/>
                          </a:solidFill>
                          <a:latin typeface="DM Sans"/>
                        </a:rPr>
                        <a:t>30 d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900" b="0" i="0">
                          <a:solidFill>
                            <a:srgbClr val="4D4D4D"/>
                          </a:solidFill>
                          <a:latin typeface="DM Sans"/>
                        </a:rPr>
                        <a:t>86 d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lang="pt-BR" sz="900" b="0" i="0">
                          <a:solidFill>
                            <a:srgbClr val="4D4D4D"/>
                          </a:solidFill>
                          <a:latin typeface="DM Sans"/>
                        </a:rPr>
                        <a:t>AL SE Bielândia – RL (1) + RL (2) + RT (1) (71139)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900" b="0" i="0">
                          <a:solidFill>
                            <a:srgbClr val="4D4D4D"/>
                          </a:solidFill>
                          <a:latin typeface="DM Sans"/>
                        </a:rPr>
                        <a:t>4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900" b="0" i="0">
                          <a:solidFill>
                            <a:srgbClr val="4D4D4D"/>
                          </a:solidFill>
                          <a:latin typeface="DM Sans"/>
                        </a:rPr>
                        <a:t>30 d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900" b="0" i="0">
                          <a:solidFill>
                            <a:srgbClr val="4D4D4D"/>
                          </a:solidFill>
                          <a:latin typeface="DM Sans"/>
                        </a:rPr>
                        <a:t>87 d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lang="pt-BR" sz="900" b="0" i="0">
                          <a:solidFill>
                            <a:srgbClr val="4D4D4D"/>
                          </a:solidFill>
                          <a:latin typeface="DM Sans"/>
                        </a:rPr>
                        <a:t>Remanej. RT Paranã – Palmeirópolis (72938)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900" b="0" i="0">
                          <a:solidFill>
                            <a:srgbClr val="4D4D4D"/>
                          </a:solidFill>
                          <a:latin typeface="DM Sans"/>
                        </a:rPr>
                        <a:t>1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900" b="0" i="0">
                          <a:solidFill>
                            <a:srgbClr val="4D4D4D"/>
                          </a:solidFill>
                          <a:latin typeface="DM Sans"/>
                        </a:rPr>
                        <a:t>30 d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900" b="0" i="0">
                          <a:solidFill>
                            <a:srgbClr val="4D4D4D"/>
                          </a:solidFill>
                          <a:latin typeface="DM Sans"/>
                        </a:rPr>
                        <a:t>87 d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lang="pt-BR" sz="900" b="0" i="0">
                          <a:solidFill>
                            <a:srgbClr val="4D4D4D"/>
                          </a:solidFill>
                          <a:latin typeface="DM Sans"/>
                        </a:rPr>
                        <a:t>Remanej. RL 13,8 kV Palmeirópolis (81319)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900" b="0" i="0">
                          <a:solidFill>
                            <a:srgbClr val="4D4D4D"/>
                          </a:solidFill>
                          <a:latin typeface="DM Sans"/>
                        </a:rPr>
                        <a:t>1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900" b="0" i="0">
                          <a:solidFill>
                            <a:srgbClr val="4D4D4D"/>
                          </a:solidFill>
                          <a:latin typeface="DM Sans"/>
                        </a:rPr>
                        <a:t>30 d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900" b="0" i="0">
                          <a:solidFill>
                            <a:srgbClr val="4D4D4D"/>
                          </a:solidFill>
                          <a:latin typeface="DM Sans"/>
                        </a:rPr>
                        <a:t>87 d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4080000"/>
            <a:ext cx="6300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4D4D4D"/>
                </a:solidFill>
                <a:latin typeface="DM Sans"/>
              </a:rPr>
              <a:t>Não foram usados prazos de planejamento (PMA, projeto executivo), obras de construção/recapacitação de rede nem bancos de capacitores.</a:t>
            </a:r>
          </a:p>
          <a:p>
            <a:pPr algn="l"/>
            <a:r>
              <a:rPr sz="950" b="0" i="0">
                <a:solidFill>
                  <a:srgbClr val="4D4D4D"/>
                </a:solidFill>
                <a:latin typeface="DM Sans"/>
              </a:rPr>
              <a:t>Regra: pacote com até 4 equipamentos → 30 dias de execução; 5 ou mais → 45 dias.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0000" y="1215000"/>
            <a:ext cx="44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1F4C"/>
                </a:solidFill>
                <a:latin typeface="DM Sans"/>
              </a:rPr>
              <a:t>Etapas comuns e encadeamento</a:t>
            </a:r>
          </a:p>
        </p:txBody>
      </p:sp>
      <p:graphicFrame>
        <p:nvGraphicFramePr>
          <p:cNvPr id="13" name="Tabela etapas">
            <a:extLst>
              <a:ext uri="{FF2B5EF4-FFF2-40B4-BE49-F238E27FC236}">
                <a16:creationId xmlns:a16="http://schemas.microsoft.com/office/drawing/2014/main" id="{7DFBEB2F-F1D0-01F1-F9B5-20B36C8ABC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41225"/>
              </p:ext>
            </p:extLst>
          </p:nvPr>
        </p:nvGraphicFramePr>
        <p:xfrm>
          <a:off x="7300000" y="1560000"/>
          <a:ext cx="4434000" cy="27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00000"/>
                <a:gridCol w="800000"/>
                <a:gridCol w="1434000"/>
              </a:tblGrid>
              <a:tr h="300000">
                <a:tc>
                  <a:txBody>
                    <a:bodyPr/>
                    <a:lstStyle/>
                    <a:p>
                      <a:pPr algn="l"/>
                      <a:r>
                        <a:rPr lang="pt-BR" sz="900" b="1" i="0">
                          <a:solidFill>
                            <a:srgbClr val="1F1F4C"/>
                          </a:solidFill>
                          <a:latin typeface="DM Sans"/>
                        </a:rPr>
                        <a:t>Etapa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900" b="1" i="0">
                          <a:solidFill>
                            <a:srgbClr val="1F1F4C"/>
                          </a:solidFill>
                          <a:latin typeface="DM Sans"/>
                        </a:rPr>
                        <a:t>Prazo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900" b="1" i="0">
                          <a:solidFill>
                            <a:srgbClr val="1F1F4C"/>
                          </a:solidFill>
                          <a:latin typeface="DM Sans"/>
                        </a:rPr>
                        <a:t>Início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lang="pt-BR" sz="900" b="0" i="0">
                          <a:solidFill>
                            <a:srgbClr val="4D4D4D"/>
                          </a:solidFill>
                          <a:latin typeface="DM Sans"/>
                        </a:rPr>
                        <a:t>Fiscalização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900" b="0" i="0">
                          <a:solidFill>
                            <a:srgbClr val="4D4D4D"/>
                          </a:solidFill>
                          <a:latin typeface="DM Sans"/>
                        </a:rPr>
                        <a:t>12 d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900" b="0" i="0">
                          <a:solidFill>
                            <a:srgbClr val="4D4D4D"/>
                          </a:solidFill>
                          <a:latin typeface="DM Sans"/>
                        </a:rPr>
                        <a:t>após Obras Concluídas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lang="pt-BR" sz="900" b="0" i="0">
                          <a:solidFill>
                            <a:srgbClr val="4D4D4D"/>
                          </a:solidFill>
                          <a:latin typeface="DM Sans"/>
                        </a:rPr>
                        <a:t>Cadastro EO / Integração parcial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900" b="0" i="0">
                          <a:solidFill>
                            <a:srgbClr val="4D4D4D"/>
                          </a:solidFill>
                          <a:latin typeface="DM Sans"/>
                        </a:rPr>
                        <a:t>10 d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900" b="0" i="0">
                          <a:solidFill>
                            <a:srgbClr val="4D4D4D"/>
                          </a:solidFill>
                          <a:latin typeface="DM Sans"/>
                        </a:rPr>
                        <a:t>após Fiscalização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lang="pt-BR" sz="900" b="0" i="0">
                          <a:solidFill>
                            <a:srgbClr val="4D4D4D"/>
                          </a:solidFill>
                          <a:latin typeface="DM Sans"/>
                        </a:rPr>
                        <a:t>Entrega do TCI / Integração final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900" b="0" i="0">
                          <a:solidFill>
                            <a:srgbClr val="4D4D4D"/>
                          </a:solidFill>
                          <a:latin typeface="DM Sans"/>
                        </a:rPr>
                        <a:t>15 d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900" b="0" i="0">
                          <a:solidFill>
                            <a:srgbClr val="4D4D4D"/>
                          </a:solidFill>
                          <a:latin typeface="DM Sans"/>
                        </a:rPr>
                        <a:t>após Cadastro EO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lang="pt-BR" sz="900" b="0" i="0">
                          <a:solidFill>
                            <a:srgbClr val="4D4D4D"/>
                          </a:solidFill>
                          <a:latin typeface="DM Sans"/>
                        </a:rPr>
                        <a:t>Abertura de chamado / GAT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900" b="0" i="0">
                          <a:solidFill>
                            <a:srgbClr val="4D4D4D"/>
                          </a:solidFill>
                          <a:latin typeface="DM Sans"/>
                        </a:rPr>
                        <a:t>8 d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900" b="0" i="0">
                          <a:solidFill>
                            <a:srgbClr val="4D4D4D"/>
                          </a:solidFill>
                          <a:latin typeface="DM Sans"/>
                        </a:rPr>
                        <a:t>junto ao TCI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lang="pt-BR" sz="900" b="0" i="0">
                          <a:solidFill>
                            <a:srgbClr val="4D4D4D"/>
                          </a:solidFill>
                          <a:latin typeface="DM Sans"/>
                        </a:rPr>
                        <a:t>Comissionar Equipamentos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900" b="0" i="0">
                          <a:solidFill>
                            <a:srgbClr val="4D4D4D"/>
                          </a:solidFill>
                          <a:latin typeface="DM Sans"/>
                        </a:rPr>
                        <a:t>15 d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900" b="0" i="0">
                          <a:solidFill>
                            <a:srgbClr val="4D4D4D"/>
                          </a:solidFill>
                          <a:latin typeface="DM Sans"/>
                        </a:rPr>
                        <a:t>junto ao TCI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lang="pt-BR" sz="900" b="0" i="0">
                          <a:solidFill>
                            <a:srgbClr val="4D4D4D"/>
                          </a:solidFill>
                          <a:latin typeface="DM Sans"/>
                        </a:rPr>
                        <a:t>Equipamentos em Operação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900" b="0" i="0">
                          <a:solidFill>
                            <a:srgbClr val="4D4D4D"/>
                          </a:solidFill>
                          <a:latin typeface="DM Sans"/>
                        </a:rPr>
                        <a:t>marco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900" b="0" i="0">
                          <a:solidFill>
                            <a:srgbClr val="4D4D4D"/>
                          </a:solidFill>
                          <a:latin typeface="DM Sans"/>
                        </a:rPr>
                        <a:t>fim do comissionamento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lang="pt-BR" sz="900" b="0" i="0">
                          <a:solidFill>
                            <a:srgbClr val="4D4D4D"/>
                          </a:solidFill>
                          <a:latin typeface="DM Sans"/>
                        </a:rPr>
                        <a:t>Encerramento Técnico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900" b="0" i="0">
                          <a:solidFill>
                            <a:srgbClr val="4D4D4D"/>
                          </a:solidFill>
                          <a:latin typeface="DM Sans"/>
                        </a:rPr>
                        <a:t>7 d úteis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900" b="0" i="0">
                          <a:solidFill>
                            <a:srgbClr val="4D4D4D"/>
                          </a:solidFill>
                          <a:latin typeface="DM Sans"/>
                        </a:rPr>
                        <a:t>após operação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lang="pt-BR" sz="900" b="0" i="0">
                          <a:solidFill>
                            <a:srgbClr val="4D4D4D"/>
                          </a:solidFill>
                          <a:latin typeface="DM Sans"/>
                        </a:rPr>
                        <a:t>Encerramento Contábil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lang="pt-BR" sz="900" b="0" i="0">
                          <a:solidFill>
                            <a:srgbClr val="4D4D4D"/>
                          </a:solidFill>
                          <a:latin typeface="DM Sans"/>
                        </a:rPr>
                        <a:t>3 d úteis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900" b="0" i="0">
                          <a:solidFill>
                            <a:srgbClr val="4D4D4D"/>
                          </a:solidFill>
                          <a:latin typeface="DM Sans"/>
                        </a:rPr>
                        <a:t>após Enc. Técnico</a:t>
                      </a:r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7300000" y="4420000"/>
            <a:ext cx="4434000" cy="10000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20000" y="4490000"/>
            <a:ext cx="4200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F1F4C"/>
                </a:solidFill>
                <a:latin typeface="DM Sans"/>
              </a:rPr>
              <a:t>Método de datas: o início da execução de cada SIGCO é calculado de trás para frente, para que os equipamentos entrem em operação até o último dia do mês-meta de energização (TM 06/10/2026). Sem folga adotada: validar contra o lead time de fornecimento.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 Editável - Energisa 120 Anos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Personalizar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2C69AF333E13E4EB919682D5E252D96" ma:contentTypeVersion="31" ma:contentTypeDescription="Crie um novo documento." ma:contentTypeScope="" ma:versionID="4a26cd6296a4657b54266c08fb602cc3">
  <xsd:schema xmlns:xsd="http://www.w3.org/2001/XMLSchema" xmlns:xs="http://www.w3.org/2001/XMLSchema" xmlns:p="http://schemas.microsoft.com/office/2006/metadata/properties" xmlns:ns2="d4b7c54a-c95c-45b1-a0ec-9f878b3f9d74" xmlns:ns3="4e1108be-d15a-485d-8259-50667f8093fa" targetNamespace="http://schemas.microsoft.com/office/2006/metadata/properties" ma:root="true" ma:fieldsID="682096db914500dae33c0deb3a2a9c7e" ns2:_="" ns3:_="">
    <xsd:import namespace="d4b7c54a-c95c-45b1-a0ec-9f878b3f9d74"/>
    <xsd:import namespace="4e1108be-d15a-485d-8259-50667f8093fa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  <xsd:element ref="ns3:Observa_x00e7__x00e3_o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b7c54a-c95c-45b1-a0ec-9f878b3f9d74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6d11c5a5-a68c-4142-b688-1663361a0bb4}" ma:internalName="TaxCatchAll" ma:showField="CatchAllData" ma:web="d4b7c54a-c95c-45b1-a0ec-9f878b3f9d7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1108be-d15a-485d-8259-50667f8093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Marcações de imagem" ma:readOnly="false" ma:fieldId="{5cf76f15-5ced-4ddc-b409-7134ff3c332f}" ma:taxonomyMulti="true" ma:sspId="39c4b66d-fcb2-4727-8ac1-aa661c0d971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  <xsd:element name="Observa_x00e7__x00e3_o" ma:index="27" nillable="true" ma:displayName="Observação" ma:internalName="Observa_x00e7__x00e3_o">
      <xsd:simpleType>
        <xsd:restriction base="dms:Text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4b7c54a-c95c-45b1-a0ec-9f878b3f9d74" xsi:nil="true"/>
    <lcf76f155ced4ddcb4097134ff3c332f xmlns="4e1108be-d15a-485d-8259-50667f8093fa">
      <Terms xmlns="http://schemas.microsoft.com/office/infopath/2007/PartnerControls"/>
    </lcf76f155ced4ddcb4097134ff3c332f>
    <Observa_x00e7__x00e3_o xmlns="4e1108be-d15a-485d-8259-50667f8093fa" xsi:nil="true"/>
  </documentManagement>
</p:properties>
</file>

<file path=customXml/itemProps1.xml><?xml version="1.0" encoding="utf-8"?>
<ds:datastoreItem xmlns:ds="http://schemas.openxmlformats.org/officeDocument/2006/customXml" ds:itemID="{A06D46B5-83C8-4662-A8A6-08D1E4DFA1E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1EF19DE-7EC1-4397-9101-AEE086F22B82}"/>
</file>

<file path=customXml/itemProps3.xml><?xml version="1.0" encoding="utf-8"?>
<ds:datastoreItem xmlns:ds="http://schemas.openxmlformats.org/officeDocument/2006/customXml" ds:itemID="{16E76189-FB51-4069-A5B0-16A81CED6150}">
  <ds:schemaRefs>
    <ds:schemaRef ds:uri="8c76aea0-1c1b-4dd6-8598-495cd114ece0"/>
    <ds:schemaRef ds:uri="cb15530b-e024-45e1-8aed-b9f14f99bfb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12</Slides>
  <Notes>1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PPT Editável - Energisa 120 Anos</vt:lpstr>
      <vt:lpstr>Personalizar design</vt:lpstr>
      <vt:lpstr>KICKOFF MEETING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Obrigado.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DPI PUBLICIDADE E EVENTOS</dc:creator>
  <cp:revision>1</cp:revision>
  <dcterms:created xsi:type="dcterms:W3CDTF">2025-01-22T19:35:09Z</dcterms:created>
  <dcterms:modified xsi:type="dcterms:W3CDTF">2026-10-22T17:24:23Z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0x01010042C69AF333E13E4EB919682D5E252D96</vt:lpwstr>
  </property>
  <property fmtid="{D5CDD505-2E9C-101B-9397-08002B2CF9AE}" pid="3" name="MediaServiceImageTags">
    <vt:lpwstr/>
  </property>
</Properties>
</file>