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53" r:id="rId5"/>
  </p:sldMasterIdLst>
  <p:notesMasterIdLst>
    <p:notesMasterId r:id="rId18"/>
  </p:notesMasterIdLst>
  <p:handoutMasterIdLst>
    <p:handoutMasterId r:id="rId19"/>
  </p:handoutMasterIdLst>
  <p:sldIdLst>
    <p:sldId id="257" r:id="rId6"/>
    <p:sldId id="266" r:id="rId7"/>
    <p:sldId id="274" r:id="rId26"/>
    <p:sldId id="273" r:id="rId10"/>
    <p:sldId id="269" r:id="rId11"/>
    <p:sldId id="270" r:id="rId13"/>
    <p:sldId id="275" r:id="rId27"/>
    <p:sldId id="264" r:id="rId14"/>
    <p:sldId id="276" r:id="rId28"/>
    <p:sldId id="277" r:id="rId29"/>
    <p:sldId id="278" r:id="rId30"/>
    <p:sldId id="279" r:id="rId31"/>
    <p:sldId id="280" r:id="rId32"/>
    <p:sldId id="263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4C"/>
    <a:srgbClr val="244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5A340D-CABF-48A7-9FAF-E7EDA1C95748}" v="7" dt="2026-10-22T17:23:37.7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oenai Aquino Antero" userId="4bf45897-19ac-464e-830f-ed4f3acd2300" providerId="ADAL" clId="{533903EB-207F-4771-BC19-463112F8E3AD}"/>
    <pc:docChg chg="undo custSel modSld">
      <pc:chgData name="Elioenai Aquino Antero" userId="4bf45897-19ac-464e-830f-ed4f3acd2300" providerId="ADAL" clId="{533903EB-207F-4771-BC19-463112F8E3AD}" dt="2026-10-22T14:11:15.677" v="12" actId="20577"/>
      <pc:docMkLst>
        <pc:docMk/>
      </pc:docMkLst>
      <pc:sldChg chg="modSp mod">
        <pc:chgData name="Elioenai Aquino Antero" userId="4bf45897-19ac-464e-830f-ed4f3acd2300" providerId="ADAL" clId="{533903EB-207F-4771-BC19-463112F8E3AD}" dt="2026-10-22T14:11:15.677" v="12" actId="20577"/>
        <pc:sldMkLst>
          <pc:docMk/>
          <pc:sldMk cId="0" sldId="257"/>
        </pc:sldMkLst>
        <pc:spChg chg="mod">
          <ac:chgData name="Elioenai Aquino Antero" userId="4bf45897-19ac-464e-830f-ed4f3acd2300" providerId="ADAL" clId="{533903EB-207F-4771-BC19-463112F8E3AD}" dt="2026-10-22T14:11:15.677" v="12" actId="20577"/>
          <ac:spMkLst>
            <pc:docMk/>
            <pc:sldMk cId="0" sldId="257"/>
            <ac:spMk id="10" creationId="{00000000-0000-0000-0000-000000000000}"/>
          </ac:spMkLst>
        </pc:spChg>
      </pc:sldChg>
    </pc:docChg>
  </pc:docChgLst>
  <pc:docChgLst>
    <pc:chgData name="Jocileide Rodrigues Dias" userId="1b476cd8-4057-464a-b104-bbab1955e3e0" providerId="ADAL" clId="{039C79BD-B19D-4334-ABA0-7AF91C6D5A59}"/>
    <pc:docChg chg="undo custSel addSld modSld sldOrd">
      <pc:chgData name="Jocileide Rodrigues Dias" userId="1b476cd8-4057-464a-b104-bbab1955e3e0" providerId="ADAL" clId="{039C79BD-B19D-4334-ABA0-7AF91C6D5A59}" dt="2026-10-22T17:23:37.793" v="1237" actId="20577"/>
      <pc:docMkLst>
        <pc:docMk/>
      </pc:docMkLst>
      <pc:sldChg chg="addSp modSp mod">
        <pc:chgData name="Jocileide Rodrigues Dias" userId="1b476cd8-4057-464a-b104-bbab1955e3e0" providerId="ADAL" clId="{039C79BD-B19D-4334-ABA0-7AF91C6D5A59}" dt="2026-10-14T17:14:53.611" v="988" actId="14100"/>
        <pc:sldMkLst>
          <pc:docMk/>
          <pc:sldMk cId="0" sldId="257"/>
        </pc:sldMkLst>
        <pc:spChg chg="add mod">
          <ac:chgData name="Jocileide Rodrigues Dias" userId="1b476cd8-4057-464a-b104-bbab1955e3e0" providerId="ADAL" clId="{039C79BD-B19D-4334-ABA0-7AF91C6D5A59}" dt="2026-10-14T17:14:53.611" v="988" actId="14100"/>
          <ac:spMkLst>
            <pc:docMk/>
            <pc:sldMk cId="0" sldId="257"/>
            <ac:spMk id="2" creationId="{A0E4D3B2-03FD-6E18-95ED-43BF117C833F}"/>
          </ac:spMkLst>
        </pc:spChg>
        <pc:spChg chg="mod">
          <ac:chgData name="Jocileide Rodrigues Dias" userId="1b476cd8-4057-464a-b104-bbab1955e3e0" providerId="ADAL" clId="{039C79BD-B19D-4334-ABA0-7AF91C6D5A59}" dt="2026-10-14T17:09:22.529" v="724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6:59:47.143" v="34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6:59:52.593" v="44" actId="20577"/>
          <ac:spMkLst>
            <pc:docMk/>
            <pc:sldMk cId="0" sldId="257"/>
            <ac:spMk id="19" creationId="{00000000-0000-0000-0000-000000000000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48.493" v="1012" actId="1076"/>
        <pc:sldMkLst>
          <pc:docMk/>
          <pc:sldMk cId="0" sldId="263"/>
        </pc:sldMkLst>
        <pc:spChg chg="add del mod">
          <ac:chgData name="Jocileide Rodrigues Dias" userId="1b476cd8-4057-464a-b104-bbab1955e3e0" providerId="ADAL" clId="{039C79BD-B19D-4334-ABA0-7AF91C6D5A59}" dt="2026-10-14T17:09:07.182" v="722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Jocileide Rodrigues Dias" userId="1b476cd8-4057-464a-b104-bbab1955e3e0" providerId="ADAL" clId="{039C79BD-B19D-4334-ABA0-7AF91C6D5A59}" dt="2026-10-14T17:08:41.519" v="678" actId="20577"/>
          <ac:spMkLst>
            <pc:docMk/>
            <pc:sldMk cId="0" sldId="263"/>
            <ac:spMk id="14" creationId="{00000000-0000-0000-0000-000000000000}"/>
          </ac:spMkLst>
        </pc:spChg>
        <pc:spChg chg="add mod">
          <ac:chgData name="Jocileide Rodrigues Dias" userId="1b476cd8-4057-464a-b104-bbab1955e3e0" providerId="ADAL" clId="{039C79BD-B19D-4334-ABA0-7AF91C6D5A59}" dt="2026-10-14T17:15:48.493" v="1012" actId="1076"/>
          <ac:spMkLst>
            <pc:docMk/>
            <pc:sldMk cId="0" sldId="263"/>
            <ac:spMk id="19" creationId="{F15BB925-2C94-E200-66B1-BA6845D363A5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39.692" v="1009" actId="22"/>
        <pc:sldMkLst>
          <pc:docMk/>
          <pc:sldMk cId="1748868728" sldId="264"/>
        </pc:sldMkLst>
        <pc:spChg chg="mod">
          <ac:chgData name="Jocileide Rodrigues Dias" userId="1b476cd8-4057-464a-b104-bbab1955e3e0" providerId="ADAL" clId="{039C79BD-B19D-4334-ABA0-7AF91C6D5A59}" dt="2026-10-14T17:06:14.385" v="578" actId="20577"/>
          <ac:spMkLst>
            <pc:docMk/>
            <pc:sldMk cId="1748868728" sldId="264"/>
            <ac:spMk id="6" creationId="{BBAC4CB0-69CB-452A-4A56-4E4A151CF2C1}"/>
          </ac:spMkLst>
        </pc:spChg>
        <pc:spChg chg="mod">
          <ac:chgData name="Jocileide Rodrigues Dias" userId="1b476cd8-4057-464a-b104-bbab1955e3e0" providerId="ADAL" clId="{039C79BD-B19D-4334-ABA0-7AF91C6D5A59}" dt="2026-10-14T17:05:36.380" v="554" actId="20577"/>
          <ac:spMkLst>
            <pc:docMk/>
            <pc:sldMk cId="1748868728" sldId="264"/>
            <ac:spMk id="7" creationId="{50824C48-A21F-0B29-3A2A-0036E3CE3299}"/>
          </ac:spMkLst>
        </pc:spChg>
        <pc:spChg chg="mod">
          <ac:chgData name="Jocileide Rodrigues Dias" userId="1b476cd8-4057-464a-b104-bbab1955e3e0" providerId="ADAL" clId="{039C79BD-B19D-4334-ABA0-7AF91C6D5A59}" dt="2026-10-14T17:05:21.357" v="523" actId="20577"/>
          <ac:spMkLst>
            <pc:docMk/>
            <pc:sldMk cId="1748868728" sldId="264"/>
            <ac:spMk id="8" creationId="{8F7B4335-BE0B-DF62-CED3-FA23D73E207F}"/>
          </ac:spMkLst>
        </pc:spChg>
        <pc:spChg chg="add">
          <ac:chgData name="Jocileide Rodrigues Dias" userId="1b476cd8-4057-464a-b104-bbab1955e3e0" providerId="ADAL" clId="{039C79BD-B19D-4334-ABA0-7AF91C6D5A59}" dt="2026-10-14T17:15:39.692" v="1009" actId="22"/>
          <ac:spMkLst>
            <pc:docMk/>
            <pc:sldMk cId="1748868728" sldId="264"/>
            <ac:spMk id="12" creationId="{4DAC5E31-4379-CB8E-C913-488DF4F6D563}"/>
          </ac:spMkLst>
        </pc:spChg>
      </pc:sldChg>
      <pc:sldChg chg="addSp modSp mod ord">
        <pc:chgData name="Jocileide Rodrigues Dias" userId="1b476cd8-4057-464a-b104-bbab1955e3e0" providerId="ADAL" clId="{039C79BD-B19D-4334-ABA0-7AF91C6D5A59}" dt="2026-10-22T17:23:37.793" v="1237" actId="20577"/>
        <pc:sldMkLst>
          <pc:docMk/>
          <pc:sldMk cId="3732970937" sldId="265"/>
        </pc:sldMkLst>
        <pc:spChg chg="add mod">
          <ac:chgData name="Jocileide Rodrigues Dias" userId="1b476cd8-4057-464a-b104-bbab1955e3e0" providerId="ADAL" clId="{039C79BD-B19D-4334-ABA0-7AF91C6D5A59}" dt="2026-10-14T17:23:03.012" v="1040" actId="207"/>
          <ac:spMkLst>
            <pc:docMk/>
            <pc:sldMk cId="3732970937" sldId="265"/>
            <ac:spMk id="5" creationId="{42DFB766-9A6F-0C56-974E-9D0CAF1E50BB}"/>
          </ac:spMkLst>
        </pc:spChg>
        <pc:spChg chg="add mod">
          <ac:chgData name="Jocileide Rodrigues Dias" userId="1b476cd8-4057-464a-b104-bbab1955e3e0" providerId="ADAL" clId="{039C79BD-B19D-4334-ABA0-7AF91C6D5A59}" dt="2026-10-22T17:23:37.793" v="1237" actId="20577"/>
          <ac:spMkLst>
            <pc:docMk/>
            <pc:sldMk cId="3732970937" sldId="265"/>
            <ac:spMk id="7" creationId="{BDF51499-91FB-8EEC-7F3C-64FED94EE5CF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07.386" v="995" actId="1076"/>
        <pc:sldMkLst>
          <pc:docMk/>
          <pc:sldMk cId="1796060300" sldId="266"/>
        </pc:sldMkLst>
        <pc:spChg chg="mod">
          <ac:chgData name="Jocileide Rodrigues Dias" userId="1b476cd8-4057-464a-b104-bbab1955e3e0" providerId="ADAL" clId="{039C79BD-B19D-4334-ABA0-7AF91C6D5A59}" dt="2026-10-14T17:09:35.319" v="756" actId="20577"/>
          <ac:spMkLst>
            <pc:docMk/>
            <pc:sldMk cId="1796060300" sldId="266"/>
            <ac:spMk id="7" creationId="{1037B04D-E3AA-A765-045D-C55C25CDC1C2}"/>
          </ac:spMkLst>
        </pc:spChg>
        <pc:spChg chg="mod">
          <ac:chgData name="Jocileide Rodrigues Dias" userId="1b476cd8-4057-464a-b104-bbab1955e3e0" providerId="ADAL" clId="{039C79BD-B19D-4334-ABA0-7AF91C6D5A59}" dt="2026-10-14T17:12:10.553" v="803" actId="20577"/>
          <ac:spMkLst>
            <pc:docMk/>
            <pc:sldMk cId="1796060300" sldId="266"/>
            <ac:spMk id="10" creationId="{86DCA0B6-2EA3-4735-A929-EE5F974EE69F}"/>
          </ac:spMkLst>
        </pc:spChg>
        <pc:spChg chg="mod">
          <ac:chgData name="Jocileide Rodrigues Dias" userId="1b476cd8-4057-464a-b104-bbab1955e3e0" providerId="ADAL" clId="{039C79BD-B19D-4334-ABA0-7AF91C6D5A59}" dt="2026-10-14T17:11:50.902" v="780" actId="20577"/>
          <ac:spMkLst>
            <pc:docMk/>
            <pc:sldMk cId="1796060300" sldId="266"/>
            <ac:spMk id="11" creationId="{514081F1-6B01-E4F2-49F8-8C457A834131}"/>
          </ac:spMkLst>
        </pc:spChg>
        <pc:spChg chg="mod">
          <ac:chgData name="Jocileide Rodrigues Dias" userId="1b476cd8-4057-464a-b104-bbab1955e3e0" providerId="ADAL" clId="{039C79BD-B19D-4334-ABA0-7AF91C6D5A59}" dt="2026-10-14T17:08:05.431" v="658" actId="20577"/>
          <ac:spMkLst>
            <pc:docMk/>
            <pc:sldMk cId="1796060300" sldId="266"/>
            <ac:spMk id="14" creationId="{5C268436-8097-4732-1F20-97860D124A91}"/>
          </ac:spMkLst>
        </pc:spChg>
        <pc:spChg chg="mod">
          <ac:chgData name="Jocileide Rodrigues Dias" userId="1b476cd8-4057-464a-b104-bbab1955e3e0" providerId="ADAL" clId="{039C79BD-B19D-4334-ABA0-7AF91C6D5A59}" dt="2026-10-14T17:08:11.372" v="659" actId="113"/>
          <ac:spMkLst>
            <pc:docMk/>
            <pc:sldMk cId="1796060300" sldId="266"/>
            <ac:spMk id="20" creationId="{5244F07B-5E2E-F279-125D-C852056182E0}"/>
          </ac:spMkLst>
        </pc:spChg>
        <pc:spChg chg="mod">
          <ac:chgData name="Jocileide Rodrigues Dias" userId="1b476cd8-4057-464a-b104-bbab1955e3e0" providerId="ADAL" clId="{039C79BD-B19D-4334-ABA0-7AF91C6D5A59}" dt="2026-10-14T17:01:04.969" v="130" actId="20577"/>
          <ac:spMkLst>
            <pc:docMk/>
            <pc:sldMk cId="1796060300" sldId="266"/>
            <ac:spMk id="25" creationId="{77C0C3D5-11D0-54C1-2D52-E069C1D21F67}"/>
          </ac:spMkLst>
        </pc:spChg>
        <pc:spChg chg="add mod">
          <ac:chgData name="Jocileide Rodrigues Dias" userId="1b476cd8-4057-464a-b104-bbab1955e3e0" providerId="ADAL" clId="{039C79BD-B19D-4334-ABA0-7AF91C6D5A59}" dt="2026-10-14T17:09:56.639" v="759" actId="1076"/>
          <ac:spMkLst>
            <pc:docMk/>
            <pc:sldMk cId="1796060300" sldId="266"/>
            <ac:spMk id="40" creationId="{58235D5F-4785-C846-1FED-B752A22CAB54}"/>
          </ac:spMkLst>
        </pc:spChg>
        <pc:spChg chg="add mod">
          <ac:chgData name="Jocileide Rodrigues Dias" userId="1b476cd8-4057-464a-b104-bbab1955e3e0" providerId="ADAL" clId="{039C79BD-B19D-4334-ABA0-7AF91C6D5A59}" dt="2026-10-14T17:07:32.490" v="614" actId="1076"/>
          <ac:spMkLst>
            <pc:docMk/>
            <pc:sldMk cId="1796060300" sldId="266"/>
            <ac:spMk id="42" creationId="{45B1083C-62F5-AAE6-AD5D-46821F2CF946}"/>
          </ac:spMkLst>
        </pc:spChg>
        <pc:spChg chg="add">
          <ac:chgData name="Jocileide Rodrigues Dias" userId="1b476cd8-4057-464a-b104-bbab1955e3e0" providerId="ADAL" clId="{039C79BD-B19D-4334-ABA0-7AF91C6D5A59}" dt="2026-10-14T17:09:47.962" v="758" actId="22"/>
          <ac:spMkLst>
            <pc:docMk/>
            <pc:sldMk cId="1796060300" sldId="266"/>
            <ac:spMk id="44" creationId="{A84019CF-0239-5AEB-188F-58D5DB1875B2}"/>
          </ac:spMkLst>
        </pc:spChg>
        <pc:spChg chg="add mod">
          <ac:chgData name="Jocileide Rodrigues Dias" userId="1b476cd8-4057-464a-b104-bbab1955e3e0" providerId="ADAL" clId="{039C79BD-B19D-4334-ABA0-7AF91C6D5A59}" dt="2026-10-14T17:12:36.364" v="840" actId="14100"/>
          <ac:spMkLst>
            <pc:docMk/>
            <pc:sldMk cId="1796060300" sldId="266"/>
            <ac:spMk id="46" creationId="{DA8DC612-5114-8065-E4EB-C0E5A381D8E7}"/>
          </ac:spMkLst>
        </pc:spChg>
        <pc:spChg chg="add mod">
          <ac:chgData name="Jocileide Rodrigues Dias" userId="1b476cd8-4057-464a-b104-bbab1955e3e0" providerId="ADAL" clId="{039C79BD-B19D-4334-ABA0-7AF91C6D5A59}" dt="2026-10-14T17:15:07.386" v="995" actId="1076"/>
          <ac:spMkLst>
            <pc:docMk/>
            <pc:sldMk cId="1796060300" sldId="266"/>
            <ac:spMk id="50" creationId="{46BEA618-12F7-3B65-1744-C4776B0991E2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22T17:04:52.455" v="1129" actId="1076"/>
        <pc:sldMkLst>
          <pc:docMk/>
          <pc:sldMk cId="2526851422" sldId="267"/>
        </pc:sldMkLst>
        <pc:spChg chg="mod">
          <ac:chgData name="Jocileide Rodrigues Dias" userId="1b476cd8-4057-464a-b104-bbab1955e3e0" providerId="ADAL" clId="{039C79BD-B19D-4334-ABA0-7AF91C6D5A59}" dt="2026-10-14T17:03:01.645" v="316" actId="20577"/>
          <ac:spMkLst>
            <pc:docMk/>
            <pc:sldMk cId="2526851422" sldId="267"/>
            <ac:spMk id="4" creationId="{A39E0F86-B360-70BF-A50A-5869E5515F01}"/>
          </ac:spMkLst>
        </pc:spChg>
        <pc:spChg chg="mod">
          <ac:chgData name="Jocileide Rodrigues Dias" userId="1b476cd8-4057-464a-b104-bbab1955e3e0" providerId="ADAL" clId="{039C79BD-B19D-4334-ABA0-7AF91C6D5A59}" dt="2026-10-14T17:03:07.850" v="335" actId="20577"/>
          <ac:spMkLst>
            <pc:docMk/>
            <pc:sldMk cId="2526851422" sldId="267"/>
            <ac:spMk id="6" creationId="{FD1F72A8-98F3-2327-62BD-72DF0CBB9BCB}"/>
          </ac:spMkLst>
        </pc:spChg>
        <pc:spChg chg="mod">
          <ac:chgData name="Jocileide Rodrigues Dias" userId="1b476cd8-4057-464a-b104-bbab1955e3e0" providerId="ADAL" clId="{039C79BD-B19D-4334-ABA0-7AF91C6D5A59}" dt="2026-10-22T17:04:49.131" v="1128" actId="1076"/>
          <ac:spMkLst>
            <pc:docMk/>
            <pc:sldMk cId="2526851422" sldId="267"/>
            <ac:spMk id="36" creationId="{D0FF9681-712E-1F84-1A3C-51521C508AE2}"/>
          </ac:spMkLst>
        </pc:spChg>
        <pc:spChg chg="add mod">
          <ac:chgData name="Jocileide Rodrigues Dias" userId="1b476cd8-4057-464a-b104-bbab1955e3e0" providerId="ADAL" clId="{039C79BD-B19D-4334-ABA0-7AF91C6D5A59}" dt="2026-10-22T17:04:49.131" v="1128" actId="1076"/>
          <ac:spMkLst>
            <pc:docMk/>
            <pc:sldMk cId="2526851422" sldId="267"/>
            <ac:spMk id="38" creationId="{8D25614C-E874-D4B1-9EDA-CD5EE2FC677D}"/>
          </ac:spMkLst>
        </pc:spChg>
        <pc:spChg chg="add mod">
          <ac:chgData name="Jocileide Rodrigues Dias" userId="1b476cd8-4057-464a-b104-bbab1955e3e0" providerId="ADAL" clId="{039C79BD-B19D-4334-ABA0-7AF91C6D5A59}" dt="2026-10-22T17:04:52.455" v="1129" actId="1076"/>
          <ac:spMkLst>
            <pc:docMk/>
            <pc:sldMk cId="2526851422" sldId="267"/>
            <ac:spMk id="42" creationId="{4F4C7847-C9DD-E973-45B8-A5A8BE71427B}"/>
          </ac:spMkLst>
        </pc:spChg>
        <pc:graphicFrameChg chg="add mod">
          <ac:chgData name="Jocileide Rodrigues Dias" userId="1b476cd8-4057-464a-b104-bbab1955e3e0" providerId="ADAL" clId="{039C79BD-B19D-4334-ABA0-7AF91C6D5A59}" dt="2026-10-22T17:04:16.820" v="1117" actId="1037"/>
          <ac:graphicFrameMkLst>
            <pc:docMk/>
            <pc:sldMk cId="2526851422" sldId="267"/>
            <ac:graphicFrameMk id="3" creationId="{7DFBEB2F-F1D0-01F1-F9B5-20B36C8ABC38}"/>
          </ac:graphicFrameMkLst>
        </pc:graphicFrameChg>
        <pc:graphicFrameChg chg="del modGraphic">
          <ac:chgData name="Jocileide Rodrigues Dias" userId="1b476cd8-4057-464a-b104-bbab1955e3e0" providerId="ADAL" clId="{039C79BD-B19D-4334-ABA0-7AF91C6D5A59}" dt="2026-10-22T17:04:07.500" v="1110" actId="478"/>
          <ac:graphicFrameMkLst>
            <pc:docMk/>
            <pc:sldMk cId="2526851422" sldId="267"/>
            <ac:graphicFrameMk id="29" creationId="{120AC19B-6021-4116-3341-99D4A11CA161}"/>
          </ac:graphicFrameMkLst>
        </pc:graphicFrameChg>
      </pc:sldChg>
      <pc:sldChg chg="addSp delSp modSp mod">
        <pc:chgData name="Jocileide Rodrigues Dias" userId="1b476cd8-4057-464a-b104-bbab1955e3e0" providerId="ADAL" clId="{039C79BD-B19D-4334-ABA0-7AF91C6D5A59}" dt="2026-10-22T17:04:37.022" v="1127" actId="1038"/>
        <pc:sldMkLst>
          <pc:docMk/>
          <pc:sldMk cId="2474999816" sldId="268"/>
        </pc:sldMkLst>
        <pc:spChg chg="add mod">
          <ac:chgData name="Jocileide Rodrigues Dias" userId="1b476cd8-4057-464a-b104-bbab1955e3e0" providerId="ADAL" clId="{039C79BD-B19D-4334-ABA0-7AF91C6D5A59}" dt="2026-10-14T17:06:53.070" v="607" actId="1076"/>
          <ac:spMkLst>
            <pc:docMk/>
            <pc:sldMk cId="2474999816" sldId="268"/>
            <ac:spMk id="71" creationId="{9E6702ED-C166-F681-152C-B934DDA9124C}"/>
          </ac:spMkLst>
        </pc:spChg>
        <pc:spChg chg="add">
          <ac:chgData name="Jocileide Rodrigues Dias" userId="1b476cd8-4057-464a-b104-bbab1955e3e0" providerId="ADAL" clId="{039C79BD-B19D-4334-ABA0-7AF91C6D5A59}" dt="2026-10-14T17:03:56.027" v="403" actId="22"/>
          <ac:spMkLst>
            <pc:docMk/>
            <pc:sldMk cId="2474999816" sldId="268"/>
            <ac:spMk id="73" creationId="{8F4D8A43-6004-0E91-4A80-6344F0A68403}"/>
          </ac:spMkLst>
        </pc:spChg>
        <pc:spChg chg="add mod">
          <ac:chgData name="Jocileide Rodrigues Dias" userId="1b476cd8-4057-464a-b104-bbab1955e3e0" providerId="ADAL" clId="{039C79BD-B19D-4334-ABA0-7AF91C6D5A59}" dt="2026-10-14T17:04:05.793" v="406" actId="1076"/>
          <ac:spMkLst>
            <pc:docMk/>
            <pc:sldMk cId="2474999816" sldId="268"/>
            <ac:spMk id="75" creationId="{9C20AD7D-C317-7315-4B25-46A12AF53BB1}"/>
          </ac:spMkLst>
        </pc:spChg>
        <pc:spChg chg="add mod">
          <ac:chgData name="Jocileide Rodrigues Dias" userId="1b476cd8-4057-464a-b104-bbab1955e3e0" providerId="ADAL" clId="{039C79BD-B19D-4334-ABA0-7AF91C6D5A59}" dt="2026-10-14T17:15:22.059" v="1003" actId="1076"/>
          <ac:spMkLst>
            <pc:docMk/>
            <pc:sldMk cId="2474999816" sldId="268"/>
            <ac:spMk id="79" creationId="{76F6C719-E352-977C-7C50-D98BD7632AA6}"/>
          </ac:spMkLst>
        </pc:spChg>
        <pc:graphicFrameChg chg="add mod">
          <ac:chgData name="Jocileide Rodrigues Dias" userId="1b476cd8-4057-464a-b104-bbab1955e3e0" providerId="ADAL" clId="{039C79BD-B19D-4334-ABA0-7AF91C6D5A59}" dt="2026-10-22T17:04:37.022" v="1127" actId="1038"/>
          <ac:graphicFrameMkLst>
            <pc:docMk/>
            <pc:sldMk cId="2474999816" sldId="268"/>
            <ac:graphicFrameMk id="4" creationId="{2ADEB937-F4E9-27DE-8D44-B0B9385CB07D}"/>
          </ac:graphicFrameMkLst>
        </pc:graphicFrameChg>
        <pc:graphicFrameChg chg="del">
          <ac:chgData name="Jocileide Rodrigues Dias" userId="1b476cd8-4057-464a-b104-bbab1955e3e0" providerId="ADAL" clId="{039C79BD-B19D-4334-ABA0-7AF91C6D5A59}" dt="2026-10-22T17:04:25.623" v="1118" actId="478"/>
          <ac:graphicFrameMkLst>
            <pc:docMk/>
            <pc:sldMk cId="2474999816" sldId="268"/>
            <ac:graphicFrameMk id="62" creationId="{E6DE81C3-88DB-E0D4-1D41-F5FAB26EF5B2}"/>
          </ac:graphicFrameMkLst>
        </pc:graphicFrameChg>
      </pc:sldChg>
      <pc:sldChg chg="addSp delSp modSp mod">
        <pc:chgData name="Jocileide Rodrigues Dias" userId="1b476cd8-4057-464a-b104-bbab1955e3e0" providerId="ADAL" clId="{039C79BD-B19D-4334-ABA0-7AF91C6D5A59}" dt="2026-10-14T17:26:40.917" v="1078" actId="20577"/>
        <pc:sldMkLst>
          <pc:docMk/>
          <pc:sldMk cId="772740072" sldId="269"/>
        </pc:sldMkLst>
        <pc:spChg chg="mod">
          <ac:chgData name="Jocileide Rodrigues Dias" userId="1b476cd8-4057-464a-b104-bbab1955e3e0" providerId="ADAL" clId="{039C79BD-B19D-4334-ABA0-7AF91C6D5A59}" dt="2026-10-14T17:04:35.311" v="477" actId="20577"/>
          <ac:spMkLst>
            <pc:docMk/>
            <pc:sldMk cId="772740072" sldId="269"/>
            <ac:spMk id="4" creationId="{F81E71CF-89BA-30B3-477F-D2F80AF6F227}"/>
          </ac:spMkLst>
        </pc:spChg>
        <pc:spChg chg="add">
          <ac:chgData name="Jocileide Rodrigues Dias" userId="1b476cd8-4057-464a-b104-bbab1955e3e0" providerId="ADAL" clId="{039C79BD-B19D-4334-ABA0-7AF91C6D5A59}" dt="2026-10-14T17:05:49.211" v="558" actId="22"/>
          <ac:spMkLst>
            <pc:docMk/>
            <pc:sldMk cId="772740072" sldId="269"/>
            <ac:spMk id="51" creationId="{57A5C123-FC7F-9DB0-067A-7896B2CC5CEA}"/>
          </ac:spMkLst>
        </pc:spChg>
        <pc:spChg chg="add mod">
          <ac:chgData name="Jocileide Rodrigues Dias" userId="1b476cd8-4057-464a-b104-bbab1955e3e0" providerId="ADAL" clId="{039C79BD-B19D-4334-ABA0-7AF91C6D5A59}" dt="2026-10-14T17:15:28.757" v="1006" actId="1076"/>
          <ac:spMkLst>
            <pc:docMk/>
            <pc:sldMk cId="772740072" sldId="269"/>
            <ac:spMk id="55" creationId="{1027F437-A74E-0BA8-54B3-4C60D2A81197}"/>
          </ac:spMkLst>
        </pc:spChg>
        <pc:spChg chg="add mod">
          <ac:chgData name="Jocileide Rodrigues Dias" userId="1b476cd8-4057-464a-b104-bbab1955e3e0" providerId="ADAL" clId="{039C79BD-B19D-4334-ABA0-7AF91C6D5A59}" dt="2026-10-14T17:26:20.394" v="1063" actId="20577"/>
          <ac:spMkLst>
            <pc:docMk/>
            <pc:sldMk cId="772740072" sldId="269"/>
            <ac:spMk id="57" creationId="{4178120F-E349-5A6B-8708-756E18C942A4}"/>
          </ac:spMkLst>
        </pc:spChg>
        <pc:spChg chg="add mod">
          <ac:chgData name="Jocileide Rodrigues Dias" userId="1b476cd8-4057-464a-b104-bbab1955e3e0" providerId="ADAL" clId="{039C79BD-B19D-4334-ABA0-7AF91C6D5A59}" dt="2026-10-14T17:26:40.917" v="1078" actId="20577"/>
          <ac:spMkLst>
            <pc:docMk/>
            <pc:sldMk cId="772740072" sldId="269"/>
            <ac:spMk id="59" creationId="{76DF6AAB-AB4C-4D83-ACDD-EB56789B7D6F}"/>
          </ac:spMkLst>
        </pc:spChg>
      </pc:sldChg>
      <pc:sldChg chg="addSp delSp modSp mod">
        <pc:chgData name="Jocileide Rodrigues Dias" userId="1b476cd8-4057-464a-b104-bbab1955e3e0" providerId="ADAL" clId="{039C79BD-B19D-4334-ABA0-7AF91C6D5A59}" dt="2026-10-14T17:15:36.013" v="1008" actId="1076"/>
        <pc:sldMkLst>
          <pc:docMk/>
          <pc:sldMk cId="3976674021" sldId="270"/>
        </pc:sldMkLst>
        <pc:spChg chg="add mod">
          <ac:chgData name="Jocileide Rodrigues Dias" userId="1b476cd8-4057-464a-b104-bbab1955e3e0" providerId="ADAL" clId="{039C79BD-B19D-4334-ABA0-7AF91C6D5A59}" dt="2026-10-14T17:04:46.640" v="484" actId="20577"/>
          <ac:spMkLst>
            <pc:docMk/>
            <pc:sldMk cId="3976674021" sldId="270"/>
            <ac:spMk id="57" creationId="{E531366C-658E-41C2-1864-31F7B0B2EEEA}"/>
          </ac:spMkLst>
        </pc:spChg>
        <pc:spChg chg="add">
          <ac:chgData name="Jocileide Rodrigues Dias" userId="1b476cd8-4057-464a-b104-bbab1955e3e0" providerId="ADAL" clId="{039C79BD-B19D-4334-ABA0-7AF91C6D5A59}" dt="2026-10-14T17:05:45.304" v="556" actId="22"/>
          <ac:spMkLst>
            <pc:docMk/>
            <pc:sldMk cId="3976674021" sldId="270"/>
            <ac:spMk id="59" creationId="{8153AAE6-5FBE-B3C8-72C5-6B5318C75EAE}"/>
          </ac:spMkLst>
        </pc:spChg>
        <pc:spChg chg="add mod">
          <ac:chgData name="Jocileide Rodrigues Dias" userId="1b476cd8-4057-464a-b104-bbab1955e3e0" providerId="ADAL" clId="{039C79BD-B19D-4334-ABA0-7AF91C6D5A59}" dt="2026-10-14T17:15:36.013" v="1008" actId="1076"/>
          <ac:spMkLst>
            <pc:docMk/>
            <pc:sldMk cId="3976674021" sldId="270"/>
            <ac:spMk id="61" creationId="{520A2A5E-F9A4-5A1E-31ED-E3E73015207A}"/>
          </ac:spMkLst>
        </pc:spChg>
      </pc:sldChg>
      <pc:sldChg chg="addSp modSp add mod">
        <pc:chgData name="Jocileide Rodrigues Dias" userId="1b476cd8-4057-464a-b104-bbab1955e3e0" providerId="ADAL" clId="{039C79BD-B19D-4334-ABA0-7AF91C6D5A59}" dt="2026-10-14T17:15:41.717" v="1010" actId="22"/>
        <pc:sldMkLst>
          <pc:docMk/>
          <pc:sldMk cId="2783556291" sldId="271"/>
        </pc:sldMkLst>
        <pc:spChg chg="add">
          <ac:chgData name="Jocileide Rodrigues Dias" userId="1b476cd8-4057-464a-b104-bbab1955e3e0" providerId="ADAL" clId="{039C79BD-B19D-4334-ABA0-7AF91C6D5A59}" dt="2026-10-14T17:15:41.717" v="1010" actId="22"/>
          <ac:spMkLst>
            <pc:docMk/>
            <pc:sldMk cId="2783556291" sldId="271"/>
            <ac:spMk id="3" creationId="{DAB5D21C-F6DD-193C-4265-66B5F0C43DFB}"/>
          </ac:spMkLst>
        </pc:spChg>
        <pc:spChg chg="mod">
          <ac:chgData name="Jocileide Rodrigues Dias" userId="1b476cd8-4057-464a-b104-bbab1955e3e0" providerId="ADAL" clId="{039C79BD-B19D-4334-ABA0-7AF91C6D5A59}" dt="2026-10-14T17:06:25.273" v="599" actId="20577"/>
          <ac:spMkLst>
            <pc:docMk/>
            <pc:sldMk cId="2783556291" sldId="271"/>
            <ac:spMk id="6" creationId="{9A7A9CB9-DB87-EDEF-FF05-2F8A56908B51}"/>
          </ac:spMkLst>
        </pc:spChg>
      </pc:sldChg>
      <pc:sldChg chg="add">
        <pc:chgData name="Jocileide Rodrigues Dias" userId="1b476cd8-4057-464a-b104-bbab1955e3e0" providerId="ADAL" clId="{039C79BD-B19D-4334-ABA0-7AF91C6D5A59}" dt="2026-10-14T17:18:05.596" v="1013" actId="2890"/>
        <pc:sldMkLst>
          <pc:docMk/>
          <pc:sldMk cId="2716896002" sldId="272"/>
        </pc:sldMkLst>
      </pc:sldChg>
      <pc:sldChg chg="addSp delSp modSp new mod">
        <pc:chgData name="Jocileide Rodrigues Dias" userId="1b476cd8-4057-464a-b104-bbab1955e3e0" providerId="ADAL" clId="{039C79BD-B19D-4334-ABA0-7AF91C6D5A59}" dt="2026-10-22T17:08:58.233" v="1231" actId="20577"/>
        <pc:sldMkLst>
          <pc:docMk/>
          <pc:sldMk cId="1460311017" sldId="273"/>
        </pc:sldMkLst>
        <pc:spChg chg="add mod">
          <ac:chgData name="Jocileide Rodrigues Dias" userId="1b476cd8-4057-464a-b104-bbab1955e3e0" providerId="ADAL" clId="{039C79BD-B19D-4334-ABA0-7AF91C6D5A59}" dt="2026-10-22T17:08:35.234" v="1157" actId="20577"/>
          <ac:spMkLst>
            <pc:docMk/>
            <pc:sldMk cId="1460311017" sldId="273"/>
            <ac:spMk id="3" creationId="{881B19FA-C361-4AEA-63D3-A4D5E83BA84A}"/>
          </ac:spMkLst>
        </pc:spChg>
        <pc:spChg chg="add">
          <ac:chgData name="Jocileide Rodrigues Dias" userId="1b476cd8-4057-464a-b104-bbab1955e3e0" providerId="ADAL" clId="{039C79BD-B19D-4334-ABA0-7AF91C6D5A59}" dt="2026-10-22T17:07:35.203" v="1131" actId="22"/>
          <ac:spMkLst>
            <pc:docMk/>
            <pc:sldMk cId="1460311017" sldId="273"/>
            <ac:spMk id="5" creationId="{C16A34ED-02F0-3BE2-B643-C37922915AC6}"/>
          </ac:spMkLst>
        </pc:spChg>
        <pc:spChg chg="add del mod">
          <ac:chgData name="Jocileide Rodrigues Dias" userId="1b476cd8-4057-464a-b104-bbab1955e3e0" providerId="ADAL" clId="{039C79BD-B19D-4334-ABA0-7AF91C6D5A59}" dt="2026-10-22T17:08:27.534" v="1139" actId="478"/>
          <ac:spMkLst>
            <pc:docMk/>
            <pc:sldMk cId="1460311017" sldId="273"/>
            <ac:spMk id="6" creationId="{1E85F177-CB87-2560-A833-FF10E80AC5FA}"/>
          </ac:spMkLst>
        </pc:spChg>
        <pc:spChg chg="add mod">
          <ac:chgData name="Jocileide Rodrigues Dias" userId="1b476cd8-4057-464a-b104-bbab1955e3e0" providerId="ADAL" clId="{039C79BD-B19D-4334-ABA0-7AF91C6D5A59}" dt="2026-10-22T17:07:47.425" v="1136" actId="1076"/>
          <ac:spMkLst>
            <pc:docMk/>
            <pc:sldMk cId="1460311017" sldId="273"/>
            <ac:spMk id="8" creationId="{B24BC600-DF43-2090-5E65-3CD0C07B693B}"/>
          </ac:spMkLst>
        </pc:spChg>
        <pc:spChg chg="add mod">
          <ac:chgData name="Jocileide Rodrigues Dias" userId="1b476cd8-4057-464a-b104-bbab1955e3e0" providerId="ADAL" clId="{039C79BD-B19D-4334-ABA0-7AF91C6D5A59}" dt="2026-10-22T17:08:58.233" v="1231" actId="20577"/>
          <ac:spMkLst>
            <pc:docMk/>
            <pc:sldMk cId="1460311017" sldId="273"/>
            <ac:spMk id="10" creationId="{D483C495-794F-0CA6-5549-119B3A96E807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87B85EAC-CB96-888F-704D-306C5E5C5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D3DCBC-CB79-2A81-8F7B-718D87D60B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757D8-F647-4AA4-89F0-71280EDA93C2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EAFEDE5-0EA6-B915-FB88-33DF0D7AE6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E5C042-78BC-911C-CCB8-DFD7616A99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C3EE2-C416-4D1C-B06E-2EF753D5DF2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589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0C563-1A98-44EB-B8BB-BEFF5C7F3E1A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228AB-4BB1-43B1-A5EA-162F51C8BDF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4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400" b="1">
                <a:solidFill>
                  <a:srgbClr val="007A9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Informar os principais riscos identificados</a:t>
            </a:r>
          </a:p>
          <a:p>
            <a:endParaRPr lang="pt-BR" altLang="pt-BR" sz="1400" b="1">
              <a:solidFill>
                <a:srgbClr val="007A9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pt-BR" altLang="pt-BR" sz="1200" b="1">
                <a:solidFill>
                  <a:srgbClr val="007A9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PLANO ATENUANTE: </a:t>
            </a:r>
            <a:r>
              <a:rPr lang="pt-BR" altLang="pt-BR" sz="1200">
                <a:solidFill>
                  <a:srgbClr val="007A9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descrever um plano que o GP possa usar pra reduzir ou eliminar a probabilidade  de risco, o impacto do risco ou ambos.</a:t>
            </a:r>
          </a:p>
          <a:p>
            <a:endParaRPr lang="pt-BR" altLang="pt-BR" sz="1200" b="1">
              <a:solidFill>
                <a:srgbClr val="007A9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pt-BR" altLang="pt-BR" sz="1200" b="1">
                <a:solidFill>
                  <a:srgbClr val="007A9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PLANO DE CONTIGÊNCIA: </a:t>
            </a:r>
            <a:r>
              <a:rPr lang="pt-BR" altLang="pt-BR" sz="1200">
                <a:solidFill>
                  <a:srgbClr val="007A9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descrever um plano alternativo que possa ajudar na redução do impacto do risco caso ele ocorra.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228AB-4BB1-43B1-A5EA-162F51C8BDF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12034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34270DB8-0503-3897-1007-0CF615508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pic>
        <p:nvPicPr>
          <p:cNvPr id="2" name="Imagem 1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7079F1FD-65F2-FE6F-C220-604FEF0883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0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13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9A5AB256-5C22-9959-9687-895B709FD4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15E146A-D0E2-EB12-7C02-DF05ADC6E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0" y="557982"/>
            <a:ext cx="10478729" cy="744345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1F1F4C"/>
                </a:solidFill>
                <a:latin typeface="DM Sans" pitchFamily="2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164C42-6287-1F7B-00CB-F0C0DE678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071" y="1406014"/>
            <a:ext cx="10478729" cy="38517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>
                <a:solidFill>
                  <a:srgbClr val="1F1F4C"/>
                </a:solidFill>
                <a:latin typeface="DM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36370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orma&#10;&#10;O conteúdo gerado por IA pode estar incorreto.">
            <a:extLst>
              <a:ext uri="{FF2B5EF4-FFF2-40B4-BE49-F238E27FC236}">
                <a16:creationId xmlns:a16="http://schemas.microsoft.com/office/drawing/2014/main" id="{35750F48-93E1-C485-1D16-2FEAE02F08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72B985-DEE9-63CF-B160-D8D5B78A8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071" y="1406014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F1F4C"/>
                </a:solidFill>
                <a:latin typeface="DM Sans" pitchFamily="2" charset="0"/>
              </a:defRPr>
            </a:lvl1pPr>
            <a:lvl2pPr>
              <a:defRPr sz="1800">
                <a:solidFill>
                  <a:srgbClr val="1F1F4C"/>
                </a:solidFill>
                <a:latin typeface="DM Sans" pitchFamily="2" charset="0"/>
              </a:defRPr>
            </a:lvl2pPr>
            <a:lvl3pPr>
              <a:defRPr sz="1800">
                <a:solidFill>
                  <a:srgbClr val="1F1F4C"/>
                </a:solidFill>
                <a:latin typeface="DM Sans" pitchFamily="2" charset="0"/>
              </a:defRPr>
            </a:lvl3pPr>
            <a:lvl4pPr>
              <a:defRPr sz="1800">
                <a:solidFill>
                  <a:srgbClr val="1F1F4C"/>
                </a:solidFill>
                <a:latin typeface="DM Sans" pitchFamily="2" charset="0"/>
              </a:defRPr>
            </a:lvl4pPr>
            <a:lvl5pPr>
              <a:defRPr sz="1800">
                <a:solidFill>
                  <a:srgbClr val="1F1F4C"/>
                </a:solidFill>
                <a:latin typeface="DM Sans" pitchFamily="2" charset="0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45D52482-D8B5-458B-F167-A1F0FF13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071" y="557983"/>
            <a:ext cx="10515600" cy="848032"/>
          </a:xfrm>
          <a:prstGeom prst="rect">
            <a:avLst/>
          </a:prstGeom>
        </p:spPr>
        <p:txBody>
          <a:bodyPr/>
          <a:lstStyle>
            <a:lvl1pPr>
              <a:defRPr lang="pt-BR" sz="4800" b="1" dirty="0">
                <a:solidFill>
                  <a:srgbClr val="1F1F4C"/>
                </a:solidFill>
                <a:latin typeface="DM Sans" pitchFamily="2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56017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3422563-A520-F9E6-E370-0703979E3D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85"/>
            <a:ext cx="12191999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41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nto – forma">
            <a:extLst>
              <a:ext uri="{FF2B5EF4-FFF2-40B4-BE49-F238E27FC236}">
                <a16:creationId xmlns:a16="http://schemas.microsoft.com/office/drawing/2014/main" id="{892B5431-8425-F44D-483E-AEE258C91DFB}"/>
              </a:ext>
            </a:extLst>
          </p:cNvPr>
          <p:cNvSpPr/>
          <p:nvPr userDrawn="1"/>
        </p:nvSpPr>
        <p:spPr>
          <a:xfrm>
            <a:off x="11109960" y="-502920"/>
            <a:ext cx="1645920" cy="1325880"/>
          </a:xfrm>
          <a:prstGeom prst="round2DiagRect">
            <a:avLst>
              <a:gd name="adj1" fmla="val 45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nto – esfera">
            <a:extLst>
              <a:ext uri="{FF2B5EF4-FFF2-40B4-BE49-F238E27FC236}">
                <a16:creationId xmlns:a16="http://schemas.microsoft.com/office/drawing/2014/main" id="{62CF1D09-6C72-99C4-69BD-061BF287FE72}"/>
              </a:ext>
            </a:extLst>
          </p:cNvPr>
          <p:cNvSpPr/>
          <p:nvPr userDrawn="1"/>
        </p:nvSpPr>
        <p:spPr>
          <a:xfrm>
            <a:off x="11750040" y="320040"/>
            <a:ext cx="822960" cy="82296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nto – arco">
            <a:extLst>
              <a:ext uri="{FF2B5EF4-FFF2-40B4-BE49-F238E27FC236}">
                <a16:creationId xmlns:a16="http://schemas.microsoft.com/office/drawing/2014/main" id="{F51D8F3B-9606-480D-41B0-6D0087FE8B51}"/>
              </a:ext>
            </a:extLst>
          </p:cNvPr>
          <p:cNvSpPr/>
          <p:nvPr userDrawn="1"/>
        </p:nvSpPr>
        <p:spPr>
          <a:xfrm>
            <a:off x="10561320" y="-1280160"/>
            <a:ext cx="2651760" cy="2651760"/>
          </a:xfrm>
          <a:prstGeom prst="arc">
            <a:avLst>
              <a:gd name="adj1" fmla="val 9000000"/>
              <a:gd name="adj2" fmla="val 18000000"/>
            </a:avLst>
          </a:prstGeom>
          <a:noFill/>
          <a:ln w="15875">
            <a:solidFill>
              <a:srgbClr val="F47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Logo Energisa" descr="logo.png">
            <a:extLst>
              <a:ext uri="{FF2B5EF4-FFF2-40B4-BE49-F238E27FC236}">
                <a16:creationId xmlns:a16="http://schemas.microsoft.com/office/drawing/2014/main" id="{DB0F9A41-0FB3-1023-3196-BA31112591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0192" y="6351905"/>
            <a:ext cx="1143000" cy="37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19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Energisa" descr="logo.png">
            <a:extLst>
              <a:ext uri="{FF2B5EF4-FFF2-40B4-BE49-F238E27FC236}">
                <a16:creationId xmlns:a16="http://schemas.microsoft.com/office/drawing/2014/main" id="{09D2A2BF-2BBA-982F-01CD-3FB693660B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35468" y="158139"/>
            <a:ext cx="1143000" cy="37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920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F5EFABC3-A164-4C24-78C1-54FF6360BF3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4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696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pa – fu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9EEF3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58368" y="1783080"/>
            <a:ext cx="6217920" cy="1920240"/>
          </a:xfrm>
        </p:spPr>
        <p:txBody>
          <a:bodyPr wrap="square" lIns="0" tIns="0" rIns="0" bIns="0" anchor="t"/>
          <a:lstStyle/>
          <a:p>
            <a:pPr>
              <a:lnSpc>
                <a:spcPct val="88000"/>
              </a:lnSpc>
            </a:pPr>
            <a:r>
              <a:rPr sz="7200" b="1" i="0" spc="-100">
                <a:solidFill>
                  <a:srgbClr val="1F1F4C"/>
                </a:solidFill>
                <a:latin typeface="DM Sans"/>
              </a:rPr>
              <a:t>KICKOFF</a:t>
            </a:r>
          </a:p>
          <a:p>
            <a:pPr>
              <a:lnSpc>
                <a:spcPct val="88000"/>
              </a:lnSpc>
            </a:pPr>
            <a:r>
              <a:rPr sz="7200" b="1" i="0" spc="-100">
                <a:solidFill>
                  <a:srgbClr val="F47B20"/>
                </a:solidFill>
                <a:latin typeface="DM Sans"/>
              </a:rPr>
              <a:t>MEETING</a:t>
            </a:r>
          </a:p>
        </p:txBody>
      </p:sp>
      <p:sp>
        <p:nvSpPr>
          <p:cNvPr id="5" name="Capa – módulo navy"/>
          <p:cNvSpPr/>
          <p:nvPr/>
        </p:nvSpPr>
        <p:spPr>
          <a:xfrm>
            <a:off x="7635240" y="685800"/>
            <a:ext cx="4343400" cy="6172200"/>
          </a:xfrm>
          <a:prstGeom prst="round2DiagRect">
            <a:avLst>
              <a:gd name="adj1" fmla="val 32000"/>
              <a:gd name="adj2" fmla="val 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Capa – foto" descr="cover_photo.jpg"/>
          <p:cNvPicPr>
            <a:picLocks noChangeAspect="1"/>
          </p:cNvPicPr>
          <p:nvPr/>
        </p:nvPicPr>
        <p:blipFill>
          <a:blip r:embed="rId2"/>
          <a:srcRect l="2438" r="2438"/>
          <a:stretch>
            <a:fillRect/>
          </a:stretch>
        </p:blipFill>
        <p:spPr>
          <a:xfrm>
            <a:off x="7178040" y="320040"/>
            <a:ext cx="4434840" cy="5989320"/>
          </a:xfrm>
          <a:prstGeom prst="round2DiagRect">
            <a:avLst>
              <a:gd name="adj1" fmla="val 32000"/>
              <a:gd name="adj2" fmla="val 0"/>
            </a:avLst>
          </a:prstGeom>
        </p:spPr>
      </p:pic>
      <p:sp>
        <p:nvSpPr>
          <p:cNvPr id="7" name="Capa – esfera gradiente"/>
          <p:cNvSpPr/>
          <p:nvPr/>
        </p:nvSpPr>
        <p:spPr>
          <a:xfrm>
            <a:off x="11201400" y="5440680"/>
            <a:ext cx="1554480" cy="155448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pa – selo projeto"/>
          <p:cNvSpPr/>
          <p:nvPr/>
        </p:nvSpPr>
        <p:spPr>
          <a:xfrm>
            <a:off x="6720840" y="4572000"/>
            <a:ext cx="2514600" cy="1371600"/>
          </a:xfrm>
          <a:prstGeom prst="roundRect">
            <a:avLst>
              <a:gd name="adj" fmla="val 18000"/>
            </a:avLst>
          </a:prstGeom>
          <a:solidFill>
            <a:srgbClr val="1F1F4C"/>
          </a:solidFill>
          <a:ln>
            <a:noFill/>
          </a:ln>
          <a:effectLst>
            <a:outerShdw blurRad="228600" dist="50800" dir="5400000" algn="t" rotWithShape="0">
              <a:srgbClr val="1F1F4C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elo rótulo"/>
          <p:cNvSpPr txBox="1"/>
          <p:nvPr/>
        </p:nvSpPr>
        <p:spPr>
          <a:xfrm>
            <a:off x="6949440" y="4727448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0DBFF"/>
                </a:solidFill>
                <a:latin typeface="DM Sans"/>
              </a:rPr>
              <a:t>PROJETO</a:t>
            </a:r>
          </a:p>
        </p:txBody>
      </p:sp>
      <p:sp>
        <p:nvSpPr>
          <p:cNvPr id="10" name="Selo código"/>
          <p:cNvSpPr txBox="1"/>
          <p:nvPr/>
        </p:nvSpPr>
        <p:spPr>
          <a:xfrm>
            <a:off x="6949440" y="4910328"/>
            <a:ext cx="210312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3400" b="1" i="0">
                <a:solidFill>
                  <a:srgbClr val="FFFFFF"/>
                </a:solidFill>
                <a:latin typeface="DM Sans"/>
              </a:rPr>
              <a:t>PN 2027</a:t>
            </a:r>
            <a:endParaRPr sz="3400" b="1" i="0">
              <a:solidFill>
                <a:srgbClr val="FFFFFF"/>
              </a:solidFill>
              <a:latin typeface="DM Sans"/>
            </a:endParaRPr>
          </a:p>
        </p:txBody>
      </p:sp>
      <p:pic>
        <p:nvPicPr>
          <p:cNvPr id="12" name="Logo Energisa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1600200" cy="520954"/>
          </a:xfrm>
          <a:prstGeom prst="rect">
            <a:avLst/>
          </a:prstGeom>
        </p:spPr>
      </p:pic>
      <p:cxnSp>
        <p:nvCxnSpPr>
          <p:cNvPr id="13" name="Capa – linha"/>
          <p:cNvCxnSpPr/>
          <p:nvPr/>
        </p:nvCxnSpPr>
        <p:spPr>
          <a:xfrm>
            <a:off x="685800" y="3886200"/>
            <a:ext cx="2240280" cy="0"/>
          </a:xfrm>
          <a:prstGeom prst="line">
            <a:avLst/>
          </a:prstGeom>
          <a:ln w="19050">
            <a:solidFill>
              <a:srgbClr val="F47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pa – ponto"/>
          <p:cNvSpPr/>
          <p:nvPr/>
        </p:nvSpPr>
        <p:spPr>
          <a:xfrm>
            <a:off x="2880360" y="3840480"/>
            <a:ext cx="91440" cy="91440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apa – projeto"/>
          <p:cNvSpPr txBox="1"/>
          <p:nvPr/>
        </p:nvSpPr>
        <p:spPr>
          <a:xfrm>
            <a:off x="685800" y="4069080"/>
            <a:ext cx="5760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000" b="1" i="0">
                <a:solidFill>
                  <a:srgbClr val="006199"/>
                </a:solidFill>
                <a:latin typeface="DM Sans"/>
              </a:rPr>
              <a:t>Obras DCMD – Instalação de RL e RT (Equipamentos Especiais)</a:t>
            </a:r>
            <a:endParaRPr sz="2000" b="0" i="0">
              <a:solidFill>
                <a:srgbClr val="006199"/>
              </a:solidFill>
              <a:latin typeface="DM Sans"/>
            </a:endParaRPr>
          </a:p>
        </p:txBody>
      </p:sp>
      <p:sp>
        <p:nvSpPr>
          <p:cNvPr id="16" name="Pílula"/>
          <p:cNvSpPr/>
          <p:nvPr/>
        </p:nvSpPr>
        <p:spPr>
          <a:xfrm>
            <a:off x="685800" y="5166360"/>
            <a:ext cx="585216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  <a:effectLst>
            <a:outerShdw blurRad="177800" dist="38100" dir="5400000" algn="t" rotWithShape="0">
              <a:srgbClr val="1F1F4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Badge user"/>
          <p:cNvSpPr/>
          <p:nvPr/>
        </p:nvSpPr>
        <p:spPr>
          <a:xfrm>
            <a:off x="868680" y="5372100"/>
            <a:ext cx="365760" cy="365760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Ícone user" descr="us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463540"/>
            <a:ext cx="182880" cy="182880"/>
          </a:xfrm>
          <a:prstGeom prst="rect">
            <a:avLst/>
          </a:prstGeom>
        </p:spPr>
      </p:pic>
      <p:sp>
        <p:nvSpPr>
          <p:cNvPr id="19" name="Pílula GERENTE DO PROJETO"/>
          <p:cNvSpPr txBox="1"/>
          <p:nvPr/>
        </p:nvSpPr>
        <p:spPr>
          <a:xfrm>
            <a:off x="1325880" y="5330952"/>
            <a:ext cx="132588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989898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200" b="1" i="0">
                <a:solidFill>
                  <a:srgbClr val="1F1F4C"/>
                </a:solidFill>
                <a:latin typeface="DM Sans"/>
              </a:rPr>
              <a:t>Sandro Padilha</a:t>
            </a:r>
            <a:endParaRPr sz="1200" b="1" i="0">
              <a:solidFill>
                <a:srgbClr val="1F1F4C"/>
              </a:solidFill>
              <a:latin typeface="DM Sans"/>
            </a:endParaRPr>
          </a:p>
        </p:txBody>
      </p:sp>
      <p:cxnSp>
        <p:nvCxnSpPr>
          <p:cNvPr id="20" name="Pílula separador"/>
          <p:cNvCxnSpPr/>
          <p:nvPr/>
        </p:nvCxnSpPr>
        <p:spPr>
          <a:xfrm>
            <a:off x="2715768" y="534924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Badge pin"/>
          <p:cNvSpPr/>
          <p:nvPr/>
        </p:nvSpPr>
        <p:spPr>
          <a:xfrm>
            <a:off x="2788920" y="5372100"/>
            <a:ext cx="365760" cy="365760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Ícone pin" descr="p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5463540"/>
            <a:ext cx="182880" cy="182880"/>
          </a:xfrm>
          <a:prstGeom prst="rect">
            <a:avLst/>
          </a:prstGeom>
        </p:spPr>
      </p:pic>
      <p:sp>
        <p:nvSpPr>
          <p:cNvPr id="23" name="Pílula UNIDADE"/>
          <p:cNvSpPr txBox="1"/>
          <p:nvPr/>
        </p:nvSpPr>
        <p:spPr>
          <a:xfrm>
            <a:off x="3246120" y="533095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989898"/>
                </a:solidFill>
                <a:latin typeface="DM Sans"/>
              </a:rPr>
              <a:t>UNIDADE</a:t>
            </a:r>
          </a:p>
          <a:p>
            <a:pPr algn="l"/>
            <a:r>
              <a:rPr sz="1200" b="1" i="0">
                <a:solidFill>
                  <a:srgbClr val="1F1F4C"/>
                </a:solidFill>
                <a:latin typeface="DM Sans"/>
              </a:rPr>
              <a:t>Energisa Tocantins</a:t>
            </a:r>
          </a:p>
        </p:txBody>
      </p:sp>
      <p:cxnSp>
        <p:nvCxnSpPr>
          <p:cNvPr id="24" name="Pílula separador"/>
          <p:cNvCxnSpPr/>
          <p:nvPr/>
        </p:nvCxnSpPr>
        <p:spPr>
          <a:xfrm>
            <a:off x="4818888" y="534924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adge cal"/>
          <p:cNvSpPr/>
          <p:nvPr/>
        </p:nvSpPr>
        <p:spPr>
          <a:xfrm>
            <a:off x="4892040" y="5372100"/>
            <a:ext cx="365760" cy="365760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Ícone cal" descr="ca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79" y="5463540"/>
            <a:ext cx="182880" cy="182880"/>
          </a:xfrm>
          <a:prstGeom prst="rect">
            <a:avLst/>
          </a:prstGeom>
        </p:spPr>
      </p:pic>
      <p:sp>
        <p:nvSpPr>
          <p:cNvPr id="27" name="Pílula DATA DA REUNIÃO"/>
          <p:cNvSpPr txBox="1"/>
          <p:nvPr/>
        </p:nvSpPr>
        <p:spPr>
          <a:xfrm>
            <a:off x="5349240" y="533095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>
                <a:solidFill>
                  <a:srgbClr val="989898"/>
                </a:solidFill>
                <a:latin typeface="DM Sans"/>
              </a:rPr>
              <a:t>DATA DA REUNIÃO</a:t>
            </a:r>
          </a:p>
          <a:p>
            <a:pPr algn="l"/>
            <a:r>
              <a:rPr sz="1200" b="1" i="0">
                <a:solidFill>
                  <a:srgbClr val="1F1F4C"/>
                </a:solidFill>
                <a:latin typeface="DM Sans"/>
              </a:rPr>
              <a:t>A definir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CB6EF10F-F11F-E65B-7281-26A3CF56BE9A}"/>
              </a:ext>
            </a:extLst>
          </p:cNvPr>
          <p:cNvSpPr txBox="1">
            <a:spLocks/>
          </p:cNvSpPr>
          <p:nvPr/>
        </p:nvSpPr>
        <p:spPr>
          <a:xfrm>
            <a:off x="329183" y="566928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Dados Básicos</a:t>
            </a:r>
          </a:p>
        </p:txBody>
      </p:sp>
      <p:sp>
        <p:nvSpPr>
          <p:cNvPr id="7" name="Rodapé">
            <a:extLst>
              <a:ext uri="{FF2B5EF4-FFF2-40B4-BE49-F238E27FC236}">
                <a16:creationId xmlns:a16="http://schemas.microsoft.com/office/drawing/2014/main" id="{1037B04D-E3AA-A765-045D-C55C25CDC1C2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02  ·  OBRAS DCMD – RL / RT  ·  PN 2027</a:t>
            </a:r>
            <a:r>
              <a:rPr sz="900" b="0" i="0">
                <a:solidFill>
                  <a:srgbClr val="989898"/>
                </a:solidFill>
                <a:latin typeface="DM Sans"/>
              </a:rPr>
              <a:t/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/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Identidade – fundo">
            <a:extLst>
              <a:ext uri="{FF2B5EF4-FFF2-40B4-BE49-F238E27FC236}">
                <a16:creationId xmlns:a16="http://schemas.microsoft.com/office/drawing/2014/main" id="{1BE86BFE-B041-B226-866A-D1F22F7080F2}"/>
              </a:ext>
            </a:extLst>
          </p:cNvPr>
          <p:cNvSpPr/>
          <p:nvPr/>
        </p:nvSpPr>
        <p:spPr>
          <a:xfrm>
            <a:off x="457200" y="1371600"/>
            <a:ext cx="3749039" cy="4800600"/>
          </a:xfrm>
          <a:prstGeom prst="roundRect">
            <a:avLst>
              <a:gd name="adj" fmla="val 600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d rótulo">
            <a:extLst>
              <a:ext uri="{FF2B5EF4-FFF2-40B4-BE49-F238E27FC236}">
                <a16:creationId xmlns:a16="http://schemas.microsoft.com/office/drawing/2014/main" id="{FFA48374-537C-A8BA-2709-014019D17272}"/>
              </a:ext>
            </a:extLst>
          </p:cNvPr>
          <p:cNvSpPr txBox="1"/>
          <p:nvPr/>
        </p:nvSpPr>
        <p:spPr>
          <a:xfrm>
            <a:off x="777240" y="169164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0DBFF"/>
                </a:solidFill>
                <a:latin typeface="DM Sans"/>
              </a:rPr>
              <a:t>PROJETO</a:t>
            </a:r>
          </a:p>
        </p:txBody>
      </p:sp>
      <p:sp>
        <p:nvSpPr>
          <p:cNvPr id="10" name="Id código">
            <a:extLst>
              <a:ext uri="{FF2B5EF4-FFF2-40B4-BE49-F238E27FC236}">
                <a16:creationId xmlns:a16="http://schemas.microsoft.com/office/drawing/2014/main" id="{86DCA0B6-2EA3-4735-A929-EE5F974EE69F}"/>
              </a:ext>
            </a:extLst>
          </p:cNvPr>
          <p:cNvSpPr txBox="1"/>
          <p:nvPr/>
        </p:nvSpPr>
        <p:spPr>
          <a:xfrm>
            <a:off x="777240" y="1901952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4400" b="1">
                <a:solidFill>
                  <a:srgbClr val="FFFFFF"/>
                </a:solidFill>
                <a:latin typeface="DM Sans"/>
              </a:rPr>
              <a:t>12 SIGCO</a:t>
            </a:r>
            <a:r>
              <a:rPr sz="4400" b="1" i="0">
                <a:solidFill>
                  <a:srgbClr val="FFFFFF"/>
                </a:solidFill>
                <a:latin typeface="DM Sans"/>
              </a:rPr>
              <a:t/>
            </a:r>
            <a:r>
              <a:rPr lang="pt-BR" sz="4400" b="1" i="0">
                <a:solidFill>
                  <a:srgbClr val="FFFFFF"/>
                </a:solidFill>
                <a:latin typeface="DM Sans"/>
              </a:rPr>
              <a:t/>
            </a:r>
            <a:endParaRPr sz="4400" b="1" i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11" name="Id nome">
            <a:extLst>
              <a:ext uri="{FF2B5EF4-FFF2-40B4-BE49-F238E27FC236}">
                <a16:creationId xmlns:a16="http://schemas.microsoft.com/office/drawing/2014/main" id="{514081F1-6B01-E4F2-49F8-8C457A834131}"/>
              </a:ext>
            </a:extLst>
          </p:cNvPr>
          <p:cNvSpPr txBox="1"/>
          <p:nvPr/>
        </p:nvSpPr>
        <p:spPr>
          <a:xfrm>
            <a:off x="777240" y="2651760"/>
            <a:ext cx="3200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500" b="1">
                <a:solidFill>
                  <a:srgbClr val="FFFFFF"/>
                </a:solidFill>
                <a:latin typeface="DM Sans"/>
              </a:rPr>
              <a:t>Obras DCMD – Instalação de RL e RT, PN 2027</a:t>
            </a:r>
            <a:endParaRPr sz="1500" b="1" i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12" name="Badge user">
            <a:extLst>
              <a:ext uri="{FF2B5EF4-FFF2-40B4-BE49-F238E27FC236}">
                <a16:creationId xmlns:a16="http://schemas.microsoft.com/office/drawing/2014/main" id="{689C474B-8651-3FB2-78BB-A18F61491371}"/>
              </a:ext>
            </a:extLst>
          </p:cNvPr>
          <p:cNvSpPr/>
          <p:nvPr/>
        </p:nvSpPr>
        <p:spPr>
          <a:xfrm>
            <a:off x="777240" y="3611880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user" descr="user_white.png">
            <a:extLst>
              <a:ext uri="{FF2B5EF4-FFF2-40B4-BE49-F238E27FC236}">
                <a16:creationId xmlns:a16="http://schemas.microsoft.com/office/drawing/2014/main" id="{972F814A-4DC7-6FC4-D0C4-F34F73651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3707892"/>
            <a:ext cx="192024" cy="192024"/>
          </a:xfrm>
          <a:prstGeom prst="rect">
            <a:avLst/>
          </a:prstGeom>
        </p:spPr>
      </p:pic>
      <p:sp>
        <p:nvSpPr>
          <p:cNvPr id="14" name="Id GERENTE DO PROJETO">
            <a:extLst>
              <a:ext uri="{FF2B5EF4-FFF2-40B4-BE49-F238E27FC236}">
                <a16:creationId xmlns:a16="http://schemas.microsoft.com/office/drawing/2014/main" id="{5C268436-8097-4732-1F20-97860D124A91}"/>
              </a:ext>
            </a:extLst>
          </p:cNvPr>
          <p:cNvSpPr txBox="1"/>
          <p:nvPr/>
        </p:nvSpPr>
        <p:spPr>
          <a:xfrm>
            <a:off x="1298448" y="3593592"/>
            <a:ext cx="2697480" cy="315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DBFF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200" b="0" i="0">
                <a:solidFill>
                  <a:srgbClr val="FFFFFF"/>
                </a:solidFill>
                <a:latin typeface="DM Sans"/>
              </a:rPr>
              <a:t>Sandro Padilha Dias Junior</a:t>
            </a:r>
            <a:endParaRPr sz="1200" b="0" i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15" name="Badge dept">
            <a:extLst>
              <a:ext uri="{FF2B5EF4-FFF2-40B4-BE49-F238E27FC236}">
                <a16:creationId xmlns:a16="http://schemas.microsoft.com/office/drawing/2014/main" id="{93B7177B-F511-DF50-3837-5FF3BDAD37AF}"/>
              </a:ext>
            </a:extLst>
          </p:cNvPr>
          <p:cNvSpPr/>
          <p:nvPr/>
        </p:nvSpPr>
        <p:spPr>
          <a:xfrm>
            <a:off x="777240" y="4389120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dept" descr="dept_white.png">
            <a:extLst>
              <a:ext uri="{FF2B5EF4-FFF2-40B4-BE49-F238E27FC236}">
                <a16:creationId xmlns:a16="http://schemas.microsoft.com/office/drawing/2014/main" id="{AA41DD41-F4B9-01E0-4ECB-8306625DA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4485132"/>
            <a:ext cx="192024" cy="192024"/>
          </a:xfrm>
          <a:prstGeom prst="rect">
            <a:avLst/>
          </a:prstGeom>
        </p:spPr>
      </p:pic>
      <p:sp>
        <p:nvSpPr>
          <p:cNvPr id="17" name="Id DEPARTAMENTO">
            <a:extLst>
              <a:ext uri="{FF2B5EF4-FFF2-40B4-BE49-F238E27FC236}">
                <a16:creationId xmlns:a16="http://schemas.microsoft.com/office/drawing/2014/main" id="{B7B0D9D0-FC2A-0A3D-A6A1-45E427E3EB1F}"/>
              </a:ext>
            </a:extLst>
          </p:cNvPr>
          <p:cNvSpPr txBox="1"/>
          <p:nvPr/>
        </p:nvSpPr>
        <p:spPr>
          <a:xfrm>
            <a:off x="1298448" y="4370832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DBFF"/>
                </a:solidFill>
                <a:latin typeface="DM Sans"/>
              </a:rPr>
              <a:t>DEPARTAMENTO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DM Sans"/>
              </a:rPr>
              <a:t>DCMD</a:t>
            </a:r>
            <a:r>
              <a:rPr sz="1200" b="0" i="0" err="1">
                <a:solidFill>
                  <a:srgbClr val="FFFFFF"/>
                </a:solidFill>
                <a:latin typeface="DM Sans"/>
              </a:rPr>
              <a:t/>
            </a:r>
            <a:r>
              <a:rPr sz="1200" b="0" i="0">
                <a:solidFill>
                  <a:srgbClr val="FFFFFF"/>
                </a:solidFill>
                <a:latin typeface="DM Sans"/>
              </a:rPr>
              <a:t/>
            </a:r>
          </a:p>
        </p:txBody>
      </p:sp>
      <p:sp>
        <p:nvSpPr>
          <p:cNvPr id="18" name="Badge target">
            <a:extLst>
              <a:ext uri="{FF2B5EF4-FFF2-40B4-BE49-F238E27FC236}">
                <a16:creationId xmlns:a16="http://schemas.microsoft.com/office/drawing/2014/main" id="{B645B98D-210E-F64B-44FD-F8114182BFF9}"/>
              </a:ext>
            </a:extLst>
          </p:cNvPr>
          <p:cNvSpPr/>
          <p:nvPr/>
        </p:nvSpPr>
        <p:spPr>
          <a:xfrm>
            <a:off x="777240" y="5166359"/>
            <a:ext cx="384048" cy="384048"/>
          </a:xfrm>
          <a:prstGeom prst="ellipse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Ícone target" descr="target_white.png">
            <a:extLst>
              <a:ext uri="{FF2B5EF4-FFF2-40B4-BE49-F238E27FC236}">
                <a16:creationId xmlns:a16="http://schemas.microsoft.com/office/drawing/2014/main" id="{3AC80192-71C9-AAD1-6F2B-46B42D662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" y="5262372"/>
            <a:ext cx="192024" cy="192024"/>
          </a:xfrm>
          <a:prstGeom prst="rect">
            <a:avLst/>
          </a:prstGeom>
        </p:spPr>
      </p:pic>
      <p:sp>
        <p:nvSpPr>
          <p:cNvPr id="20" name="Id OBJETIVO E DESTINAÇÃO">
            <a:extLst>
              <a:ext uri="{FF2B5EF4-FFF2-40B4-BE49-F238E27FC236}">
                <a16:creationId xmlns:a16="http://schemas.microsoft.com/office/drawing/2014/main" id="{5244F07B-5E2E-F279-125D-C852056182E0}"/>
              </a:ext>
            </a:extLst>
          </p:cNvPr>
          <p:cNvSpPr txBox="1"/>
          <p:nvPr/>
        </p:nvSpPr>
        <p:spPr>
          <a:xfrm>
            <a:off x="1298448" y="5148072"/>
            <a:ext cx="269748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0DBFF"/>
                </a:solidFill>
                <a:latin typeface="DM Sans"/>
              </a:rPr>
              <a:t>OBJETIVO E DESTINAÇÃO</a:t>
            </a:r>
          </a:p>
          <a:p>
            <a:pPr algn="l"/>
            <a:r>
              <a:rPr sz="1200" b="0" i="0" err="1">
                <a:solidFill>
                  <a:srgbClr val="FFFFFF"/>
                </a:solidFill>
                <a:latin typeface="DM Sans"/>
              </a:rPr>
              <a:t>Qualidade do Produto (6 projetos) e Qualidade do Serviço (6 projetos) – PN 2027</a:t>
            </a:r>
            <a:r>
              <a:rPr sz="1200" b="0" i="0">
                <a:solidFill>
                  <a:srgbClr val="FFFFFF"/>
                </a:solidFill>
                <a:latin typeface="DM Sans"/>
              </a:rPr>
              <a:t/>
            </a:r>
            <a:r>
              <a:rPr sz="1200" b="0" i="0" err="1">
                <a:solidFill>
                  <a:srgbClr val="FFFFFF"/>
                </a:solidFill>
                <a:latin typeface="DM Sans"/>
              </a:rPr>
              <a:t/>
            </a:r>
            <a:r>
              <a:rPr sz="1200" b="0" i="0">
                <a:solidFill>
                  <a:srgbClr val="FFFFFF"/>
                </a:solidFill>
                <a:latin typeface="DM Sans"/>
              </a:rPr>
              <a:t/>
            </a:r>
            <a:r>
              <a:rPr sz="1200" b="1" i="0">
                <a:solidFill>
                  <a:srgbClr val="FFFFFF"/>
                </a:solidFill>
                <a:latin typeface="DM Sans"/>
              </a:rPr>
              <a:t/>
            </a:r>
            <a:r>
              <a:rPr lang="pt-BR" sz="1200" b="1" i="0">
                <a:solidFill>
                  <a:srgbClr val="FFFFFF"/>
                </a:solidFill>
                <a:latin typeface="DM Sans"/>
              </a:rPr>
              <a:t/>
            </a:r>
            <a:endParaRPr sz="1200" b="1" i="0">
              <a:solidFill>
                <a:srgbClr val="FFFFFF"/>
              </a:solidFill>
              <a:latin typeface="DM Sans"/>
            </a:endParaRPr>
          </a:p>
        </p:txBody>
      </p:sp>
      <p:sp>
        <p:nvSpPr>
          <p:cNvPr id="21" name="Escopo – fundo">
            <a:extLst>
              <a:ext uri="{FF2B5EF4-FFF2-40B4-BE49-F238E27FC236}">
                <a16:creationId xmlns:a16="http://schemas.microsoft.com/office/drawing/2014/main" id="{18ACCEBA-09AE-C290-75F6-7264BED2F299}"/>
              </a:ext>
            </a:extLst>
          </p:cNvPr>
          <p:cNvSpPr/>
          <p:nvPr/>
        </p:nvSpPr>
        <p:spPr>
          <a:xfrm>
            <a:off x="4434840" y="1371600"/>
            <a:ext cx="7299655" cy="16002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adge scope">
            <a:extLst>
              <a:ext uri="{FF2B5EF4-FFF2-40B4-BE49-F238E27FC236}">
                <a16:creationId xmlns:a16="http://schemas.microsoft.com/office/drawing/2014/main" id="{D16E64A9-94AD-B33F-246D-83F03784F75E}"/>
              </a:ext>
            </a:extLst>
          </p:cNvPr>
          <p:cNvSpPr/>
          <p:nvPr/>
        </p:nvSpPr>
        <p:spPr>
          <a:xfrm>
            <a:off x="4709159" y="1600200"/>
            <a:ext cx="384048" cy="384048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Ícone scope" descr="scope_white.png">
            <a:extLst>
              <a:ext uri="{FF2B5EF4-FFF2-40B4-BE49-F238E27FC236}">
                <a16:creationId xmlns:a16="http://schemas.microsoft.com/office/drawing/2014/main" id="{41B12734-14B1-7F90-D6A4-D5529DDB67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172" y="1696212"/>
            <a:ext cx="192024" cy="192024"/>
          </a:xfrm>
          <a:prstGeom prst="rect">
            <a:avLst/>
          </a:prstGeom>
        </p:spPr>
      </p:pic>
      <p:sp>
        <p:nvSpPr>
          <p:cNvPr id="24" name="Título Escopo detalhado">
            <a:extLst>
              <a:ext uri="{FF2B5EF4-FFF2-40B4-BE49-F238E27FC236}">
                <a16:creationId xmlns:a16="http://schemas.microsoft.com/office/drawing/2014/main" id="{9F1EFD31-621C-C0D5-26D6-70874878833B}"/>
              </a:ext>
            </a:extLst>
          </p:cNvPr>
          <p:cNvSpPr txBox="1"/>
          <p:nvPr/>
        </p:nvSpPr>
        <p:spPr>
          <a:xfrm>
            <a:off x="5212079" y="160020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ESCOPO DETALHADO</a:t>
            </a:r>
          </a:p>
        </p:txBody>
      </p:sp>
      <p:sp>
        <p:nvSpPr>
          <p:cNvPr id="25" name="Escopo texto">
            <a:extLst>
              <a:ext uri="{FF2B5EF4-FFF2-40B4-BE49-F238E27FC236}">
                <a16:creationId xmlns:a16="http://schemas.microsoft.com/office/drawing/2014/main" id="{77C0C3D5-11D0-54C1-2D52-E069C1D21F67}"/>
              </a:ext>
            </a:extLst>
          </p:cNvPr>
          <p:cNvSpPr txBox="1"/>
          <p:nvPr/>
        </p:nvSpPr>
        <p:spPr>
          <a:xfrm>
            <a:off x="4709159" y="2148840"/>
            <a:ext cx="675101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200" b="0" i="0">
                <a:solidFill>
                  <a:srgbClr val="4D4D4D"/>
                </a:solidFill>
                <a:latin typeface="DM Sans"/>
              </a:rPr>
              <a:t>Instalação de 12 religadores (RL) e 9 reguladores de tensão (RT) em 34,5 kV e 13,8 kV, além de 3 TripSaver e 1 remanejamento de RL, distribuídos em 12 SIGCO e 13 blocos de instalação (Palmas, Araguaína, Gurupi, Xambioá, Cristalândia, Paraíso, UHE Isamu – Ponte Alta, Figueirópolis e Babaçulândia). Prazos baseados exclusivamente nos blocos de equipamentos especiais da WBS 2026.</a:t>
            </a:r>
            <a:r>
              <a:rPr lang="pt-BR" sz="1200">
                <a:solidFill>
                  <a:srgbClr val="4D4D4D"/>
                </a:solidFill>
                <a:latin typeface="DM Sans"/>
              </a:rPr>
              <a:t/>
            </a:r>
            <a:endParaRPr sz="1250" b="0" i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26" name="Orçamento – fundo">
            <a:extLst>
              <a:ext uri="{FF2B5EF4-FFF2-40B4-BE49-F238E27FC236}">
                <a16:creationId xmlns:a16="http://schemas.microsoft.com/office/drawing/2014/main" id="{E35C3491-A050-D20A-E830-323A2C3714A1}"/>
              </a:ext>
            </a:extLst>
          </p:cNvPr>
          <p:cNvSpPr/>
          <p:nvPr/>
        </p:nvSpPr>
        <p:spPr>
          <a:xfrm>
            <a:off x="4434840" y="3200400"/>
            <a:ext cx="3535527" cy="29718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Badge money">
            <a:extLst>
              <a:ext uri="{FF2B5EF4-FFF2-40B4-BE49-F238E27FC236}">
                <a16:creationId xmlns:a16="http://schemas.microsoft.com/office/drawing/2014/main" id="{59F982B8-76C0-CCD8-DE05-3065117739E5}"/>
              </a:ext>
            </a:extLst>
          </p:cNvPr>
          <p:cNvSpPr/>
          <p:nvPr/>
        </p:nvSpPr>
        <p:spPr>
          <a:xfrm>
            <a:off x="4709159" y="3429000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Ícone money" descr="money_white.png">
            <a:extLst>
              <a:ext uri="{FF2B5EF4-FFF2-40B4-BE49-F238E27FC236}">
                <a16:creationId xmlns:a16="http://schemas.microsoft.com/office/drawing/2014/main" id="{D8962F72-8A36-C717-419F-72619A4982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172" y="3525012"/>
            <a:ext cx="192024" cy="192024"/>
          </a:xfrm>
          <a:prstGeom prst="rect">
            <a:avLst/>
          </a:prstGeom>
        </p:spPr>
      </p:pic>
      <p:sp>
        <p:nvSpPr>
          <p:cNvPr id="29" name="Título Orçamento">
            <a:extLst>
              <a:ext uri="{FF2B5EF4-FFF2-40B4-BE49-F238E27FC236}">
                <a16:creationId xmlns:a16="http://schemas.microsoft.com/office/drawing/2014/main" id="{E1C56DDD-D6C1-1A63-CA8F-138F992C8B60}"/>
              </a:ext>
            </a:extLst>
          </p:cNvPr>
          <p:cNvSpPr txBox="1"/>
          <p:nvPr/>
        </p:nvSpPr>
        <p:spPr>
          <a:xfrm>
            <a:off x="5212079" y="342900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ORÇAMENTO</a:t>
            </a:r>
          </a:p>
        </p:txBody>
      </p:sp>
      <p:sp>
        <p:nvSpPr>
          <p:cNvPr id="30" name="Orç rótulo">
            <a:extLst>
              <a:ext uri="{FF2B5EF4-FFF2-40B4-BE49-F238E27FC236}">
                <a16:creationId xmlns:a16="http://schemas.microsoft.com/office/drawing/2014/main" id="{08595D4B-B4AD-DD9E-D2E4-67F2B08AC223}"/>
              </a:ext>
            </a:extLst>
          </p:cNvPr>
          <p:cNvSpPr txBox="1"/>
          <p:nvPr/>
        </p:nvSpPr>
        <p:spPr>
          <a:xfrm>
            <a:off x="4709159" y="4069080"/>
            <a:ext cx="29868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89898"/>
                </a:solidFill>
                <a:latin typeface="DM Sans"/>
              </a:rPr>
              <a:t>ORÇAMENTO 2027 (CURVA OUT/26)</a:t>
            </a:r>
          </a:p>
        </p:txBody>
      </p:sp>
      <p:sp>
        <p:nvSpPr>
          <p:cNvPr id="31" name="Orç total">
            <a:extLst>
              <a:ext uri="{FF2B5EF4-FFF2-40B4-BE49-F238E27FC236}">
                <a16:creationId xmlns:a16="http://schemas.microsoft.com/office/drawing/2014/main" id="{B88225F7-5E17-EAEC-0C2A-CF04FE626D59}"/>
              </a:ext>
            </a:extLst>
          </p:cNvPr>
          <p:cNvSpPr txBox="1"/>
          <p:nvPr/>
        </p:nvSpPr>
        <p:spPr>
          <a:xfrm>
            <a:off x="4709159" y="4279392"/>
            <a:ext cx="298688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47B20"/>
                </a:solidFill>
                <a:latin typeface="DM Sans"/>
              </a:rPr>
              <a:t>R$ 5,23 mi</a:t>
            </a:r>
            <a:r>
              <a:rPr sz="3000" b="1" i="0">
                <a:solidFill>
                  <a:srgbClr val="1F1F4C"/>
                </a:solidFill>
                <a:latin typeface="DM Sans"/>
              </a:rPr>
              <a:t/>
            </a:r>
          </a:p>
        </p:txBody>
      </p:sp>
      <p:sp>
        <p:nvSpPr>
          <p:cNvPr id="32" name="Benefícios – fundo">
            <a:extLst>
              <a:ext uri="{FF2B5EF4-FFF2-40B4-BE49-F238E27FC236}">
                <a16:creationId xmlns:a16="http://schemas.microsoft.com/office/drawing/2014/main" id="{FB6EE6C9-7BAC-4A9F-59E5-3B4102C9B668}"/>
              </a:ext>
            </a:extLst>
          </p:cNvPr>
          <p:cNvSpPr/>
          <p:nvPr/>
        </p:nvSpPr>
        <p:spPr>
          <a:xfrm>
            <a:off x="8198967" y="3200400"/>
            <a:ext cx="3535527" cy="297180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Badge chart">
            <a:extLst>
              <a:ext uri="{FF2B5EF4-FFF2-40B4-BE49-F238E27FC236}">
                <a16:creationId xmlns:a16="http://schemas.microsoft.com/office/drawing/2014/main" id="{10BAB9E1-BA81-E625-A17C-5429DB773DBA}"/>
              </a:ext>
            </a:extLst>
          </p:cNvPr>
          <p:cNvSpPr/>
          <p:nvPr/>
        </p:nvSpPr>
        <p:spPr>
          <a:xfrm>
            <a:off x="8473287" y="3429000"/>
            <a:ext cx="384048" cy="384048"/>
          </a:xfrm>
          <a:prstGeom prst="ellipse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Ícone chart" descr="chart_white.png">
            <a:extLst>
              <a:ext uri="{FF2B5EF4-FFF2-40B4-BE49-F238E27FC236}">
                <a16:creationId xmlns:a16="http://schemas.microsoft.com/office/drawing/2014/main" id="{33E974B0-5B48-E2CB-7BAA-B476B10262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299" y="3525012"/>
            <a:ext cx="192024" cy="192024"/>
          </a:xfrm>
          <a:prstGeom prst="rect">
            <a:avLst/>
          </a:prstGeom>
        </p:spPr>
      </p:pic>
      <p:sp>
        <p:nvSpPr>
          <p:cNvPr id="35" name="Ben rótulo">
            <a:extLst>
              <a:ext uri="{FF2B5EF4-FFF2-40B4-BE49-F238E27FC236}">
                <a16:creationId xmlns:a16="http://schemas.microsoft.com/office/drawing/2014/main" id="{39945EE4-5CF4-0D5C-817A-76A1AC8988BC}"/>
              </a:ext>
            </a:extLst>
          </p:cNvPr>
          <p:cNvSpPr txBox="1"/>
          <p:nvPr/>
        </p:nvSpPr>
        <p:spPr>
          <a:xfrm>
            <a:off x="8473287" y="4069080"/>
            <a:ext cx="29868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89898"/>
                </a:solidFill>
                <a:latin typeface="DM Sans"/>
              </a:rPr>
              <a:t>EQUIPAMENTOS ESPECIAIS</a:t>
            </a:r>
          </a:p>
        </p:txBody>
      </p:sp>
      <p:sp>
        <p:nvSpPr>
          <p:cNvPr id="36" name="Ben KPI">
            <a:extLst>
              <a:ext uri="{FF2B5EF4-FFF2-40B4-BE49-F238E27FC236}">
                <a16:creationId xmlns:a16="http://schemas.microsoft.com/office/drawing/2014/main" id="{62DEAB31-5DEA-E199-062A-E3AAB2C3C539}"/>
              </a:ext>
            </a:extLst>
          </p:cNvPr>
          <p:cNvSpPr txBox="1"/>
          <p:nvPr/>
        </p:nvSpPr>
        <p:spPr>
          <a:xfrm>
            <a:off x="8473287" y="4279392"/>
            <a:ext cx="2986887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989898"/>
                </a:solidFill>
                <a:latin typeface="DM Sans"/>
              </a:rPr>
              <a:t>12 RL · 9 RT</a:t>
            </a:r>
            <a:r>
              <a:rPr sz="2200" b="1" i="0">
                <a:solidFill>
                  <a:srgbClr val="628C0E"/>
                </a:solidFill>
                <a:latin typeface="DM Sans"/>
              </a:rPr>
              <a:t/>
            </a:r>
            <a:r>
              <a:rPr sz="3000" b="1" i="0">
                <a:solidFill>
                  <a:srgbClr val="628C0E"/>
                </a:solidFill>
                <a:latin typeface="DM Sans"/>
              </a:rPr>
              <a:t/>
            </a:r>
            <a:r>
              <a:rPr sz="3000" b="1" i="0" err="1">
                <a:solidFill>
                  <a:srgbClr val="628C0E"/>
                </a:solidFill>
                <a:latin typeface="DM Sans"/>
              </a:rPr>
              <a:t/>
            </a:r>
            <a:endParaRPr sz="3000" b="1" i="0">
              <a:solidFill>
                <a:srgbClr val="628C0E"/>
              </a:solidFill>
              <a:latin typeface="DM Sans"/>
            </a:endParaRPr>
          </a:p>
        </p:txBody>
      </p:sp>
      <p:sp>
        <p:nvSpPr>
          <p:cNvPr id="37" name="Ben texto">
            <a:extLst>
              <a:ext uri="{FF2B5EF4-FFF2-40B4-BE49-F238E27FC236}">
                <a16:creationId xmlns:a16="http://schemas.microsoft.com/office/drawing/2014/main" id="{D9DF7BAA-8D65-F7F9-4CE4-375731223865}"/>
              </a:ext>
            </a:extLst>
          </p:cNvPr>
          <p:cNvSpPr txBox="1"/>
          <p:nvPr/>
        </p:nvSpPr>
        <p:spPr>
          <a:xfrm>
            <a:off x="8473287" y="5074920"/>
            <a:ext cx="2986887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err="1">
                <a:solidFill>
                  <a:srgbClr val="4D4D4D"/>
                </a:solidFill>
                <a:latin typeface="DM Sans"/>
              </a:rPr>
              <a:t>Tensão: RT elevam o perfil para 0,945–0,97 pu. Continuidade: RL reduzem DEC/FEC nos conjuntos atendidos, conforme fichas do PN.</a:t>
            </a:r>
            <a:r>
              <a:rPr sz="1200" b="0" i="0">
                <a:solidFill>
                  <a:srgbClr val="4D4D4D"/>
                </a:solidFill>
                <a:latin typeface="DM Sans"/>
              </a:rPr>
              <a:t/>
            </a:r>
            <a:r>
              <a:rPr sz="1200" b="0" i="0" err="1">
                <a:solidFill>
                  <a:srgbClr val="4D4D4D"/>
                </a:solidFill>
                <a:latin typeface="DM Sans"/>
              </a:rPr>
              <a:t/>
            </a:r>
            <a:r>
              <a:rPr sz="1200" b="0" i="0">
                <a:solidFill>
                  <a:srgbClr val="4D4D4D"/>
                </a:solidFill>
                <a:latin typeface="DM Sans"/>
              </a:rPr>
              <a:t/>
            </a:r>
            <a:r>
              <a:rPr sz="1200" b="0" i="0" err="1">
                <a:solidFill>
                  <a:srgbClr val="4D4D4D"/>
                </a:solidFill>
                <a:latin typeface="DM Sans"/>
              </a:rPr>
              <a:t/>
            </a:r>
            <a:r>
              <a:rPr sz="1200" b="0" i="0">
                <a:solidFill>
                  <a:srgbClr val="4D4D4D"/>
                </a:solidFill>
                <a:latin typeface="DM Sans"/>
              </a:rPr>
              <a:t/>
            </a:r>
            <a:r>
              <a:rPr sz="1200" b="0" i="0" err="1">
                <a:solidFill>
                  <a:srgbClr val="4D4D4D"/>
                </a:solidFill>
                <a:latin typeface="DM Sans"/>
              </a:rPr>
              <a:t/>
            </a:r>
            <a:r>
              <a:rPr sz="1200" b="0" i="0">
                <a:solidFill>
                  <a:srgbClr val="4D4D4D"/>
                </a:solidFill>
                <a:latin typeface="DM Sans"/>
              </a:rPr>
              <a:t/>
            </a:r>
            <a:r>
              <a:rPr sz="1200" b="0" i="0" err="1">
                <a:solidFill>
                  <a:srgbClr val="4D4D4D"/>
                </a:solidFill>
                <a:latin typeface="DM Sans"/>
              </a:rPr>
              <a:t/>
            </a:r>
            <a:r>
              <a:rPr sz="1200" b="0" i="0">
                <a:solidFill>
                  <a:srgbClr val="4D4D4D"/>
                </a:solidFill>
                <a:latin typeface="DM Sans"/>
              </a:rPr>
              <a:t/>
            </a:r>
            <a:r>
              <a:rPr sz="1200" b="0" i="0" err="1">
                <a:solidFill>
                  <a:srgbClr val="4D4D4D"/>
                </a:solidFill>
                <a:latin typeface="DM Sans"/>
              </a:rPr>
              <a:t/>
            </a:r>
            <a:r>
              <a:rPr sz="1200" b="0" i="0">
                <a:solidFill>
                  <a:srgbClr val="4D4D4D"/>
                </a:solidFill>
                <a:latin typeface="DM Sans"/>
              </a:rPr>
              <a:t/>
            </a:r>
            <a:r>
              <a:rPr sz="1200" b="0" i="0" err="1">
                <a:solidFill>
                  <a:srgbClr val="4D4D4D"/>
                </a:solidFill>
                <a:latin typeface="DM Sans"/>
              </a:rPr>
              <a:t/>
            </a:r>
            <a:r>
              <a:rPr sz="1200" b="0" i="0">
                <a:solidFill>
                  <a:srgbClr val="4D4D4D"/>
                </a:solidFill>
                <a:latin typeface="DM Sans"/>
              </a:rPr>
              <a:t/>
            </a:r>
            <a:r>
              <a:rPr sz="1200" b="0" i="0" err="1">
                <a:solidFill>
                  <a:srgbClr val="4D4D4D"/>
                </a:solidFill>
                <a:latin typeface="DM Sans"/>
              </a:rPr>
              <a:t/>
            </a:r>
            <a:r>
              <a:rPr sz="1200" b="0" i="0">
                <a:solidFill>
                  <a:srgbClr val="4D4D4D"/>
                </a:solidFill>
                <a:latin typeface="DM Sans"/>
              </a:rPr>
              <a:t/>
            </a:r>
            <a:r>
              <a:rPr sz="1200" b="0" i="0" err="1">
                <a:solidFill>
                  <a:srgbClr val="4D4D4D"/>
                </a:solidFill>
                <a:latin typeface="DM Sans"/>
              </a:rPr>
              <a:t/>
            </a:r>
            <a:r>
              <a:rPr sz="1200" b="0" i="0">
                <a:solidFill>
                  <a:srgbClr val="4D4D4D"/>
                </a:solidFill>
                <a:latin typeface="DM Sans"/>
              </a:rPr>
              <a:t/>
            </a:r>
          </a:p>
        </p:txBody>
      </p:sp>
      <p:sp>
        <p:nvSpPr>
          <p:cNvPr id="44" name="Eyebrow">
            <a:extLst>
              <a:ext uri="{FF2B5EF4-FFF2-40B4-BE49-F238E27FC236}">
                <a16:creationId xmlns:a16="http://schemas.microsoft.com/office/drawing/2014/main" id="{A84019CF-0239-5AEB-188F-58D5DB1875B2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OBRAS DCMD – RL / RT</a:t>
            </a:r>
            <a:r>
              <a:rPr lang="pt-BR" sz="1100" b="1" i="0" spc="150">
                <a:solidFill>
                  <a:srgbClr val="989898"/>
                </a:solidFill>
                <a:latin typeface="DM Sans"/>
              </a:rPr>
              <a:t/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709159" y="5000000"/>
            <a:ext cx="2986887" cy="900000"/>
          </a:xfrm>
          <a:prstGeom prst="rect">
            <a:avLst/>
          </a:prstGeom>
          <a:noFill/>
        </p:spPr>
        <p:txBody>
          <a:bodyPr wrap="square" lIns="36000" rIns="36000" tIns="0" bIns="0" anchor="t">
            <a:spAutoFit/>
          </a:bodyPr>
          <a:lstStyle/>
          <a:p>
            <a:pPr algn="l"/>
            <a:r>
              <a:rPr sz="1000" b="0" i="0">
                <a:solidFill>
                  <a:srgbClr val="4D4D4D"/>
                </a:solidFill>
                <a:latin typeface="DM Sans"/>
              </a:rPr>
              <a:t>Mensalização CAPEX de 08/10/2026.</a:t>
            </a:r>
          </a:p>
          <a:p>
            <a:pPr algn="l"/>
            <a:r>
              <a:rPr sz="1000" b="0" i="0">
                <a:solidFill>
                  <a:srgbClr val="4D4D4D"/>
                </a:solidFill>
                <a:latin typeface="DM Sans"/>
              </a:rPr>
              <a:t>Base de ago/26: R$ 6,02 mi (antes da capitalização).</a:t>
            </a:r>
          </a:p>
        </p:txBody>
      </p:sp>
    </p:spTree>
    <p:extLst>
      <p:ext uri="{BB962C8B-B14F-4D97-AF65-F5344CB8AC3E}">
        <p14:creationId xmlns:p14="http://schemas.microsoft.com/office/powerpoint/2010/main" val="1796060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1B19FA-C361-4AEA-63D3-A4D5E83BA84A}"/>
              </a:ext>
            </a:extLst>
          </p:cNvPr>
          <p:cNvSpPr txBox="1">
            <a:spLocks/>
          </p:cNvSpPr>
          <p:nvPr/>
        </p:nvSpPr>
        <p:spPr>
          <a:xfrm>
            <a:off x="374904" y="448056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Curva orçamentária</a:t>
            </a:r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C16A34ED-02F0-3BE2-B643-C37922915AC6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OBRAS DCMD – RL / RT</a:t>
            </a:r>
            <a:r>
              <a:rPr lang="pt-BR" sz="1100" b="1" i="0" spc="150">
                <a:solidFill>
                  <a:srgbClr val="989898"/>
                </a:solidFill>
                <a:latin typeface="DM Sans"/>
              </a:rPr>
              <a:t/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30000"/>
          <a:ext cx="10750000" cy="420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20000"/>
                <a:gridCol w="2750000"/>
                <a:gridCol w="560000"/>
                <a:gridCol w="560000"/>
                <a:gridCol w="560000"/>
                <a:gridCol w="560000"/>
                <a:gridCol w="560000"/>
                <a:gridCol w="560000"/>
                <a:gridCol w="560000"/>
                <a:gridCol w="560000"/>
                <a:gridCol w="560000"/>
                <a:gridCol w="560000"/>
                <a:gridCol w="560000"/>
                <a:gridCol w="560000"/>
                <a:gridCol w="760000"/>
              </a:tblGrid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Projeto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Jan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Fev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Mar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Abr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Mai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Jun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Jul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Ago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Set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Out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Nov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Dez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Instalação de RL e RT - LD UHE Isamu - Ponte Alta - 1UI1 - QP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143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143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143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143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164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164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164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164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143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143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143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143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1.802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89267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Xambioá II - Araguanã - 2XB2 - QP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802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Estudo de QS-LD Gurupi - Duere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240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92118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Estudo de QS-4 de Araguaína IV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70838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Cristalândia - Lagoa da Confusão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400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70978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Instalação de RT e Balanceamento de Fase - LD Paraíso I - Caseara - 2PR0 - QP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400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92094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Estudo de QS-LD Palmas - Aparecida do Rio Negro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391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92095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Estudo de QS-LD Palmas - Lajeado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130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92101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Estudo de QS-8 de Palmas IV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92102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Estudo de QS-6 de Palmas IV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89249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Araguaína - Babaçulândia - 2AR0 - QP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400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Instalação de RT - 1 de Figueirópolis - 2FGR - QP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449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449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449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449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429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90000"/>
            <a:ext cx="11200000" cy="420000"/>
          </a:xfrm>
          <a:prstGeom prst="rect">
            <a:avLst/>
          </a:prstGeom>
          <a:noFill/>
        </p:spPr>
        <p:txBody>
          <a:bodyPr wrap="square" lIns="36000" rIns="36000" tIns="0" bIns="0" anchor="t">
            <a:spAutoFit/>
          </a:bodyPr>
          <a:lstStyle/>
          <a:p>
            <a:pPr algn="l"/>
            <a:r>
              <a:rPr sz="900" b="0" i="1">
                <a:solidFill>
                  <a:srgbClr val="4D4D4D"/>
                </a:solidFill>
                <a:latin typeface="DM Sans"/>
              </a:rPr>
              <a:t>Valores em R$ mil, recurso próprio · Fonte: Mensalização CAPEX 08/10/2026 (PMO).</a:t>
            </a:r>
          </a:p>
          <a:p>
            <a:pPr algn="l"/>
            <a:r>
              <a:rPr sz="900" b="0" i="1">
                <a:solidFill>
                  <a:srgbClr val="4D4D4D"/>
                </a:solidFill>
                <a:latin typeface="DM Sans"/>
              </a:rPr>
              <a:t>Orçamento da base de agosto/26 (antes da capitalização): R$ 6,02 mi – diferença de R$ 0,79 mi a conciliar com ASPO.</a:t>
            </a:r>
          </a:p>
        </p:txBody>
      </p:sp>
    </p:spTree>
    <p:extLst>
      <p:ext uri="{BB962C8B-B14F-4D97-AF65-F5344CB8AC3E}">
        <p14:creationId xmlns:p14="http://schemas.microsoft.com/office/powerpoint/2010/main" val="146031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822F467-8F1C-A3F0-64D5-01DA4CEAC475}"/>
              </a:ext>
            </a:extLst>
          </p:cNvPr>
          <p:cNvSpPr txBox="1">
            <a:spLocks/>
          </p:cNvSpPr>
          <p:nvPr/>
        </p:nvSpPr>
        <p:spPr>
          <a:xfrm>
            <a:off x="374904" y="448056"/>
            <a:ext cx="9144000" cy="566737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Premissas, Restrições e Penalidades</a:t>
            </a:r>
          </a:p>
        </p:txBody>
      </p:sp>
      <p:sp>
        <p:nvSpPr>
          <p:cNvPr id="4" name="Rodapé">
            <a:extLst>
              <a:ext uri="{FF2B5EF4-FFF2-40B4-BE49-F238E27FC236}">
                <a16:creationId xmlns:a16="http://schemas.microsoft.com/office/drawing/2014/main" id="{F81E71CF-89BA-30B3-477F-D2F80AF6F227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05  ·  OBRAS DCMD – RL / RT  ·  PN 2027</a:t>
            </a:r>
            <a:r>
              <a:rPr sz="900" b="0" i="0">
                <a:solidFill>
                  <a:srgbClr val="989898"/>
                </a:solidFill>
                <a:latin typeface="DM Sans"/>
              </a:rPr>
              <a:t/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/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5" name="Premissas – fundo">
            <a:extLst>
              <a:ext uri="{FF2B5EF4-FFF2-40B4-BE49-F238E27FC236}">
                <a16:creationId xmlns:a16="http://schemas.microsoft.com/office/drawing/2014/main" id="{1E2FE0A5-4414-68E2-D4FE-2EB081A6CA1E}"/>
              </a:ext>
            </a:extLst>
          </p:cNvPr>
          <p:cNvSpPr/>
          <p:nvPr/>
        </p:nvSpPr>
        <p:spPr>
          <a:xfrm>
            <a:off x="457200" y="1371600"/>
            <a:ext cx="6903720" cy="48006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dge check">
            <a:extLst>
              <a:ext uri="{FF2B5EF4-FFF2-40B4-BE49-F238E27FC236}">
                <a16:creationId xmlns:a16="http://schemas.microsoft.com/office/drawing/2014/main" id="{FE65446A-E693-3191-3AC7-451831992F5B}"/>
              </a:ext>
            </a:extLst>
          </p:cNvPr>
          <p:cNvSpPr/>
          <p:nvPr/>
        </p:nvSpPr>
        <p:spPr>
          <a:xfrm>
            <a:off x="731520" y="1572768"/>
            <a:ext cx="384048" cy="384048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Ícone check" descr="check_white.png">
            <a:extLst>
              <a:ext uri="{FF2B5EF4-FFF2-40B4-BE49-F238E27FC236}">
                <a16:creationId xmlns:a16="http://schemas.microsoft.com/office/drawing/2014/main" id="{AD96684F-8183-23FC-61BF-4FD74FD5D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" y="1668780"/>
            <a:ext cx="192024" cy="192024"/>
          </a:xfrm>
          <a:prstGeom prst="rect">
            <a:avLst/>
          </a:prstGeom>
        </p:spPr>
      </p:pic>
      <p:sp>
        <p:nvSpPr>
          <p:cNvPr id="8" name="Título Premissas">
            <a:extLst>
              <a:ext uri="{FF2B5EF4-FFF2-40B4-BE49-F238E27FC236}">
                <a16:creationId xmlns:a16="http://schemas.microsoft.com/office/drawing/2014/main" id="{9EDF45E4-580C-6B40-11B6-E916BC72937D}"/>
              </a:ext>
            </a:extLst>
          </p:cNvPr>
          <p:cNvSpPr txBox="1"/>
          <p:nvPr/>
        </p:nvSpPr>
        <p:spPr>
          <a:xfrm>
            <a:off x="1234440" y="1572768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spc="80">
                <a:solidFill>
                  <a:srgbClr val="1F1F4C"/>
                </a:solidFill>
                <a:latin typeface="DM Sans"/>
              </a:rPr>
              <a:t>PREMISSAS</a:t>
            </a:r>
          </a:p>
        </p:txBody>
      </p:sp>
      <p:sp>
        <p:nvSpPr>
          <p:cNvPr id="9" name="Premissa 1 – nº">
            <a:extLst>
              <a:ext uri="{FF2B5EF4-FFF2-40B4-BE49-F238E27FC236}">
                <a16:creationId xmlns:a16="http://schemas.microsoft.com/office/drawing/2014/main" id="{25FE24D6-0982-B318-8C7F-E893AFB57E09}"/>
              </a:ext>
            </a:extLst>
          </p:cNvPr>
          <p:cNvSpPr/>
          <p:nvPr/>
        </p:nvSpPr>
        <p:spPr>
          <a:xfrm>
            <a:off x="731520" y="210312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remissa 1 – nº texto">
            <a:extLst>
              <a:ext uri="{FF2B5EF4-FFF2-40B4-BE49-F238E27FC236}">
                <a16:creationId xmlns:a16="http://schemas.microsoft.com/office/drawing/2014/main" id="{FC11B2E7-C410-E36D-4AB8-3C75074264B3}"/>
              </a:ext>
            </a:extLst>
          </p:cNvPr>
          <p:cNvSpPr txBox="1"/>
          <p:nvPr/>
        </p:nvSpPr>
        <p:spPr>
          <a:xfrm>
            <a:off x="731520" y="21031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</a:t>
            </a:r>
          </a:p>
        </p:txBody>
      </p:sp>
      <p:sp>
        <p:nvSpPr>
          <p:cNvPr id="11" name="Premissa 1">
            <a:extLst>
              <a:ext uri="{FF2B5EF4-FFF2-40B4-BE49-F238E27FC236}">
                <a16:creationId xmlns:a16="http://schemas.microsoft.com/office/drawing/2014/main" id="{6EDF869A-86E5-2F94-99E3-9ACDEBBC4607}"/>
              </a:ext>
            </a:extLst>
          </p:cNvPr>
          <p:cNvSpPr txBox="1"/>
          <p:nvPr/>
        </p:nvSpPr>
        <p:spPr>
          <a:xfrm>
            <a:off x="1143000" y="2084832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O projeto será executado conforme orçamento aprovado.</a:t>
            </a:r>
          </a:p>
        </p:txBody>
      </p:sp>
      <p:sp>
        <p:nvSpPr>
          <p:cNvPr id="12" name="Premissa 2 – nº">
            <a:extLst>
              <a:ext uri="{FF2B5EF4-FFF2-40B4-BE49-F238E27FC236}">
                <a16:creationId xmlns:a16="http://schemas.microsoft.com/office/drawing/2014/main" id="{47BF487E-BBE2-26F8-CE59-A78D82AB61E2}"/>
              </a:ext>
            </a:extLst>
          </p:cNvPr>
          <p:cNvSpPr/>
          <p:nvPr/>
        </p:nvSpPr>
        <p:spPr>
          <a:xfrm>
            <a:off x="731520" y="246430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remissa 2 – nº texto">
            <a:extLst>
              <a:ext uri="{FF2B5EF4-FFF2-40B4-BE49-F238E27FC236}">
                <a16:creationId xmlns:a16="http://schemas.microsoft.com/office/drawing/2014/main" id="{105DFF82-EE01-CF60-6601-63E171195C2A}"/>
              </a:ext>
            </a:extLst>
          </p:cNvPr>
          <p:cNvSpPr txBox="1"/>
          <p:nvPr/>
        </p:nvSpPr>
        <p:spPr>
          <a:xfrm>
            <a:off x="731520" y="24643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2</a:t>
            </a:r>
          </a:p>
        </p:txBody>
      </p:sp>
      <p:sp>
        <p:nvSpPr>
          <p:cNvPr id="14" name="Premissa 2">
            <a:extLst>
              <a:ext uri="{FF2B5EF4-FFF2-40B4-BE49-F238E27FC236}">
                <a16:creationId xmlns:a16="http://schemas.microsoft.com/office/drawing/2014/main" id="{A75170D3-5CA2-9262-3B0C-1A9161851CC2}"/>
              </a:ext>
            </a:extLst>
          </p:cNvPr>
          <p:cNvSpPr txBox="1"/>
          <p:nvPr/>
        </p:nvSpPr>
        <p:spPr>
          <a:xfrm>
            <a:off x="1143000" y="2446020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EPS mobilizará somente após geração e assinatura da O.S.</a:t>
            </a:r>
          </a:p>
        </p:txBody>
      </p:sp>
      <p:sp>
        <p:nvSpPr>
          <p:cNvPr id="15" name="Premissa 3 – nº">
            <a:extLst>
              <a:ext uri="{FF2B5EF4-FFF2-40B4-BE49-F238E27FC236}">
                <a16:creationId xmlns:a16="http://schemas.microsoft.com/office/drawing/2014/main" id="{D298E947-F1C4-1A3C-BEFA-82324A66A69F}"/>
              </a:ext>
            </a:extLst>
          </p:cNvPr>
          <p:cNvSpPr/>
          <p:nvPr/>
        </p:nvSpPr>
        <p:spPr>
          <a:xfrm>
            <a:off x="731520" y="282549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emissa 3 – nº texto">
            <a:extLst>
              <a:ext uri="{FF2B5EF4-FFF2-40B4-BE49-F238E27FC236}">
                <a16:creationId xmlns:a16="http://schemas.microsoft.com/office/drawing/2014/main" id="{D33CDE8E-DCD2-22BF-C3C2-02DBE0AC5B67}"/>
              </a:ext>
            </a:extLst>
          </p:cNvPr>
          <p:cNvSpPr txBox="1"/>
          <p:nvPr/>
        </p:nvSpPr>
        <p:spPr>
          <a:xfrm>
            <a:off x="731520" y="28254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3</a:t>
            </a:r>
          </a:p>
        </p:txBody>
      </p:sp>
      <p:sp>
        <p:nvSpPr>
          <p:cNvPr id="17" name="Premissa 3">
            <a:extLst>
              <a:ext uri="{FF2B5EF4-FFF2-40B4-BE49-F238E27FC236}">
                <a16:creationId xmlns:a16="http://schemas.microsoft.com/office/drawing/2014/main" id="{8DE99607-9A20-3306-C3D8-68F66D1F1248}"/>
              </a:ext>
            </a:extLst>
          </p:cNvPr>
          <p:cNvSpPr txBox="1"/>
          <p:nvPr/>
        </p:nvSpPr>
        <p:spPr>
          <a:xfrm>
            <a:off x="1143000" y="2807208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Cumprimento dos prazos dos blocos de instalação de equipamentos especiais (RL/RT) definidos na WBS.</a:t>
            </a:r>
          </a:p>
        </p:txBody>
      </p:sp>
      <p:sp>
        <p:nvSpPr>
          <p:cNvPr id="18" name="Premissa 4 – nº">
            <a:extLst>
              <a:ext uri="{FF2B5EF4-FFF2-40B4-BE49-F238E27FC236}">
                <a16:creationId xmlns:a16="http://schemas.microsoft.com/office/drawing/2014/main" id="{6A3C957C-44D0-EF12-3FBB-166620330E42}"/>
              </a:ext>
            </a:extLst>
          </p:cNvPr>
          <p:cNvSpPr/>
          <p:nvPr/>
        </p:nvSpPr>
        <p:spPr>
          <a:xfrm>
            <a:off x="731520" y="318668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remissa 4 – nº texto">
            <a:extLst>
              <a:ext uri="{FF2B5EF4-FFF2-40B4-BE49-F238E27FC236}">
                <a16:creationId xmlns:a16="http://schemas.microsoft.com/office/drawing/2014/main" id="{B12F91DC-6C45-CD2C-1990-A474580C74AB}"/>
              </a:ext>
            </a:extLst>
          </p:cNvPr>
          <p:cNvSpPr txBox="1"/>
          <p:nvPr/>
        </p:nvSpPr>
        <p:spPr>
          <a:xfrm>
            <a:off x="731520" y="31866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4</a:t>
            </a:r>
          </a:p>
        </p:txBody>
      </p:sp>
      <p:sp>
        <p:nvSpPr>
          <p:cNvPr id="20" name="Premissa 4">
            <a:extLst>
              <a:ext uri="{FF2B5EF4-FFF2-40B4-BE49-F238E27FC236}">
                <a16:creationId xmlns:a16="http://schemas.microsoft.com/office/drawing/2014/main" id="{674DC50A-26C8-9773-342A-0910EDA26D3C}"/>
              </a:ext>
            </a:extLst>
          </p:cNvPr>
          <p:cNvSpPr txBox="1"/>
          <p:nvPr/>
        </p:nvSpPr>
        <p:spPr>
          <a:xfrm>
            <a:off x="1143000" y="3168396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Contratação de empresas com capacidade técnica e financeira para execução das obras.</a:t>
            </a:r>
          </a:p>
        </p:txBody>
      </p:sp>
      <p:sp>
        <p:nvSpPr>
          <p:cNvPr id="21" name="Premissa 5 – nº">
            <a:extLst>
              <a:ext uri="{FF2B5EF4-FFF2-40B4-BE49-F238E27FC236}">
                <a16:creationId xmlns:a16="http://schemas.microsoft.com/office/drawing/2014/main" id="{FA2878B2-FC15-FF04-B828-93E6526A109F}"/>
              </a:ext>
            </a:extLst>
          </p:cNvPr>
          <p:cNvSpPr/>
          <p:nvPr/>
        </p:nvSpPr>
        <p:spPr>
          <a:xfrm>
            <a:off x="731520" y="354787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Premissa 5 – nº texto">
            <a:extLst>
              <a:ext uri="{FF2B5EF4-FFF2-40B4-BE49-F238E27FC236}">
                <a16:creationId xmlns:a16="http://schemas.microsoft.com/office/drawing/2014/main" id="{CAE0570F-C73B-D867-B8C1-2054A67601B0}"/>
              </a:ext>
            </a:extLst>
          </p:cNvPr>
          <p:cNvSpPr txBox="1"/>
          <p:nvPr/>
        </p:nvSpPr>
        <p:spPr>
          <a:xfrm>
            <a:off x="731520" y="35478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5</a:t>
            </a:r>
          </a:p>
        </p:txBody>
      </p:sp>
      <p:sp>
        <p:nvSpPr>
          <p:cNvPr id="23" name="Premissa 5">
            <a:extLst>
              <a:ext uri="{FF2B5EF4-FFF2-40B4-BE49-F238E27FC236}">
                <a16:creationId xmlns:a16="http://schemas.microsoft.com/office/drawing/2014/main" id="{C8684D72-CD5A-C4F6-6D6C-67EAA513D42A}"/>
              </a:ext>
            </a:extLst>
          </p:cNvPr>
          <p:cNvSpPr txBox="1"/>
          <p:nvPr/>
        </p:nvSpPr>
        <p:spPr>
          <a:xfrm>
            <a:off x="1143000" y="3529584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Aprovação das LSS dentro do prazo solicitado, garantindo continuidade na execução das atividades.</a:t>
            </a:r>
          </a:p>
        </p:txBody>
      </p:sp>
      <p:sp>
        <p:nvSpPr>
          <p:cNvPr id="24" name="Premissa 6 – nº">
            <a:extLst>
              <a:ext uri="{FF2B5EF4-FFF2-40B4-BE49-F238E27FC236}">
                <a16:creationId xmlns:a16="http://schemas.microsoft.com/office/drawing/2014/main" id="{0AF73073-83D5-E2EC-C3AF-FFB240A4830D}"/>
              </a:ext>
            </a:extLst>
          </p:cNvPr>
          <p:cNvSpPr/>
          <p:nvPr/>
        </p:nvSpPr>
        <p:spPr>
          <a:xfrm>
            <a:off x="731520" y="390906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Premissa 6 – nº texto">
            <a:extLst>
              <a:ext uri="{FF2B5EF4-FFF2-40B4-BE49-F238E27FC236}">
                <a16:creationId xmlns:a16="http://schemas.microsoft.com/office/drawing/2014/main" id="{7EDF757D-D07F-5385-2811-68027B64B53A}"/>
              </a:ext>
            </a:extLst>
          </p:cNvPr>
          <p:cNvSpPr txBox="1"/>
          <p:nvPr/>
        </p:nvSpPr>
        <p:spPr>
          <a:xfrm>
            <a:off x="731520" y="39090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6</a:t>
            </a:r>
          </a:p>
        </p:txBody>
      </p:sp>
      <p:sp>
        <p:nvSpPr>
          <p:cNvPr id="26" name="Premissa 6">
            <a:extLst>
              <a:ext uri="{FF2B5EF4-FFF2-40B4-BE49-F238E27FC236}">
                <a16:creationId xmlns:a16="http://schemas.microsoft.com/office/drawing/2014/main" id="{1284D406-7A88-5FDD-B47E-505A8119356F}"/>
              </a:ext>
            </a:extLst>
          </p:cNvPr>
          <p:cNvSpPr txBox="1"/>
          <p:nvPr/>
        </p:nvSpPr>
        <p:spPr>
          <a:xfrm>
            <a:off x="1143000" y="3890772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Cumprimento do prazo de 10 dias corridos para análise da documentação de colaboradores terceiros pelo SESMT ETO.</a:t>
            </a:r>
          </a:p>
        </p:txBody>
      </p:sp>
      <p:sp>
        <p:nvSpPr>
          <p:cNvPr id="27" name="Premissa 7 – nº">
            <a:extLst>
              <a:ext uri="{FF2B5EF4-FFF2-40B4-BE49-F238E27FC236}">
                <a16:creationId xmlns:a16="http://schemas.microsoft.com/office/drawing/2014/main" id="{5ED2610B-049C-4FD4-5D41-7FE5E17469CF}"/>
              </a:ext>
            </a:extLst>
          </p:cNvPr>
          <p:cNvSpPr/>
          <p:nvPr/>
        </p:nvSpPr>
        <p:spPr>
          <a:xfrm>
            <a:off x="731520" y="427024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Premissa 7 – nº texto">
            <a:extLst>
              <a:ext uri="{FF2B5EF4-FFF2-40B4-BE49-F238E27FC236}">
                <a16:creationId xmlns:a16="http://schemas.microsoft.com/office/drawing/2014/main" id="{1BC8035C-29A2-30A2-ACCE-F2C352CBEB93}"/>
              </a:ext>
            </a:extLst>
          </p:cNvPr>
          <p:cNvSpPr txBox="1"/>
          <p:nvPr/>
        </p:nvSpPr>
        <p:spPr>
          <a:xfrm>
            <a:off x="731520" y="42702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7</a:t>
            </a:r>
          </a:p>
        </p:txBody>
      </p:sp>
      <p:sp>
        <p:nvSpPr>
          <p:cNvPr id="29" name="Premissa 7">
            <a:extLst>
              <a:ext uri="{FF2B5EF4-FFF2-40B4-BE49-F238E27FC236}">
                <a16:creationId xmlns:a16="http://schemas.microsoft.com/office/drawing/2014/main" id="{F0FEBDA2-BDB1-A555-3AA0-EABAB5B7EADB}"/>
              </a:ext>
            </a:extLst>
          </p:cNvPr>
          <p:cNvSpPr txBox="1"/>
          <p:nvPr/>
        </p:nvSpPr>
        <p:spPr>
          <a:xfrm>
            <a:off x="1143000" y="4251960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Manutenção do escopo do projeto, sem inclusão de serviços não previstos inicialmente.</a:t>
            </a:r>
          </a:p>
        </p:txBody>
      </p:sp>
      <p:sp>
        <p:nvSpPr>
          <p:cNvPr id="30" name="Premissa 8 – nº">
            <a:extLst>
              <a:ext uri="{FF2B5EF4-FFF2-40B4-BE49-F238E27FC236}">
                <a16:creationId xmlns:a16="http://schemas.microsoft.com/office/drawing/2014/main" id="{F4E74FAB-7009-C1E9-93CB-3E7893EA1A53}"/>
              </a:ext>
            </a:extLst>
          </p:cNvPr>
          <p:cNvSpPr/>
          <p:nvPr/>
        </p:nvSpPr>
        <p:spPr>
          <a:xfrm>
            <a:off x="731520" y="463143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Premissa 8 – nº texto">
            <a:extLst>
              <a:ext uri="{FF2B5EF4-FFF2-40B4-BE49-F238E27FC236}">
                <a16:creationId xmlns:a16="http://schemas.microsoft.com/office/drawing/2014/main" id="{8A286EBD-098D-D854-4DEB-82829F2F1A64}"/>
              </a:ext>
            </a:extLst>
          </p:cNvPr>
          <p:cNvSpPr txBox="1"/>
          <p:nvPr/>
        </p:nvSpPr>
        <p:spPr>
          <a:xfrm>
            <a:off x="731520" y="46314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8</a:t>
            </a:r>
          </a:p>
        </p:txBody>
      </p:sp>
      <p:sp>
        <p:nvSpPr>
          <p:cNvPr id="32" name="Premissa 8">
            <a:extLst>
              <a:ext uri="{FF2B5EF4-FFF2-40B4-BE49-F238E27FC236}">
                <a16:creationId xmlns:a16="http://schemas.microsoft.com/office/drawing/2014/main" id="{E12162C8-D0C2-615D-894E-8C45237A2BB3}"/>
              </a:ext>
            </a:extLst>
          </p:cNvPr>
          <p:cNvSpPr txBox="1"/>
          <p:nvPr/>
        </p:nvSpPr>
        <p:spPr>
          <a:xfrm>
            <a:off x="1143000" y="4613148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Ausência de acidentes de trabalho que ocasionem paralisação das atividades.</a:t>
            </a:r>
          </a:p>
        </p:txBody>
      </p:sp>
      <p:sp>
        <p:nvSpPr>
          <p:cNvPr id="33" name="Premissa 9 – nº">
            <a:extLst>
              <a:ext uri="{FF2B5EF4-FFF2-40B4-BE49-F238E27FC236}">
                <a16:creationId xmlns:a16="http://schemas.microsoft.com/office/drawing/2014/main" id="{C2FD9C06-6212-F996-9250-06E1F15FB8AC}"/>
              </a:ext>
            </a:extLst>
          </p:cNvPr>
          <p:cNvSpPr/>
          <p:nvPr/>
        </p:nvSpPr>
        <p:spPr>
          <a:xfrm>
            <a:off x="731520" y="4992623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Premissa 9 – nº texto">
            <a:extLst>
              <a:ext uri="{FF2B5EF4-FFF2-40B4-BE49-F238E27FC236}">
                <a16:creationId xmlns:a16="http://schemas.microsoft.com/office/drawing/2014/main" id="{5296B540-361D-AFB8-ADC4-14461EA1CBED}"/>
              </a:ext>
            </a:extLst>
          </p:cNvPr>
          <p:cNvSpPr txBox="1"/>
          <p:nvPr/>
        </p:nvSpPr>
        <p:spPr>
          <a:xfrm>
            <a:off x="731520" y="4992623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9</a:t>
            </a:r>
          </a:p>
        </p:txBody>
      </p:sp>
      <p:sp>
        <p:nvSpPr>
          <p:cNvPr id="35" name="Premissa 9">
            <a:extLst>
              <a:ext uri="{FF2B5EF4-FFF2-40B4-BE49-F238E27FC236}">
                <a16:creationId xmlns:a16="http://schemas.microsoft.com/office/drawing/2014/main" id="{8C7D109F-5B69-DB11-BB2E-46A8C92ADECF}"/>
              </a:ext>
            </a:extLst>
          </p:cNvPr>
          <p:cNvSpPr txBox="1"/>
          <p:nvPr/>
        </p:nvSpPr>
        <p:spPr>
          <a:xfrm>
            <a:off x="1143000" y="4974336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EPS atender a todos os procedimentos de segurança e às ITs.</a:t>
            </a:r>
          </a:p>
        </p:txBody>
      </p:sp>
      <p:sp>
        <p:nvSpPr>
          <p:cNvPr id="36" name="Premissa 10 – nº">
            <a:extLst>
              <a:ext uri="{FF2B5EF4-FFF2-40B4-BE49-F238E27FC236}">
                <a16:creationId xmlns:a16="http://schemas.microsoft.com/office/drawing/2014/main" id="{AE4FEF8C-2AAE-D12F-D6E3-4765CDDF407E}"/>
              </a:ext>
            </a:extLst>
          </p:cNvPr>
          <p:cNvSpPr/>
          <p:nvPr/>
        </p:nvSpPr>
        <p:spPr>
          <a:xfrm>
            <a:off x="731520" y="5353811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Premissa 10 – nº texto">
            <a:extLst>
              <a:ext uri="{FF2B5EF4-FFF2-40B4-BE49-F238E27FC236}">
                <a16:creationId xmlns:a16="http://schemas.microsoft.com/office/drawing/2014/main" id="{B0A57933-8288-BE8F-F893-2E6D6DFBBD6B}"/>
              </a:ext>
            </a:extLst>
          </p:cNvPr>
          <p:cNvSpPr txBox="1"/>
          <p:nvPr/>
        </p:nvSpPr>
        <p:spPr>
          <a:xfrm>
            <a:off x="731520" y="535381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10</a:t>
            </a:r>
          </a:p>
        </p:txBody>
      </p:sp>
      <p:sp>
        <p:nvSpPr>
          <p:cNvPr id="38" name="Premissa 10">
            <a:extLst>
              <a:ext uri="{FF2B5EF4-FFF2-40B4-BE49-F238E27FC236}">
                <a16:creationId xmlns:a16="http://schemas.microsoft.com/office/drawing/2014/main" id="{B59F88FE-1D10-AE7A-5B4F-FFBBDFF99F29}"/>
              </a:ext>
            </a:extLst>
          </p:cNvPr>
          <p:cNvSpPr txBox="1"/>
          <p:nvPr/>
        </p:nvSpPr>
        <p:spPr>
          <a:xfrm>
            <a:off x="1143000" y="5335523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Recebimento de religadores e reguladores conforme datas da WBS, com alta assertividade no forecast financeiro.</a:t>
            </a:r>
          </a:p>
        </p:txBody>
      </p:sp>
      <p:sp>
        <p:nvSpPr>
          <p:cNvPr id="39" name="Premissa 11 – nº">
            <a:extLst>
              <a:ext uri="{FF2B5EF4-FFF2-40B4-BE49-F238E27FC236}">
                <a16:creationId xmlns:a16="http://schemas.microsoft.com/office/drawing/2014/main" id="{6C16CC5C-7345-AAAB-E828-FA263646C0CD}"/>
              </a:ext>
            </a:extLst>
          </p:cNvPr>
          <p:cNvSpPr/>
          <p:nvPr/>
        </p:nvSpPr>
        <p:spPr>
          <a:xfrm>
            <a:off x="731520" y="571499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Premissa 11 – nº texto">
            <a:extLst>
              <a:ext uri="{FF2B5EF4-FFF2-40B4-BE49-F238E27FC236}">
                <a16:creationId xmlns:a16="http://schemas.microsoft.com/office/drawing/2014/main" id="{22AFE68D-F222-DAEF-FE8C-5809E5DB89D8}"/>
              </a:ext>
            </a:extLst>
          </p:cNvPr>
          <p:cNvSpPr txBox="1"/>
          <p:nvPr/>
        </p:nvSpPr>
        <p:spPr>
          <a:xfrm>
            <a:off x="731520" y="571499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009FC2"/>
                </a:solidFill>
                <a:latin typeface="DM Sans"/>
              </a:rPr>
              <a:t>11</a:t>
            </a:r>
          </a:p>
        </p:txBody>
      </p:sp>
      <p:sp>
        <p:nvSpPr>
          <p:cNvPr id="41" name="Premissa 11">
            <a:extLst>
              <a:ext uri="{FF2B5EF4-FFF2-40B4-BE49-F238E27FC236}">
                <a16:creationId xmlns:a16="http://schemas.microsoft.com/office/drawing/2014/main" id="{139FD980-1BB7-B442-ECFA-6A6B1A88624F}"/>
              </a:ext>
            </a:extLst>
          </p:cNvPr>
          <p:cNvSpPr txBox="1"/>
          <p:nvPr/>
        </p:nvSpPr>
        <p:spPr>
          <a:xfrm>
            <a:off x="1143000" y="5696711"/>
            <a:ext cx="598932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4D4D4D"/>
                </a:solidFill>
                <a:latin typeface="DM Sans"/>
              </a:rPr>
              <a:t>Disponibilidade de equipe de Linha Viva ETO, garantindo continuidade nas atividades em áreas energizadas.</a:t>
            </a:r>
          </a:p>
        </p:txBody>
      </p:sp>
      <p:sp>
        <p:nvSpPr>
          <p:cNvPr id="42" name="Restrições – fundo">
            <a:extLst>
              <a:ext uri="{FF2B5EF4-FFF2-40B4-BE49-F238E27FC236}">
                <a16:creationId xmlns:a16="http://schemas.microsoft.com/office/drawing/2014/main" id="{7AEB1B0D-D48B-7F79-9449-A98F28083915}"/>
              </a:ext>
            </a:extLst>
          </p:cNvPr>
          <p:cNvSpPr/>
          <p:nvPr/>
        </p:nvSpPr>
        <p:spPr>
          <a:xfrm>
            <a:off x="7589520" y="1371600"/>
            <a:ext cx="4144975" cy="2377440"/>
          </a:xfrm>
          <a:prstGeom prst="roundRect">
            <a:avLst>
              <a:gd name="adj" fmla="val 7000"/>
            </a:avLst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Badge lock">
            <a:extLst>
              <a:ext uri="{FF2B5EF4-FFF2-40B4-BE49-F238E27FC236}">
                <a16:creationId xmlns:a16="http://schemas.microsoft.com/office/drawing/2014/main" id="{4AC73F76-8B55-743B-6213-1D0CC062F801}"/>
              </a:ext>
            </a:extLst>
          </p:cNvPr>
          <p:cNvSpPr/>
          <p:nvPr/>
        </p:nvSpPr>
        <p:spPr>
          <a:xfrm>
            <a:off x="7863840" y="1572768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Ícone lock" descr="lock_white.png">
            <a:extLst>
              <a:ext uri="{FF2B5EF4-FFF2-40B4-BE49-F238E27FC236}">
                <a16:creationId xmlns:a16="http://schemas.microsoft.com/office/drawing/2014/main" id="{6AD75AF9-9AB2-15BA-CA1A-0DB280AA8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852" y="1668780"/>
            <a:ext cx="192024" cy="192024"/>
          </a:xfrm>
          <a:prstGeom prst="rect">
            <a:avLst/>
          </a:prstGeom>
        </p:spPr>
      </p:pic>
      <p:sp>
        <p:nvSpPr>
          <p:cNvPr id="45" name="Restrições lista">
            <a:extLst>
              <a:ext uri="{FF2B5EF4-FFF2-40B4-BE49-F238E27FC236}">
                <a16:creationId xmlns:a16="http://schemas.microsoft.com/office/drawing/2014/main" id="{DDDDFFB4-94D0-80A6-C89E-F2F20E475045}"/>
              </a:ext>
            </a:extLst>
          </p:cNvPr>
          <p:cNvSpPr txBox="1"/>
          <p:nvPr/>
        </p:nvSpPr>
        <p:spPr>
          <a:xfrm>
            <a:off x="7863840" y="2148840"/>
            <a:ext cx="3596335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1100" b="0" i="0">
                <a:solidFill>
                  <a:srgbClr val="FFFFFF"/>
                </a:solidFill>
                <a:latin typeface="DM Sans"/>
              </a:rPr>
              <a:t>Iniciar a obra somente após assinatura do contrato de prestação de serviços com a empreiteira executora.</a:t>
            </a:r>
          </a:p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1100" b="0" i="0">
                <a:solidFill>
                  <a:srgbClr val="FFFFFF"/>
                </a:solidFill>
                <a:latin typeface="DM Sans"/>
              </a:rPr>
              <a:t>Encerramento contábil somente após fiscalização da Gestão de Ativos.</a:t>
            </a:r>
          </a:p>
          <a:p>
            <a:pPr marL="219456" indent="-219456">
              <a:spcAft>
                <a:spcPts val="600"/>
              </a:spcAft>
              <a:buClr>
                <a:srgbClr val="00DBFF"/>
              </a:buClr>
              <a:buFont typeface="DM Sans"/>
              <a:buAutoNum type="arabicPeriod"/>
            </a:pPr>
            <a:r>
              <a:rPr sz="1100" b="0" i="0">
                <a:solidFill>
                  <a:srgbClr val="FFFFFF"/>
                </a:solidFill>
                <a:latin typeface="DM Sans"/>
              </a:rPr>
              <a:t>Encerramento contábil até, no máximo, 17/11/2027.</a:t>
            </a:r>
          </a:p>
        </p:txBody>
      </p:sp>
      <p:sp>
        <p:nvSpPr>
          <p:cNvPr id="46" name="Penalidades – fundo">
            <a:extLst>
              <a:ext uri="{FF2B5EF4-FFF2-40B4-BE49-F238E27FC236}">
                <a16:creationId xmlns:a16="http://schemas.microsoft.com/office/drawing/2014/main" id="{8F31998F-6B35-3169-F48C-CD21A09844A7}"/>
              </a:ext>
            </a:extLst>
          </p:cNvPr>
          <p:cNvSpPr/>
          <p:nvPr/>
        </p:nvSpPr>
        <p:spPr>
          <a:xfrm>
            <a:off x="7589520" y="3977639"/>
            <a:ext cx="4144975" cy="2194560"/>
          </a:xfrm>
          <a:prstGeom prst="roundRect">
            <a:avLst>
              <a:gd name="adj" fmla="val 7000"/>
            </a:avLst>
          </a:prstGeom>
          <a:solidFill>
            <a:srgbClr val="F3F5F8"/>
          </a:solidFill>
          <a:ln w="12700">
            <a:solidFill>
              <a:srgbClr val="F47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Badge gavel">
            <a:extLst>
              <a:ext uri="{FF2B5EF4-FFF2-40B4-BE49-F238E27FC236}">
                <a16:creationId xmlns:a16="http://schemas.microsoft.com/office/drawing/2014/main" id="{6676DB65-E47A-A755-1A60-D7A4C31FB9E8}"/>
              </a:ext>
            </a:extLst>
          </p:cNvPr>
          <p:cNvSpPr/>
          <p:nvPr/>
        </p:nvSpPr>
        <p:spPr>
          <a:xfrm>
            <a:off x="7863840" y="4178807"/>
            <a:ext cx="384048" cy="38404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Ícone gavel" descr="gavel_white.png">
            <a:extLst>
              <a:ext uri="{FF2B5EF4-FFF2-40B4-BE49-F238E27FC236}">
                <a16:creationId xmlns:a16="http://schemas.microsoft.com/office/drawing/2014/main" id="{6B9EADB7-3CDB-5D71-53AA-6AC5DE16A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852" y="4274820"/>
            <a:ext cx="192024" cy="192024"/>
          </a:xfrm>
          <a:prstGeom prst="rect">
            <a:avLst/>
          </a:prstGeom>
        </p:spPr>
      </p:pic>
      <p:sp>
        <p:nvSpPr>
          <p:cNvPr id="49" name="Penalidades lista">
            <a:extLst>
              <a:ext uri="{FF2B5EF4-FFF2-40B4-BE49-F238E27FC236}">
                <a16:creationId xmlns:a16="http://schemas.microsoft.com/office/drawing/2014/main" id="{27A68997-AFD0-5AE2-184A-20FF744EFA34}"/>
              </a:ext>
            </a:extLst>
          </p:cNvPr>
          <p:cNvSpPr txBox="1"/>
          <p:nvPr/>
        </p:nvSpPr>
        <p:spPr>
          <a:xfrm>
            <a:off x="7863840" y="4754879"/>
            <a:ext cx="359633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19456" indent="-219456">
              <a:spcAft>
                <a:spcPts val="600"/>
              </a:spcAft>
              <a:buClr>
                <a:srgbClr val="F47B20"/>
              </a:buClr>
              <a:buFont typeface="DM Sans"/>
              <a:buAutoNum type="arabicPeriod"/>
            </a:pPr>
            <a:r>
              <a:rPr sz="1100" b="0" i="0" err="1">
                <a:solidFill>
                  <a:srgbClr val="4D4D4D"/>
                </a:solidFill>
                <a:latin typeface="DM Sans"/>
              </a:rPr>
              <a:t>Aplicação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de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multa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às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prestadoras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de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serviço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e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fornecedores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, após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notificação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, em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caso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de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descumprimento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do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contrato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.</a:t>
            </a:r>
          </a:p>
          <a:p>
            <a:pPr marL="219456" indent="-219456">
              <a:spcAft>
                <a:spcPts val="600"/>
              </a:spcAft>
              <a:buClr>
                <a:srgbClr val="F47B20"/>
              </a:buClr>
              <a:buFont typeface="DM Sans"/>
              <a:buAutoNum type="arabicPeriod"/>
            </a:pPr>
            <a:r>
              <a:rPr sz="1100" b="0" i="0">
                <a:solidFill>
                  <a:srgbClr val="4D4D4D"/>
                </a:solidFill>
                <a:latin typeface="DM Sans"/>
              </a:rPr>
              <a:t>Não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atingimento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do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benefício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esperado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 pela </a:t>
            </a:r>
            <a:r>
              <a:rPr sz="1100" b="0" i="0" err="1">
                <a:solidFill>
                  <a:srgbClr val="4D4D4D"/>
                </a:solidFill>
                <a:latin typeface="DM Sans"/>
              </a:rPr>
              <a:t>unidade</a:t>
            </a:r>
            <a:r>
              <a:rPr sz="1100" b="0" i="0">
                <a:solidFill>
                  <a:srgbClr val="4D4D4D"/>
                </a:solidFill>
                <a:latin typeface="DM Sans"/>
              </a:rPr>
              <a:t>.</a:t>
            </a:r>
          </a:p>
        </p:txBody>
      </p:sp>
      <p:sp>
        <p:nvSpPr>
          <p:cNvPr id="51" name="Eyebrow">
            <a:extLst>
              <a:ext uri="{FF2B5EF4-FFF2-40B4-BE49-F238E27FC236}">
                <a16:creationId xmlns:a16="http://schemas.microsoft.com/office/drawing/2014/main" id="{57A5C123-FC7F-9DB0-067A-7896B2CC5CEA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OBRAS DCMD – RL / RT</a:t>
            </a:r>
            <a:r>
              <a:rPr lang="pt-BR" sz="1100" b="1" i="0" spc="150">
                <a:solidFill>
                  <a:srgbClr val="989898"/>
                </a:solidFill>
                <a:latin typeface="DM Sans"/>
              </a:rPr>
              <a:t/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57" name="Título Premissas">
            <a:extLst>
              <a:ext uri="{FF2B5EF4-FFF2-40B4-BE49-F238E27FC236}">
                <a16:creationId xmlns:a16="http://schemas.microsoft.com/office/drawing/2014/main" id="{4178120F-E349-5A6B-8708-756E18C942A4}"/>
              </a:ext>
            </a:extLst>
          </p:cNvPr>
          <p:cNvSpPr txBox="1"/>
          <p:nvPr/>
        </p:nvSpPr>
        <p:spPr>
          <a:xfrm>
            <a:off x="8343900" y="4292215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spc="80">
                <a:solidFill>
                  <a:srgbClr val="1F1F4C"/>
                </a:solidFill>
                <a:latin typeface="DM Sans"/>
              </a:rPr>
              <a:t>PENALIDADES</a:t>
            </a:r>
            <a:endParaRPr sz="1200" b="1" i="0" spc="80">
              <a:solidFill>
                <a:srgbClr val="1F1F4C"/>
              </a:solidFill>
              <a:latin typeface="DM Sans"/>
            </a:endParaRPr>
          </a:p>
        </p:txBody>
      </p:sp>
      <p:sp>
        <p:nvSpPr>
          <p:cNvPr id="59" name="Título Premissas">
            <a:extLst>
              <a:ext uri="{FF2B5EF4-FFF2-40B4-BE49-F238E27FC236}">
                <a16:creationId xmlns:a16="http://schemas.microsoft.com/office/drawing/2014/main" id="{76DF6AAB-AB4C-4D83-ACDD-EB56789B7D6F}"/>
              </a:ext>
            </a:extLst>
          </p:cNvPr>
          <p:cNvSpPr txBox="1"/>
          <p:nvPr/>
        </p:nvSpPr>
        <p:spPr>
          <a:xfrm>
            <a:off x="8410575" y="1681698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spc="80">
                <a:solidFill>
                  <a:schemeClr val="bg1"/>
                </a:solidFill>
                <a:latin typeface="DM Sans"/>
              </a:rPr>
              <a:t>RESTRIÇÕES</a:t>
            </a:r>
            <a:endParaRPr sz="1200" b="1" i="0" spc="80">
              <a:solidFill>
                <a:schemeClr val="bg1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772740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073C3E49-823F-34B0-1428-10D6FD755195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9144000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Principais Riscos do Projeto</a:t>
            </a:r>
          </a:p>
        </p:txBody>
      </p:sp>
      <p:sp>
        <p:nvSpPr>
          <p:cNvPr id="5" name="Canto – esfera">
            <a:extLst>
              <a:ext uri="{FF2B5EF4-FFF2-40B4-BE49-F238E27FC236}">
                <a16:creationId xmlns:a16="http://schemas.microsoft.com/office/drawing/2014/main" id="{9C4FE39E-B17F-49F5-B9C3-FB4650F3F906}"/>
              </a:ext>
            </a:extLst>
          </p:cNvPr>
          <p:cNvSpPr/>
          <p:nvPr/>
        </p:nvSpPr>
        <p:spPr>
          <a:xfrm>
            <a:off x="11750040" y="320040"/>
            <a:ext cx="822960" cy="82296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adge alert">
            <a:extLst>
              <a:ext uri="{FF2B5EF4-FFF2-40B4-BE49-F238E27FC236}">
                <a16:creationId xmlns:a16="http://schemas.microsoft.com/office/drawing/2014/main" id="{6F9F7F4E-7062-7003-D34B-76C1F1E95D20}"/>
              </a:ext>
            </a:extLst>
          </p:cNvPr>
          <p:cNvSpPr/>
          <p:nvPr/>
        </p:nvSpPr>
        <p:spPr>
          <a:xfrm>
            <a:off x="594360" y="1298448"/>
            <a:ext cx="310896" cy="310896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Ícone alert" descr="alert_white.png">
            <a:extLst>
              <a:ext uri="{FF2B5EF4-FFF2-40B4-BE49-F238E27FC236}">
                <a16:creationId xmlns:a16="http://schemas.microsoft.com/office/drawing/2014/main" id="{98D33186-2FF4-B753-5473-ECB3CFB79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376172"/>
            <a:ext cx="155448" cy="155448"/>
          </a:xfrm>
          <a:prstGeom prst="rect">
            <a:avLst/>
          </a:prstGeom>
        </p:spPr>
      </p:pic>
      <p:sp>
        <p:nvSpPr>
          <p:cNvPr id="11" name="Cab Risco">
            <a:extLst>
              <a:ext uri="{FF2B5EF4-FFF2-40B4-BE49-F238E27FC236}">
                <a16:creationId xmlns:a16="http://schemas.microsoft.com/office/drawing/2014/main" id="{F5006289-02ED-947D-A8F1-8A12950996E8}"/>
              </a:ext>
            </a:extLst>
          </p:cNvPr>
          <p:cNvSpPr txBox="1"/>
          <p:nvPr/>
        </p:nvSpPr>
        <p:spPr>
          <a:xfrm>
            <a:off x="1005840" y="1298448"/>
            <a:ext cx="3291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RISCO</a:t>
            </a:r>
          </a:p>
        </p:txBody>
      </p:sp>
      <p:sp>
        <p:nvSpPr>
          <p:cNvPr id="12" name="Badge shield">
            <a:extLst>
              <a:ext uri="{FF2B5EF4-FFF2-40B4-BE49-F238E27FC236}">
                <a16:creationId xmlns:a16="http://schemas.microsoft.com/office/drawing/2014/main" id="{7AA98296-EB5B-1EFE-C32B-91583FEFF819}"/>
              </a:ext>
            </a:extLst>
          </p:cNvPr>
          <p:cNvSpPr/>
          <p:nvPr/>
        </p:nvSpPr>
        <p:spPr>
          <a:xfrm>
            <a:off x="4572000" y="1298448"/>
            <a:ext cx="310896" cy="310896"/>
          </a:xfrm>
          <a:prstGeom prst="ellipse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shield" descr="shield_white.png">
            <a:extLst>
              <a:ext uri="{FF2B5EF4-FFF2-40B4-BE49-F238E27FC236}">
                <a16:creationId xmlns:a16="http://schemas.microsoft.com/office/drawing/2014/main" id="{A989290C-7300-673C-EF01-982D13209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4" y="1376172"/>
            <a:ext cx="155448" cy="155448"/>
          </a:xfrm>
          <a:prstGeom prst="rect">
            <a:avLst/>
          </a:prstGeom>
        </p:spPr>
      </p:pic>
      <p:sp>
        <p:nvSpPr>
          <p:cNvPr id="14" name="Cab Plano atenuante">
            <a:extLst>
              <a:ext uri="{FF2B5EF4-FFF2-40B4-BE49-F238E27FC236}">
                <a16:creationId xmlns:a16="http://schemas.microsoft.com/office/drawing/2014/main" id="{C57EA16B-0AF5-E47B-B32B-57ABF4DBB566}"/>
              </a:ext>
            </a:extLst>
          </p:cNvPr>
          <p:cNvSpPr txBox="1"/>
          <p:nvPr/>
        </p:nvSpPr>
        <p:spPr>
          <a:xfrm>
            <a:off x="4983479" y="1298448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PLANO ATENUANTE</a:t>
            </a:r>
          </a:p>
        </p:txBody>
      </p:sp>
      <p:sp>
        <p:nvSpPr>
          <p:cNvPr id="15" name="Badge life">
            <a:extLst>
              <a:ext uri="{FF2B5EF4-FFF2-40B4-BE49-F238E27FC236}">
                <a16:creationId xmlns:a16="http://schemas.microsoft.com/office/drawing/2014/main" id="{381D5181-AB06-30A4-1ED9-9C00E4242710}"/>
              </a:ext>
            </a:extLst>
          </p:cNvPr>
          <p:cNvSpPr/>
          <p:nvPr/>
        </p:nvSpPr>
        <p:spPr>
          <a:xfrm>
            <a:off x="8321040" y="1298448"/>
            <a:ext cx="310896" cy="310896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life" descr="life_white.png">
            <a:extLst>
              <a:ext uri="{FF2B5EF4-FFF2-40B4-BE49-F238E27FC236}">
                <a16:creationId xmlns:a16="http://schemas.microsoft.com/office/drawing/2014/main" id="{B021BBD6-1929-F269-317D-13C936153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64" y="1376172"/>
            <a:ext cx="155448" cy="155448"/>
          </a:xfrm>
          <a:prstGeom prst="rect">
            <a:avLst/>
          </a:prstGeom>
        </p:spPr>
      </p:pic>
      <p:sp>
        <p:nvSpPr>
          <p:cNvPr id="17" name="Cab Plano de contingência">
            <a:extLst>
              <a:ext uri="{FF2B5EF4-FFF2-40B4-BE49-F238E27FC236}">
                <a16:creationId xmlns:a16="http://schemas.microsoft.com/office/drawing/2014/main" id="{FC31A474-6CE7-87C5-7C60-EA94B6B6A416}"/>
              </a:ext>
            </a:extLst>
          </p:cNvPr>
          <p:cNvSpPr txBox="1"/>
          <p:nvPr/>
        </p:nvSpPr>
        <p:spPr>
          <a:xfrm>
            <a:off x="8732519" y="1298448"/>
            <a:ext cx="299923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spc="80">
                <a:solidFill>
                  <a:srgbClr val="1F1F4C"/>
                </a:solidFill>
                <a:latin typeface="DM Sans"/>
              </a:rPr>
              <a:t>PLANO DE CONTINGÊNCIA</a:t>
            </a:r>
          </a:p>
        </p:txBody>
      </p:sp>
      <p:sp>
        <p:nvSpPr>
          <p:cNvPr id="18" name="Risco 1 – fundo">
            <a:extLst>
              <a:ext uri="{FF2B5EF4-FFF2-40B4-BE49-F238E27FC236}">
                <a16:creationId xmlns:a16="http://schemas.microsoft.com/office/drawing/2014/main" id="{DD4780C5-3D01-8397-E72B-F229D3164AFB}"/>
              </a:ext>
            </a:extLst>
          </p:cNvPr>
          <p:cNvSpPr/>
          <p:nvPr/>
        </p:nvSpPr>
        <p:spPr>
          <a:xfrm>
            <a:off x="457200" y="1755648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sco 1 – nº">
            <a:extLst>
              <a:ext uri="{FF2B5EF4-FFF2-40B4-BE49-F238E27FC236}">
                <a16:creationId xmlns:a16="http://schemas.microsoft.com/office/drawing/2014/main" id="{DD5EAF01-2F0B-3208-330E-322045312BF1}"/>
              </a:ext>
            </a:extLst>
          </p:cNvPr>
          <p:cNvSpPr/>
          <p:nvPr/>
        </p:nvSpPr>
        <p:spPr>
          <a:xfrm>
            <a:off x="612648" y="1901952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sco 1 – nº texto">
            <a:extLst>
              <a:ext uri="{FF2B5EF4-FFF2-40B4-BE49-F238E27FC236}">
                <a16:creationId xmlns:a16="http://schemas.microsoft.com/office/drawing/2014/main" id="{5DAFEE27-936D-6894-A915-636A1E3BFD5A}"/>
              </a:ext>
            </a:extLst>
          </p:cNvPr>
          <p:cNvSpPr txBox="1"/>
          <p:nvPr/>
        </p:nvSpPr>
        <p:spPr>
          <a:xfrm>
            <a:off x="612648" y="1901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21" name="Risco 1 – título">
            <a:extLst>
              <a:ext uri="{FF2B5EF4-FFF2-40B4-BE49-F238E27FC236}">
                <a16:creationId xmlns:a16="http://schemas.microsoft.com/office/drawing/2014/main" id="{BBE52ECE-5A73-C853-2A2C-549797008954}"/>
              </a:ext>
            </a:extLst>
          </p:cNvPr>
          <p:cNvSpPr txBox="1"/>
          <p:nvPr/>
        </p:nvSpPr>
        <p:spPr>
          <a:xfrm>
            <a:off x="1143000" y="1810512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Acidente de trabalho</a:t>
            </a:r>
          </a:p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Acidente de trabalho durante a execução da obra</a:t>
            </a:r>
          </a:p>
        </p:txBody>
      </p:sp>
      <p:sp>
        <p:nvSpPr>
          <p:cNvPr id="22" name="Risco 1 – plano">
            <a:extLst>
              <a:ext uri="{FF2B5EF4-FFF2-40B4-BE49-F238E27FC236}">
                <a16:creationId xmlns:a16="http://schemas.microsoft.com/office/drawing/2014/main" id="{1DD33862-EC4E-DB38-25F6-0B5E67F8C75B}"/>
              </a:ext>
            </a:extLst>
          </p:cNvPr>
          <p:cNvSpPr txBox="1"/>
          <p:nvPr/>
        </p:nvSpPr>
        <p:spPr>
          <a:xfrm>
            <a:off x="4572000" y="1810512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Reunião de integração e alinhamento com a empreiteira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Inspeções de segurança periódicas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Realização do DDS</a:t>
            </a:r>
          </a:p>
        </p:txBody>
      </p:sp>
      <p:sp>
        <p:nvSpPr>
          <p:cNvPr id="23" name="Risco 1 – plano">
            <a:extLst>
              <a:ext uri="{FF2B5EF4-FFF2-40B4-BE49-F238E27FC236}">
                <a16:creationId xmlns:a16="http://schemas.microsoft.com/office/drawing/2014/main" id="{032ACACF-3E76-B785-BC31-C33322F3890B}"/>
              </a:ext>
            </a:extLst>
          </p:cNvPr>
          <p:cNvSpPr txBox="1"/>
          <p:nvPr/>
        </p:nvSpPr>
        <p:spPr>
          <a:xfrm>
            <a:off x="8321040" y="1810512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Paralisar qualquer atividade executada de forma insegura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Acionar o SESMT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Investigar o ocorrido</a:t>
            </a:r>
          </a:p>
        </p:txBody>
      </p:sp>
      <p:sp>
        <p:nvSpPr>
          <p:cNvPr id="24" name="Risco 2 – fundo">
            <a:extLst>
              <a:ext uri="{FF2B5EF4-FFF2-40B4-BE49-F238E27FC236}">
                <a16:creationId xmlns:a16="http://schemas.microsoft.com/office/drawing/2014/main" id="{B8E792EF-29E1-1F50-C126-CAF044FC4FD2}"/>
              </a:ext>
            </a:extLst>
          </p:cNvPr>
          <p:cNvSpPr/>
          <p:nvPr/>
        </p:nvSpPr>
        <p:spPr>
          <a:xfrm>
            <a:off x="457200" y="2505456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sco 2 – nº">
            <a:extLst>
              <a:ext uri="{FF2B5EF4-FFF2-40B4-BE49-F238E27FC236}">
                <a16:creationId xmlns:a16="http://schemas.microsoft.com/office/drawing/2014/main" id="{3A5C20EF-2307-1A64-D030-9A38FF99FB2E}"/>
              </a:ext>
            </a:extLst>
          </p:cNvPr>
          <p:cNvSpPr/>
          <p:nvPr/>
        </p:nvSpPr>
        <p:spPr>
          <a:xfrm>
            <a:off x="612648" y="2651760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sco 2 – nº texto">
            <a:extLst>
              <a:ext uri="{FF2B5EF4-FFF2-40B4-BE49-F238E27FC236}">
                <a16:creationId xmlns:a16="http://schemas.microsoft.com/office/drawing/2014/main" id="{710C6512-55B0-932F-AA89-1297266CF19C}"/>
              </a:ext>
            </a:extLst>
          </p:cNvPr>
          <p:cNvSpPr txBox="1"/>
          <p:nvPr/>
        </p:nvSpPr>
        <p:spPr>
          <a:xfrm>
            <a:off x="612648" y="26517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2</a:t>
            </a:r>
          </a:p>
        </p:txBody>
      </p:sp>
      <p:sp>
        <p:nvSpPr>
          <p:cNvPr id="27" name="Risco 2 – título">
            <a:extLst>
              <a:ext uri="{FF2B5EF4-FFF2-40B4-BE49-F238E27FC236}">
                <a16:creationId xmlns:a16="http://schemas.microsoft.com/office/drawing/2014/main" id="{8234EAFE-037E-C3BC-10D6-0DBD82068830}"/>
              </a:ext>
            </a:extLst>
          </p:cNvPr>
          <p:cNvSpPr txBox="1"/>
          <p:nvPr/>
        </p:nvSpPr>
        <p:spPr>
          <a:xfrm>
            <a:off x="1143000" y="2560320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na aprovação de LSS / documentos</a:t>
            </a:r>
          </a:p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Atraso na aprovação das LSS e da documentação de terceiros pelo SESMT ETO</a:t>
            </a:r>
          </a:p>
        </p:txBody>
      </p:sp>
      <p:sp>
        <p:nvSpPr>
          <p:cNvPr id="28" name="Risco 2 – plano">
            <a:extLst>
              <a:ext uri="{FF2B5EF4-FFF2-40B4-BE49-F238E27FC236}">
                <a16:creationId xmlns:a16="http://schemas.microsoft.com/office/drawing/2014/main" id="{0D3ED5F1-6F63-5812-25DC-076D4412D999}"/>
              </a:ext>
            </a:extLst>
          </p:cNvPr>
          <p:cNvSpPr txBox="1"/>
          <p:nvPr/>
        </p:nvSpPr>
        <p:spPr>
          <a:xfrm>
            <a:off x="4572000" y="2560320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Antecipar o envio da documentação dos colaboradores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Acompanhar o prazo de 10 dias de análise</a:t>
            </a:r>
          </a:p>
        </p:txBody>
      </p:sp>
      <p:sp>
        <p:nvSpPr>
          <p:cNvPr id="29" name="Risco 2 – plano">
            <a:extLst>
              <a:ext uri="{FF2B5EF4-FFF2-40B4-BE49-F238E27FC236}">
                <a16:creationId xmlns:a16="http://schemas.microsoft.com/office/drawing/2014/main" id="{EE659EFD-790F-1231-551E-533E5EAED51E}"/>
              </a:ext>
            </a:extLst>
          </p:cNvPr>
          <p:cNvSpPr txBox="1"/>
          <p:nvPr/>
        </p:nvSpPr>
        <p:spPr>
          <a:xfrm>
            <a:off x="8321040" y="2560320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Antecipar outras atividades da obra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Acompanhar as entregas junto ao SESMT</a:t>
            </a:r>
          </a:p>
        </p:txBody>
      </p:sp>
      <p:sp>
        <p:nvSpPr>
          <p:cNvPr id="30" name="Risco 3 – fundo">
            <a:extLst>
              <a:ext uri="{FF2B5EF4-FFF2-40B4-BE49-F238E27FC236}">
                <a16:creationId xmlns:a16="http://schemas.microsoft.com/office/drawing/2014/main" id="{CB37453F-355B-3A29-E1E4-E9D594F6E216}"/>
              </a:ext>
            </a:extLst>
          </p:cNvPr>
          <p:cNvSpPr/>
          <p:nvPr/>
        </p:nvSpPr>
        <p:spPr>
          <a:xfrm>
            <a:off x="457200" y="3255263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sco 3 – nº">
            <a:extLst>
              <a:ext uri="{FF2B5EF4-FFF2-40B4-BE49-F238E27FC236}">
                <a16:creationId xmlns:a16="http://schemas.microsoft.com/office/drawing/2014/main" id="{D047DA21-6AD7-2862-E793-6019298F0380}"/>
              </a:ext>
            </a:extLst>
          </p:cNvPr>
          <p:cNvSpPr/>
          <p:nvPr/>
        </p:nvSpPr>
        <p:spPr>
          <a:xfrm>
            <a:off x="612648" y="3401568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sco 3 – nº texto">
            <a:extLst>
              <a:ext uri="{FF2B5EF4-FFF2-40B4-BE49-F238E27FC236}">
                <a16:creationId xmlns:a16="http://schemas.microsoft.com/office/drawing/2014/main" id="{3D44F698-58E4-A1D5-EB11-351365E73B60}"/>
              </a:ext>
            </a:extLst>
          </p:cNvPr>
          <p:cNvSpPr txBox="1"/>
          <p:nvPr/>
        </p:nvSpPr>
        <p:spPr>
          <a:xfrm>
            <a:off x="612648" y="34015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3</a:t>
            </a:r>
          </a:p>
        </p:txBody>
      </p:sp>
      <p:sp>
        <p:nvSpPr>
          <p:cNvPr id="33" name="Risco 3 – título">
            <a:extLst>
              <a:ext uri="{FF2B5EF4-FFF2-40B4-BE49-F238E27FC236}">
                <a16:creationId xmlns:a16="http://schemas.microsoft.com/office/drawing/2014/main" id="{0FC8B7F5-470C-BE35-2C60-AC269594A12D}"/>
              </a:ext>
            </a:extLst>
          </p:cNvPr>
          <p:cNvSpPr txBox="1"/>
          <p:nvPr/>
        </p:nvSpPr>
        <p:spPr>
          <a:xfrm>
            <a:off x="1143000" y="3310127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de materiais e equipamentos</a:t>
            </a:r>
          </a:p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Entrega de RL/RT e acessórios fora das datas da WBS</a:t>
            </a:r>
          </a:p>
        </p:txBody>
      </p:sp>
      <p:sp>
        <p:nvSpPr>
          <p:cNvPr id="34" name="Risco 3 – plano">
            <a:extLst>
              <a:ext uri="{FF2B5EF4-FFF2-40B4-BE49-F238E27FC236}">
                <a16:creationId xmlns:a16="http://schemas.microsoft.com/office/drawing/2014/main" id="{6E90C081-FA0D-9059-B8AC-5204D75984BF}"/>
              </a:ext>
            </a:extLst>
          </p:cNvPr>
          <p:cNvSpPr txBox="1"/>
          <p:nvPr/>
        </p:nvSpPr>
        <p:spPr>
          <a:xfrm>
            <a:off x="4572000" y="3310127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Diligenciamento junto a fornecedores e compradores</a:t>
            </a:r>
          </a:p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Acompanhamento do forecast financeiro</a:t>
            </a:r>
          </a:p>
        </p:txBody>
      </p:sp>
      <p:sp>
        <p:nvSpPr>
          <p:cNvPr id="35" name="Risco 3 – plano">
            <a:extLst>
              <a:ext uri="{FF2B5EF4-FFF2-40B4-BE49-F238E27FC236}">
                <a16:creationId xmlns:a16="http://schemas.microsoft.com/office/drawing/2014/main" id="{83C614E1-DEC1-4426-F4E7-888C757C2C09}"/>
              </a:ext>
            </a:extLst>
          </p:cNvPr>
          <p:cNvSpPr txBox="1"/>
          <p:nvPr/>
        </p:nvSpPr>
        <p:spPr>
          <a:xfrm>
            <a:off x="8321040" y="3310127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Replanejar a sequência executiva</a:t>
            </a:r>
          </a:p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Avaliar fornecedor homologado alternativo</a:t>
            </a:r>
          </a:p>
        </p:txBody>
      </p:sp>
      <p:sp>
        <p:nvSpPr>
          <p:cNvPr id="36" name="Risco 4 – fundo">
            <a:extLst>
              <a:ext uri="{FF2B5EF4-FFF2-40B4-BE49-F238E27FC236}">
                <a16:creationId xmlns:a16="http://schemas.microsoft.com/office/drawing/2014/main" id="{C4BA10C2-17D4-0DAD-45AF-4D7FDA60AC05}"/>
              </a:ext>
            </a:extLst>
          </p:cNvPr>
          <p:cNvSpPr/>
          <p:nvPr/>
        </p:nvSpPr>
        <p:spPr>
          <a:xfrm>
            <a:off x="457200" y="4005072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sco 4 – nº">
            <a:extLst>
              <a:ext uri="{FF2B5EF4-FFF2-40B4-BE49-F238E27FC236}">
                <a16:creationId xmlns:a16="http://schemas.microsoft.com/office/drawing/2014/main" id="{F363E88C-74C6-808B-6051-2E5443599F0B}"/>
              </a:ext>
            </a:extLst>
          </p:cNvPr>
          <p:cNvSpPr/>
          <p:nvPr/>
        </p:nvSpPr>
        <p:spPr>
          <a:xfrm>
            <a:off x="612648" y="4151376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sco 4 – nº texto">
            <a:extLst>
              <a:ext uri="{FF2B5EF4-FFF2-40B4-BE49-F238E27FC236}">
                <a16:creationId xmlns:a16="http://schemas.microsoft.com/office/drawing/2014/main" id="{6F8E2B3C-DEBB-7656-D4D8-012313D3F5E5}"/>
              </a:ext>
            </a:extLst>
          </p:cNvPr>
          <p:cNvSpPr txBox="1"/>
          <p:nvPr/>
        </p:nvSpPr>
        <p:spPr>
          <a:xfrm>
            <a:off x="612648" y="41513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4</a:t>
            </a:r>
          </a:p>
        </p:txBody>
      </p:sp>
      <p:sp>
        <p:nvSpPr>
          <p:cNvPr id="39" name="Risco 4 – título">
            <a:extLst>
              <a:ext uri="{FF2B5EF4-FFF2-40B4-BE49-F238E27FC236}">
                <a16:creationId xmlns:a16="http://schemas.microsoft.com/office/drawing/2014/main" id="{1975D767-A08F-20B7-DA5A-F483C49C1588}"/>
              </a:ext>
            </a:extLst>
          </p:cNvPr>
          <p:cNvSpPr txBox="1"/>
          <p:nvPr/>
        </p:nvSpPr>
        <p:spPr>
          <a:xfrm>
            <a:off x="1143000" y="4059935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Indisponibilidade de Linha Viva</a:t>
            </a:r>
          </a:p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Falta de equipe de Linha Viva ETO para atividades em áreas energizadas</a:t>
            </a:r>
          </a:p>
        </p:txBody>
      </p:sp>
      <p:sp>
        <p:nvSpPr>
          <p:cNvPr id="40" name="Risco 4 – plano">
            <a:extLst>
              <a:ext uri="{FF2B5EF4-FFF2-40B4-BE49-F238E27FC236}">
                <a16:creationId xmlns:a16="http://schemas.microsoft.com/office/drawing/2014/main" id="{C540BF30-8232-6DB0-21A7-DD0B6FFFAB18}"/>
              </a:ext>
            </a:extLst>
          </p:cNvPr>
          <p:cNvSpPr txBox="1"/>
          <p:nvPr/>
        </p:nvSpPr>
        <p:spPr>
          <a:xfrm>
            <a:off x="4572000" y="4059935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Programar as atividades com antecedência junto à ETO</a:t>
            </a:r>
          </a:p>
        </p:txBody>
      </p:sp>
      <p:sp>
        <p:nvSpPr>
          <p:cNvPr id="41" name="Risco 4 – plano">
            <a:extLst>
              <a:ext uri="{FF2B5EF4-FFF2-40B4-BE49-F238E27FC236}">
                <a16:creationId xmlns:a16="http://schemas.microsoft.com/office/drawing/2014/main" id="{BDC42145-2152-71CB-13B2-D09B30089F57}"/>
              </a:ext>
            </a:extLst>
          </p:cNvPr>
          <p:cNvSpPr txBox="1"/>
          <p:nvPr/>
        </p:nvSpPr>
        <p:spPr>
          <a:xfrm>
            <a:off x="8321040" y="4059935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Reprogramar desligamentos e ajustar a sequência das atividades</a:t>
            </a:r>
          </a:p>
        </p:txBody>
      </p:sp>
      <p:sp>
        <p:nvSpPr>
          <p:cNvPr id="42" name="Risco 5 – fundo">
            <a:extLst>
              <a:ext uri="{FF2B5EF4-FFF2-40B4-BE49-F238E27FC236}">
                <a16:creationId xmlns:a16="http://schemas.microsoft.com/office/drawing/2014/main" id="{E51A9335-BDFC-2E13-4950-B7F7E697FA98}"/>
              </a:ext>
            </a:extLst>
          </p:cNvPr>
          <p:cNvSpPr/>
          <p:nvPr/>
        </p:nvSpPr>
        <p:spPr>
          <a:xfrm>
            <a:off x="457200" y="4754880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isco 5 – nº">
            <a:extLst>
              <a:ext uri="{FF2B5EF4-FFF2-40B4-BE49-F238E27FC236}">
                <a16:creationId xmlns:a16="http://schemas.microsoft.com/office/drawing/2014/main" id="{4BE1B83F-B298-D737-856E-3EDBB1F3DEA0}"/>
              </a:ext>
            </a:extLst>
          </p:cNvPr>
          <p:cNvSpPr/>
          <p:nvPr/>
        </p:nvSpPr>
        <p:spPr>
          <a:xfrm>
            <a:off x="612648" y="4901184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isco 5 – nº texto">
            <a:extLst>
              <a:ext uri="{FF2B5EF4-FFF2-40B4-BE49-F238E27FC236}">
                <a16:creationId xmlns:a16="http://schemas.microsoft.com/office/drawing/2014/main" id="{DF066F9B-F232-D1EC-99B4-D196AE2922FA}"/>
              </a:ext>
            </a:extLst>
          </p:cNvPr>
          <p:cNvSpPr txBox="1"/>
          <p:nvPr/>
        </p:nvSpPr>
        <p:spPr>
          <a:xfrm>
            <a:off x="612648" y="49011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5</a:t>
            </a:r>
          </a:p>
        </p:txBody>
      </p:sp>
      <p:sp>
        <p:nvSpPr>
          <p:cNvPr id="45" name="Risco 5 – título">
            <a:extLst>
              <a:ext uri="{FF2B5EF4-FFF2-40B4-BE49-F238E27FC236}">
                <a16:creationId xmlns:a16="http://schemas.microsoft.com/office/drawing/2014/main" id="{953B94CB-6B38-CABE-1E8C-49916BD8169B}"/>
              </a:ext>
            </a:extLst>
          </p:cNvPr>
          <p:cNvSpPr txBox="1"/>
          <p:nvPr/>
        </p:nvSpPr>
        <p:spPr>
          <a:xfrm>
            <a:off x="1143000" y="4809744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Atraso no comissionamento</a:t>
            </a:r>
          </a:p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Atraso no comissionamento e na energização dos RL/RT</a:t>
            </a:r>
          </a:p>
        </p:txBody>
      </p:sp>
      <p:sp>
        <p:nvSpPr>
          <p:cNvPr id="46" name="Risco 5 – plano">
            <a:extLst>
              <a:ext uri="{FF2B5EF4-FFF2-40B4-BE49-F238E27FC236}">
                <a16:creationId xmlns:a16="http://schemas.microsoft.com/office/drawing/2014/main" id="{EBD2F9C0-8E04-FA5B-AE36-B48F7B85503C}"/>
              </a:ext>
            </a:extLst>
          </p:cNvPr>
          <p:cNvSpPr txBox="1"/>
          <p:nvPr/>
        </p:nvSpPr>
        <p:spPr>
          <a:xfrm>
            <a:off x="4572000" y="4809744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Reunião semanal de acompanhamento da programação de comissionamento</a:t>
            </a:r>
          </a:p>
        </p:txBody>
      </p:sp>
      <p:sp>
        <p:nvSpPr>
          <p:cNvPr id="47" name="Risco 5 – plano">
            <a:extLst>
              <a:ext uri="{FF2B5EF4-FFF2-40B4-BE49-F238E27FC236}">
                <a16:creationId xmlns:a16="http://schemas.microsoft.com/office/drawing/2014/main" id="{1EAAA1C1-E40C-259F-74B0-0EA381C442EE}"/>
              </a:ext>
            </a:extLst>
          </p:cNvPr>
          <p:cNvSpPr txBox="1"/>
          <p:nvPr/>
        </p:nvSpPr>
        <p:spPr>
          <a:xfrm>
            <a:off x="8321040" y="4809744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Reavaliar a programação e adequar para finalizar os equipamentos no prazo</a:t>
            </a:r>
          </a:p>
        </p:txBody>
      </p:sp>
      <p:sp>
        <p:nvSpPr>
          <p:cNvPr id="48" name="Risco 6 – fundo">
            <a:extLst>
              <a:ext uri="{FF2B5EF4-FFF2-40B4-BE49-F238E27FC236}">
                <a16:creationId xmlns:a16="http://schemas.microsoft.com/office/drawing/2014/main" id="{F99F1B40-744B-27E6-7077-2BCD72A3B2F8}"/>
              </a:ext>
            </a:extLst>
          </p:cNvPr>
          <p:cNvSpPr/>
          <p:nvPr/>
        </p:nvSpPr>
        <p:spPr>
          <a:xfrm>
            <a:off x="457200" y="5504688"/>
            <a:ext cx="11277295" cy="676656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isco 6 – nº">
            <a:extLst>
              <a:ext uri="{FF2B5EF4-FFF2-40B4-BE49-F238E27FC236}">
                <a16:creationId xmlns:a16="http://schemas.microsoft.com/office/drawing/2014/main" id="{B5F17DE4-D078-94CD-142E-9B96197BD65E}"/>
              </a:ext>
            </a:extLst>
          </p:cNvPr>
          <p:cNvSpPr/>
          <p:nvPr/>
        </p:nvSpPr>
        <p:spPr>
          <a:xfrm>
            <a:off x="612648" y="5650992"/>
            <a:ext cx="384048" cy="384048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isco 6 – nº texto">
            <a:extLst>
              <a:ext uri="{FF2B5EF4-FFF2-40B4-BE49-F238E27FC236}">
                <a16:creationId xmlns:a16="http://schemas.microsoft.com/office/drawing/2014/main" id="{634F2688-9FDF-46E4-5F17-C45E4CE45D30}"/>
              </a:ext>
            </a:extLst>
          </p:cNvPr>
          <p:cNvSpPr txBox="1"/>
          <p:nvPr/>
        </p:nvSpPr>
        <p:spPr>
          <a:xfrm>
            <a:off x="612648" y="56509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DM Sans"/>
              </a:rPr>
              <a:t>6</a:t>
            </a:r>
          </a:p>
        </p:txBody>
      </p:sp>
      <p:sp>
        <p:nvSpPr>
          <p:cNvPr id="51" name="Risco 6 – título">
            <a:extLst>
              <a:ext uri="{FF2B5EF4-FFF2-40B4-BE49-F238E27FC236}">
                <a16:creationId xmlns:a16="http://schemas.microsoft.com/office/drawing/2014/main" id="{B0EBF816-0838-60F5-B9AD-593D992704DF}"/>
              </a:ext>
            </a:extLst>
          </p:cNvPr>
          <p:cNvSpPr txBox="1"/>
          <p:nvPr/>
        </p:nvSpPr>
        <p:spPr>
          <a:xfrm>
            <a:off x="1143000" y="5559552"/>
            <a:ext cx="3063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1F4C"/>
                </a:solidFill>
                <a:latin typeface="DM Sans"/>
              </a:rPr>
              <a:t>Abandono de contrato</a:t>
            </a:r>
          </a:p>
          <a:p>
            <a:pPr algn="l"/>
            <a:r>
              <a:rPr sz="950" b="0" i="0">
                <a:solidFill>
                  <a:srgbClr val="4D4D4D"/>
                </a:solidFill>
                <a:latin typeface="DM Sans"/>
              </a:rPr>
              <a:t>Indisponibilidade da empreiteira executora</a:t>
            </a:r>
          </a:p>
        </p:txBody>
      </p:sp>
      <p:sp>
        <p:nvSpPr>
          <p:cNvPr id="52" name="Risco 6 – plano">
            <a:extLst>
              <a:ext uri="{FF2B5EF4-FFF2-40B4-BE49-F238E27FC236}">
                <a16:creationId xmlns:a16="http://schemas.microsoft.com/office/drawing/2014/main" id="{DA587AB9-ACD1-35A5-9550-855BB6AB8081}"/>
              </a:ext>
            </a:extLst>
          </p:cNvPr>
          <p:cNvSpPr txBox="1"/>
          <p:nvPr/>
        </p:nvSpPr>
        <p:spPr>
          <a:xfrm>
            <a:off x="4572000" y="5559552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009FC2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Abertura de RFP</a:t>
            </a:r>
          </a:p>
        </p:txBody>
      </p:sp>
      <p:sp>
        <p:nvSpPr>
          <p:cNvPr id="53" name="Risco 6 – plano">
            <a:extLst>
              <a:ext uri="{FF2B5EF4-FFF2-40B4-BE49-F238E27FC236}">
                <a16:creationId xmlns:a16="http://schemas.microsoft.com/office/drawing/2014/main" id="{059FF739-AC0F-2C5B-7A84-651FF2CDADF0}"/>
              </a:ext>
            </a:extLst>
          </p:cNvPr>
          <p:cNvSpPr txBox="1"/>
          <p:nvPr/>
        </p:nvSpPr>
        <p:spPr>
          <a:xfrm>
            <a:off x="8321040" y="5559552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146304" indent="-146304">
              <a:spcAft>
                <a:spcPts val="100"/>
              </a:spcAft>
              <a:buClr>
                <a:srgbClr val="F47B20"/>
              </a:buClr>
              <a:buFont typeface="Arial"/>
              <a:buChar char="•"/>
            </a:pPr>
            <a:r>
              <a:rPr sz="950" b="0" i="0">
                <a:solidFill>
                  <a:srgbClr val="4D4D4D"/>
                </a:solidFill>
                <a:latin typeface="DM Sans"/>
              </a:rPr>
              <a:t>Remanejamento de equipes entre regionais e aditivo de contratos vigentes</a:t>
            </a:r>
          </a:p>
        </p:txBody>
      </p:sp>
      <p:sp>
        <p:nvSpPr>
          <p:cNvPr id="57" name="Rodapé">
            <a:extLst>
              <a:ext uri="{FF2B5EF4-FFF2-40B4-BE49-F238E27FC236}">
                <a16:creationId xmlns:a16="http://schemas.microsoft.com/office/drawing/2014/main" id="{E531366C-658E-41C2-1864-31F7B0B2EEEA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06  ·  OBRAS DCMD – RL / RT  ·  PN 2027</a:t>
            </a:r>
            <a:r>
              <a:rPr lang="pt-BR" sz="1000" b="1">
                <a:solidFill>
                  <a:srgbClr val="1F1F4C"/>
                </a:solidFill>
                <a:latin typeface="DM Sans"/>
              </a:rPr>
              <a:t/>
            </a:r>
            <a:r>
              <a:rPr sz="900" b="0" i="0">
                <a:solidFill>
                  <a:srgbClr val="989898"/>
                </a:solidFill>
                <a:latin typeface="DM Sans"/>
              </a:rPr>
              <a:t/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/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59" name="Eyebrow">
            <a:extLst>
              <a:ext uri="{FF2B5EF4-FFF2-40B4-BE49-F238E27FC236}">
                <a16:creationId xmlns:a16="http://schemas.microsoft.com/office/drawing/2014/main" id="{8153AAE6-5FBE-B3C8-72C5-6B5318C75EAE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OBRAS DCMD – RL / RT</a:t>
            </a:r>
            <a:r>
              <a:rPr lang="pt-BR" sz="1100" b="1" i="0" spc="150">
                <a:solidFill>
                  <a:srgbClr val="989898"/>
                </a:solidFill>
                <a:latin typeface="DM Sans"/>
              </a:rPr>
              <a:t/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976674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Cronograma Macro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OBRAS DCMD – RL / RT</a:t>
            </a:r>
            <a:r>
              <a:rPr lang="pt-BR" sz="1100" b="1" i="0" spc="150">
                <a:solidFill>
                  <a:srgbClr val="989898"/>
                </a:solidFill>
                <a:latin typeface="DM Sans"/>
              </a:rPr>
              <a:t/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08  ·  OBRAS DCMD – RL / RT  ·  PN 2027</a:t>
            </a:r>
            <a:r>
              <a:rPr lang="pt-BR" sz="1000" b="1">
                <a:solidFill>
                  <a:srgbClr val="1F1F4C"/>
                </a:solidFill>
                <a:latin typeface="DM Sans"/>
              </a:rPr>
              <a:t/>
            </a:r>
            <a:r>
              <a:rPr sz="900" b="0" i="0">
                <a:solidFill>
                  <a:srgbClr val="989898"/>
                </a:solidFill>
                <a:latin typeface="DM Sans"/>
              </a:rPr>
              <a:t/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/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07200" y="1330000"/>
            <a:ext cx="894067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7200" y="1330000"/>
            <a:ext cx="894067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Fev/27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07200" y="1630000"/>
            <a:ext cx="894067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01267" y="1330000"/>
            <a:ext cx="989860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267" y="1330000"/>
            <a:ext cx="98986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Mar/27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1127" y="1330000"/>
            <a:ext cx="957929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1127" y="1330000"/>
            <a:ext cx="957929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1127" y="1630000"/>
            <a:ext cx="957929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49056" y="1330000"/>
            <a:ext cx="989860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49056" y="1330000"/>
            <a:ext cx="98986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38916" y="1330000"/>
            <a:ext cx="957929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38916" y="1330000"/>
            <a:ext cx="957929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38916" y="1630000"/>
            <a:ext cx="957929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96845" y="1330000"/>
            <a:ext cx="989860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6845" y="1330000"/>
            <a:ext cx="98986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6705" y="1330000"/>
            <a:ext cx="989860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6705" y="1330000"/>
            <a:ext cx="98986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Ago/27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6705" y="1630000"/>
            <a:ext cx="989860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76565" y="1330000"/>
            <a:ext cx="957929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76565" y="1330000"/>
            <a:ext cx="957929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Set/27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734495" y="1330000"/>
            <a:ext cx="0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34495" y="1330000"/>
            <a:ext cx="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Out/27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734495" y="1630000"/>
            <a:ext cx="0" cy="3705000"/>
          </a:xfrm>
          <a:prstGeom prst="rect">
            <a:avLst/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1630000"/>
            <a:ext cx="355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B1 · 90811 · RL ×4 · LD UHE Isamu - Ponte Alta - 1UI1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6164" y="1690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4093" y="1690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42367" y="1690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21332" y="1690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iamond 36"/>
          <p:cNvSpPr/>
          <p:nvPr/>
        </p:nvSpPr>
        <p:spPr>
          <a:xfrm>
            <a:off x="6651332" y="1702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8366" y="1630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27/04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1915000"/>
            <a:ext cx="355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B2 · 90811 · RT ×3 · LD UHE Isamu - Ponte Alta - 1UI1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6164" y="1975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44093" y="1975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42367" y="1975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21332" y="1975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iamond 43"/>
          <p:cNvSpPr/>
          <p:nvPr/>
        </p:nvSpPr>
        <p:spPr>
          <a:xfrm>
            <a:off x="6651332" y="1987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08366" y="1915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27/04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200000"/>
            <a:ext cx="355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B3 · 89267 · RT ×2 · LD Xambioá II - Araguanã - 2XB2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80231" y="2260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38160" y="2260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6435" y="2260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15399" y="2260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iamond 50"/>
          <p:cNvSpPr/>
          <p:nvPr/>
        </p:nvSpPr>
        <p:spPr>
          <a:xfrm>
            <a:off x="7545399" y="2272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02433" y="2200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25/05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2485000"/>
            <a:ext cx="355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B4 · 91979 · RL ×1 · QS-LD Gurupi - Duere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80231" y="2545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38160" y="2545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36435" y="2545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615399" y="2545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iamond 57"/>
          <p:cNvSpPr/>
          <p:nvPr/>
        </p:nvSpPr>
        <p:spPr>
          <a:xfrm>
            <a:off x="7545399" y="2557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02433" y="2485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25/05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2770000"/>
            <a:ext cx="355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B5 · 92118 · RL ×1 · QS-4 de Araguaína IV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80231" y="2830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38160" y="2830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36435" y="2830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15399" y="2830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iamond 64"/>
          <p:cNvSpPr/>
          <p:nvPr/>
        </p:nvSpPr>
        <p:spPr>
          <a:xfrm>
            <a:off x="7545399" y="2842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02433" y="2770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25/05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3055000"/>
            <a:ext cx="355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B6 · 70838 · RT ×1 · LD Cristalândia - Lagoa da Confusã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97815" y="3115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55744" y="3115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54019" y="3115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732983" y="3115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iamond 71"/>
          <p:cNvSpPr/>
          <p:nvPr/>
        </p:nvSpPr>
        <p:spPr>
          <a:xfrm>
            <a:off x="8662983" y="3127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20017" y="3055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29/06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3340000"/>
            <a:ext cx="355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B7 · 70978 · RT ×1 · LD Paraíso I - Caseara - 2PR0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97815" y="3400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455744" y="3400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54019" y="3400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32983" y="3400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iamond 78"/>
          <p:cNvSpPr/>
          <p:nvPr/>
        </p:nvSpPr>
        <p:spPr>
          <a:xfrm>
            <a:off x="8662983" y="3412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220017" y="3340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29/06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3625000"/>
            <a:ext cx="355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B8 · 92094 · RL ×3 · QS-LD Palmas - Aparecida do Rio 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97815" y="3685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5744" y="3685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254019" y="3685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732983" y="3685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8662983" y="3697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20017" y="3625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29/06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3910000"/>
            <a:ext cx="355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B9 · 92095 · RL ×1 · QS-LD Palmas - Lajeado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97815" y="3970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455744" y="3970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54019" y="3970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732983" y="3970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iamond 92"/>
          <p:cNvSpPr/>
          <p:nvPr/>
        </p:nvSpPr>
        <p:spPr>
          <a:xfrm>
            <a:off x="8662983" y="3982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20017" y="3910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29/06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4195000"/>
            <a:ext cx="355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B10 · 92101 · RL ×1 · QS-8 de Palmas IV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97815" y="4255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455744" y="4255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54019" y="4255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32983" y="4255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iamond 99"/>
          <p:cNvSpPr/>
          <p:nvPr/>
        </p:nvSpPr>
        <p:spPr>
          <a:xfrm>
            <a:off x="8662983" y="4267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20017" y="4195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29/06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4480000"/>
            <a:ext cx="355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B11 · 92102 · RL ×1 · QS-6 de Palmas IV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497815" y="4540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455744" y="4540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254019" y="4540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732983" y="4540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Diamond 106"/>
          <p:cNvSpPr/>
          <p:nvPr/>
        </p:nvSpPr>
        <p:spPr>
          <a:xfrm>
            <a:off x="8662983" y="4552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220017" y="4480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29/06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4765000"/>
            <a:ext cx="355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B12 · 89249 · RT ×1 · LD Araguaína - Babaçulândia - 2AR0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509466" y="4825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467396" y="4825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265670" y="4825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744634" y="4825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Diamond 113"/>
          <p:cNvSpPr/>
          <p:nvPr/>
        </p:nvSpPr>
        <p:spPr>
          <a:xfrm>
            <a:off x="10674634" y="4837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231668" y="4765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31/08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5050000"/>
            <a:ext cx="355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B13 · 89307 · RT ×1 · 1 de Figueirópolis - 2FGR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509466" y="5110000"/>
            <a:ext cx="957929" cy="16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467396" y="5110000"/>
            <a:ext cx="798274" cy="16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265670" y="5110000"/>
            <a:ext cx="478964" cy="16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744634" y="5110000"/>
            <a:ext cx="447033" cy="16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Diamond 120"/>
          <p:cNvSpPr/>
          <p:nvPr/>
        </p:nvSpPr>
        <p:spPr>
          <a:xfrm>
            <a:off x="10674634" y="5122500"/>
            <a:ext cx="140000" cy="14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231668" y="5050000"/>
            <a:ext cx="1000000" cy="28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Op. 31/08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7200" y="5455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7200" y="542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253200" y="5455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453200" y="542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Fiscalização, cadastro e TCI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289200" y="5455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489200" y="542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19200" y="5455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719200" y="542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Encerramentos</a:t>
            </a:r>
          </a:p>
        </p:txBody>
      </p:sp>
      <p:sp>
        <p:nvSpPr>
          <p:cNvPr id="131" name="Diamond 130"/>
          <p:cNvSpPr/>
          <p:nvPr/>
        </p:nvSpPr>
        <p:spPr>
          <a:xfrm>
            <a:off x="5625200" y="543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815200" y="5425000"/>
            <a:ext cx="2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Equipamentos em operação (energização)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7200" y="5665000"/>
            <a:ext cx="11200000" cy="300000"/>
          </a:xfrm>
          <a:prstGeom prst="rect">
            <a:avLst/>
          </a:prstGeom>
          <a:noFill/>
        </p:spPr>
        <p:txBody>
          <a:bodyPr wrap="square" lIns="36000" rIns="36000" tIns="0" bIns="0" anchor="t">
            <a:spAutoFit/>
          </a:bodyPr>
          <a:lstStyle/>
          <a:p>
            <a:pPr algn="l"/>
            <a:r>
              <a:rPr sz="800" b="0" i="1">
                <a:solidFill>
                  <a:srgbClr val="4D4D4D"/>
                </a:solidFill>
                <a:latin typeface="DM Sans"/>
              </a:rPr>
              <a:t>Marco "Equipamentos em Operação" no último dia útil do mês de energização previsto no PN. Prazos padrão dos blocos RL/RT/BC da WBS 2026; cronograma calculado de trás para frente.</a:t>
            </a:r>
          </a:p>
        </p:txBody>
      </p:sp>
    </p:spTree>
    <p:extLst>
      <p:ext uri="{BB962C8B-B14F-4D97-AF65-F5344CB8AC3E}">
        <p14:creationId xmlns:p14="http://schemas.microsoft.com/office/powerpoint/2010/main" val="174886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76656" y="2468880"/>
            <a:ext cx="6400800" cy="1280160"/>
          </a:xfrm>
        </p:spPr>
        <p:txBody>
          <a:bodyPr lIns="0" tIns="0" rIns="0" bIns="0" anchor="t"/>
          <a:lstStyle/>
          <a:p>
            <a:r>
              <a:rPr sz="9200" b="1" i="0" spc="-150">
                <a:solidFill>
                  <a:srgbClr val="1F1F4C"/>
                </a:solidFill>
                <a:latin typeface="DM Sans"/>
              </a:rPr>
              <a:t>Obrigado</a:t>
            </a:r>
            <a:r>
              <a:rPr sz="9200" b="1" i="0">
                <a:solidFill>
                  <a:srgbClr val="F47B20"/>
                </a:solidFill>
                <a:latin typeface="DM Sans"/>
              </a:rPr>
              <a:t>.</a:t>
            </a:r>
          </a:p>
        </p:txBody>
      </p:sp>
      <p:sp>
        <p:nvSpPr>
          <p:cNvPr id="4" name="Anel 1"/>
          <p:cNvSpPr/>
          <p:nvPr/>
        </p:nvSpPr>
        <p:spPr>
          <a:xfrm>
            <a:off x="6492240" y="-502919"/>
            <a:ext cx="7863840" cy="7863840"/>
          </a:xfrm>
          <a:prstGeom prst="ellipse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el 2"/>
          <p:cNvSpPr/>
          <p:nvPr/>
        </p:nvSpPr>
        <p:spPr>
          <a:xfrm>
            <a:off x="7406640" y="411480"/>
            <a:ext cx="6035040" cy="6035040"/>
          </a:xfrm>
          <a:prstGeom prst="ellipse">
            <a:avLst/>
          </a:prstGeom>
          <a:noFill/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el 3"/>
          <p:cNvSpPr/>
          <p:nvPr/>
        </p:nvSpPr>
        <p:spPr>
          <a:xfrm>
            <a:off x="8321040" y="1325880"/>
            <a:ext cx="4206240" cy="4206240"/>
          </a:xfrm>
          <a:prstGeom prst="ellipse">
            <a:avLst/>
          </a:prstGeom>
          <a:noFill/>
          <a:ln w="15875">
            <a:solidFill>
              <a:srgbClr val="009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Esfera gradiente"/>
          <p:cNvSpPr/>
          <p:nvPr/>
        </p:nvSpPr>
        <p:spPr>
          <a:xfrm>
            <a:off x="9464040" y="2468880"/>
            <a:ext cx="1920240" cy="1920240"/>
          </a:xfrm>
          <a:prstGeom prst="ellipse">
            <a:avLst/>
          </a:prstGeom>
          <a:gradFill rotWithShape="1">
            <a:gsLst>
              <a:gs pos="0">
                <a:srgbClr val="009FC2"/>
              </a:gs>
              <a:gs pos="100000">
                <a:srgbClr val="B5E622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onto laranja"/>
          <p:cNvSpPr/>
          <p:nvPr/>
        </p:nvSpPr>
        <p:spPr>
          <a:xfrm>
            <a:off x="8247888" y="1783080"/>
            <a:ext cx="201168" cy="201168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Logo Energisa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1600200" cy="520954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731520" y="2148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47B20"/>
                </a:solidFill>
                <a:latin typeface="DM Sans"/>
              </a:rPr>
              <a:t>KICKOFF MEETING  ·  PN 2027  ·  OBRAS DCMD – RL / RT</a:t>
            </a:r>
          </a:p>
        </p:txBody>
      </p:sp>
      <p:sp>
        <p:nvSpPr>
          <p:cNvPr id="11" name="Mensagem"/>
          <p:cNvSpPr txBox="1"/>
          <p:nvPr/>
        </p:nvSpPr>
        <p:spPr>
          <a:xfrm>
            <a:off x="731520" y="3840480"/>
            <a:ext cx="6035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600">
                <a:solidFill>
                  <a:srgbClr val="4D4D4D"/>
                </a:solidFill>
                <a:latin typeface="DM Sans"/>
              </a:rPr>
              <a:t>Escritório de Projetos PMO-ETO</a:t>
            </a:r>
            <a:endParaRPr sz="1600" b="0" i="0">
              <a:solidFill>
                <a:srgbClr val="4D4D4D"/>
              </a:solidFill>
              <a:latin typeface="DM Sans"/>
            </a:endParaRPr>
          </a:p>
        </p:txBody>
      </p:sp>
      <p:sp>
        <p:nvSpPr>
          <p:cNvPr id="12" name="Badge user"/>
          <p:cNvSpPr/>
          <p:nvPr/>
        </p:nvSpPr>
        <p:spPr>
          <a:xfrm>
            <a:off x="731520" y="5257800"/>
            <a:ext cx="402336" cy="402336"/>
          </a:xfrm>
          <a:prstGeom prst="ellipse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Ícone user" descr="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5358384"/>
            <a:ext cx="201168" cy="201168"/>
          </a:xfrm>
          <a:prstGeom prst="rect">
            <a:avLst/>
          </a:prstGeom>
        </p:spPr>
      </p:pic>
      <p:sp>
        <p:nvSpPr>
          <p:cNvPr id="14" name="Contato GERENTE DO PROJETO"/>
          <p:cNvSpPr txBox="1"/>
          <p:nvPr/>
        </p:nvSpPr>
        <p:spPr>
          <a:xfrm>
            <a:off x="1261872" y="5239512"/>
            <a:ext cx="201168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9898"/>
                </a:solidFill>
                <a:latin typeface="DM Sans"/>
              </a:rPr>
              <a:t>GERENTE DO PROJETO</a:t>
            </a:r>
          </a:p>
          <a:p>
            <a:pPr algn="l"/>
            <a:r>
              <a:rPr lang="pt-BR" sz="1300" b="1" i="0">
                <a:solidFill>
                  <a:srgbClr val="1F1F4C"/>
                </a:solidFill>
                <a:latin typeface="DM Sans"/>
              </a:rPr>
              <a:t>SANDRO PADILHA</a:t>
            </a:r>
            <a:endParaRPr sz="1300" b="1" i="0">
              <a:solidFill>
                <a:srgbClr val="1F1F4C"/>
              </a:solidFill>
              <a:latin typeface="DM Sans"/>
            </a:endParaRPr>
          </a:p>
        </p:txBody>
      </p:sp>
      <p:sp>
        <p:nvSpPr>
          <p:cNvPr id="15" name="Badge pin"/>
          <p:cNvSpPr/>
          <p:nvPr/>
        </p:nvSpPr>
        <p:spPr>
          <a:xfrm>
            <a:off x="3063240" y="5257800"/>
            <a:ext cx="402336" cy="402336"/>
          </a:xfrm>
          <a:prstGeom prst="ellipse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Ícone pin" descr="p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5358384"/>
            <a:ext cx="201168" cy="201168"/>
          </a:xfrm>
          <a:prstGeom prst="rect">
            <a:avLst/>
          </a:prstGeom>
        </p:spPr>
      </p:pic>
      <p:sp>
        <p:nvSpPr>
          <p:cNvPr id="17" name="Contato UNIDADE"/>
          <p:cNvSpPr txBox="1"/>
          <p:nvPr/>
        </p:nvSpPr>
        <p:spPr>
          <a:xfrm>
            <a:off x="3593592" y="5239512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89898"/>
                </a:solidFill>
                <a:latin typeface="DM Sans"/>
              </a:rPr>
              <a:t>UNIDADE</a:t>
            </a:r>
          </a:p>
          <a:p>
            <a:pPr algn="l"/>
            <a:r>
              <a:rPr sz="1300" b="1" i="0">
                <a:solidFill>
                  <a:srgbClr val="1F1F4C"/>
                </a:solidFill>
                <a:latin typeface="DM Sans"/>
              </a:rPr>
              <a:t>Energisa Tocantins</a:t>
            </a:r>
          </a:p>
        </p:txBody>
      </p:sp>
      <p:cxnSp>
        <p:nvCxnSpPr>
          <p:cNvPr id="18" name="Separador"/>
          <p:cNvCxnSpPr/>
          <p:nvPr/>
        </p:nvCxnSpPr>
        <p:spPr>
          <a:xfrm>
            <a:off x="2852928" y="5257800"/>
            <a:ext cx="0" cy="411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Escopo por Projeto (SIGCO)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OBRAS DCMD – RL / RT</a:t>
            </a:r>
            <a:r>
              <a:rPr lang="pt-BR" sz="1100" b="1" i="0" spc="150">
                <a:solidFill>
                  <a:srgbClr val="989898"/>
                </a:solidFill>
                <a:latin typeface="DM Sans"/>
              </a:rPr>
              <a:t/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03  ·  OBRAS DCMD – RL / RT  ·  PN 2027</a:t>
            </a:r>
            <a:r>
              <a:rPr lang="pt-BR" sz="1000" b="1">
                <a:solidFill>
                  <a:srgbClr val="1F1F4C"/>
                </a:solidFill>
                <a:latin typeface="DM Sans"/>
              </a:rPr>
              <a:t/>
            </a:r>
            <a:r>
              <a:rPr sz="900" b="0" i="0">
                <a:solidFill>
                  <a:srgbClr val="989898"/>
                </a:solidFill>
                <a:latin typeface="DM Sans"/>
              </a:rPr>
              <a:t/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/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30000"/>
          <a:ext cx="11130000" cy="462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60000"/>
                <a:gridCol w="420000"/>
                <a:gridCol w="3150000"/>
                <a:gridCol w="2900000"/>
                <a:gridCol w="850000"/>
                <a:gridCol w="950000"/>
                <a:gridCol w="2300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Tipo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Projeto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Equipamentos especiais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Energização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Orç. 2027 (R$ mil)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Benefício (ficha PN)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QP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Instalação de RL e RT - LD UHE Isamu - Ponte Alta - 1UI1 - QP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 RL 34,5 kV + 3 RT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Abr/27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1.802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Tensão 0,91 → 0,95 pu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89267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QP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Xambioá II - Araguanã - 2XB2 - QP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 RT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Mai/27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802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Tensão 0,929 → 0,945 pu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QS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Estudo de QS-LD Gurupi - Duere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rural 34,5 kV + 3 TripSaver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Mai/27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240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DEC −0,557 h · FEC −0,104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92118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QS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Estudo de QS-4 de Araguaína IV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Mai/27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DEC −0,078 h · FEC −0,030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70838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QP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Cristalândia - Lagoa da Confusão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400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Tensão 0,91 → 0,96 pu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70978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QP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Instalação de RT e Balanceamento de Fase - LD Paraíso I - Caseara - 2PR0 - QP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400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Tensão 0,91 → 0,97 pu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92094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QS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Estudo de QS-LD Palmas - Aparecida do Rio Negro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 RL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391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DEC −0,402 h · FEC −0,204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92095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QS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Estudo de QS-LD Palmas - Lajeado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130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DEC −0,325 h · FEC −0,069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92101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QS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Estudo de QS-8 de Palmas IV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DEC −0,141 h · FEC −0,076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92102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QS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Estudo de QS-6 de Palmas IV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Jun/27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DEC −0,043 h · FEC −0,017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89249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QP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Instalação de RT - LD Araguaína - Babaçulândia - 2AR0 - QP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Ago/27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400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Tensão 0,921 → 0,953 pu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QP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Instalação de RT - 1 de Figueirópolis - 2FGR - QP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13,8 kV + remanejamento de 1 RL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Ago/27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331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Tensão 0,92 → 0,96 pu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12 RL · 9 RT · 3 TripSaver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>5.227</a:t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1F4C"/>
                          </a:solidFill>
                          <a:latin typeface="DM Sans"/>
                        </a:rPr>
                        <a:t/>
                      </a:r>
                    </a:p>
                  </a:txBody>
                  <a:tcPr marL="45000" marR="45000" marT="15000" marB="15000" anchor="ctr">
                    <a:solidFill>
                      <a:srgbClr val="E3E6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Aquisições e Contratações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OBRAS DCMD – RL / RT</a:t>
            </a:r>
            <a:r>
              <a:rPr lang="pt-BR" sz="1100" b="1" i="0" spc="150">
                <a:solidFill>
                  <a:srgbClr val="989898"/>
                </a:solidFill>
                <a:latin typeface="DM Sans"/>
              </a:rPr>
              <a:t/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07  ·  OBRAS DCMD – RL / RT  ·  PN 2027</a:t>
            </a:r>
            <a:r>
              <a:rPr lang="pt-BR" sz="1000" b="1">
                <a:solidFill>
                  <a:srgbClr val="1F1F4C"/>
                </a:solidFill>
                <a:latin typeface="DM Sans"/>
              </a:rPr>
              <a:t/>
            </a:r>
            <a:r>
              <a:rPr sz="900" b="0" i="0">
                <a:solidFill>
                  <a:srgbClr val="989898"/>
                </a:solidFill>
                <a:latin typeface="DM Sans"/>
              </a:rPr>
              <a:t/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/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00000"/>
          <a:ext cx="11200000" cy="336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300000"/>
                <a:gridCol w="600000"/>
                <a:gridCol w="3200000"/>
                <a:gridCol w="1300000"/>
                <a:gridCol w="1500000"/>
                <a:gridCol w="1300000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Material / serviço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Qtd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Necessário até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Status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DM Sans"/>
                        </a:rPr>
                        <a:t>Nº PMA / RFP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Religador (RL)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91979, 92094, 92095, 90811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16/02/2027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Religador (RL) 13,8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92118, 92101, 92102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16/03/2027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Regulador de tensão (RT)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89267, 70838, 70978, 90811, 89249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16/02/2027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Regulador de tensão (RT) 13,8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22/06/2027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TripSaver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16/03/2027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A confirmar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Remanejamento de religador (RL)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22/06/2027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Sem aquisição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Empreiteira executora da obra (contrato vigente)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Todos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16/02/2027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Contrato vigente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4D4D4D"/>
                          </a:solidFill>
                          <a:latin typeface="DM Sans"/>
                        </a:rPr>
                        <a:t>–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880000"/>
            <a:ext cx="11200000" cy="450000"/>
          </a:xfrm>
          <a:prstGeom prst="rect">
            <a:avLst/>
          </a:prstGeom>
          <a:noFill/>
        </p:spPr>
        <p:txBody>
          <a:bodyPr wrap="square" lIns="36000" rIns="36000" tIns="0" bIns="0" anchor="t">
            <a:spAutoFit/>
          </a:bodyPr>
          <a:lstStyle/>
          <a:p>
            <a:pPr algn="l"/>
            <a:r>
              <a:rPr sz="900" b="0" i="1">
                <a:solidFill>
                  <a:srgbClr val="4D4D4D"/>
                </a:solidFill>
                <a:latin typeface="DM Sans"/>
              </a:rPr>
              <a:t>"Necessário até" = início da execução do bloco mais cedo que usa o item (WBS). Status e nº de PMA/RFP a confirmar com Suprimentos – informações não constam nas planilhas recebidas.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Estrutura Analítica do Projeto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OBRAS DCMD – RL / RT</a:t>
            </a:r>
            <a:r>
              <a:rPr lang="pt-BR" sz="1100" b="1" i="0" spc="150">
                <a:solidFill>
                  <a:srgbClr val="989898"/>
                </a:solidFill>
                <a:latin typeface="DM Sans"/>
              </a:rPr>
              <a:t/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09  ·  OBRAS DCMD – RL / RT  ·  PN 2027</a:t>
            </a:r>
            <a:r>
              <a:rPr lang="pt-BR" sz="1000" b="1">
                <a:solidFill>
                  <a:srgbClr val="1F1F4C"/>
                </a:solidFill>
                <a:latin typeface="DM Sans"/>
              </a:rPr>
              <a:t/>
            </a:r>
            <a:r>
              <a:rPr sz="900" b="0" i="0">
                <a:solidFill>
                  <a:srgbClr val="989898"/>
                </a:solidFill>
                <a:latin typeface="DM Sans"/>
              </a:rPr>
              <a:t/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/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1450000"/>
            <a:ext cx="2300000" cy="1500000"/>
          </a:xfrm>
          <a:prstGeom prst="round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0000" y="1480000"/>
            <a:ext cx="2180000" cy="144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1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PN 2027 – Obras DCMD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DM Sans"/>
              </a:rPr>
              <a:t>Instalação de equipamentos especiais (RL / RT / BC)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000000" y="1330000"/>
          <a:ext cx="6050000" cy="4200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00000"/>
                <a:gridCol w="3000000"/>
                <a:gridCol w="650000"/>
                <a:gridCol w="1800000"/>
              </a:tblGrid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WBS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Bloco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SIGCO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DM Sans"/>
                        </a:rPr>
                        <a:t>Equipamento</a:t>
                      </a:r>
                    </a:p>
                  </a:txBody>
                  <a:tcPr marL="45000" marR="45000" marT="15000" marB="15000" anchor="ctr">
                    <a:solidFill>
                      <a:srgbClr val="1F1F4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 – LD UHE Isamu - Ponte Alta - 1UI1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4 RL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2 – LD UHE Isamu - Ponte Alta - 1UI1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90811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 RT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3 – LD Xambioá II - Araguanã - 2XB2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89267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2 RT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1.4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4 – QS-LD Gurupi - Duere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91979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rural 34,5 kV + 3 TripSaver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1.5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5 – QS-4 de Araguaína IV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92118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1.6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6 – LD Cristalândia - Lagoa da Confusão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70838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7 – LD Paraíso I - Caseara - 2PR0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70978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1.8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8 – QS-LD Palmas - Aparecida do Rio Negro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92094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3 RL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1.9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9 – QS-LD Palmas - Lajeado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92095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34,5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1.10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10 – QS-8 de Palmas IV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92101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1.11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11 – QS-6 de Palmas IV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92102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RL 13,8 kV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1.12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12 – LD Araguaína - Babaçulândia - 2AR0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89249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34,5 kV</a:t>
                      </a:r>
                    </a:p>
                  </a:txBody>
                  <a:tcPr marL="45000" marR="45000" marT="15000" marB="15000" anchor="ctr">
                    <a:solidFill>
                      <a:srgbClr val="F3F5F8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1.13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BLOCO 13 – 1 de Figueirópolis - 2FGR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89307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solidFill>
                            <a:srgbClr val="4D4D4D"/>
                          </a:solidFill>
                          <a:latin typeface="DM Sans"/>
                        </a:rPr>
                        <a:t>1 RT 13,8 kV + remanejamento de 1 RL</a:t>
                      </a:r>
                    </a:p>
                  </a:txBody>
                  <a:tcPr marL="45000" marR="45000" marT="15000" marB="1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200000" y="1330000"/>
            <a:ext cx="2530000" cy="4500000"/>
          </a:xfrm>
          <a:prstGeom prst="roundRect">
            <a:avLst/>
          </a:prstGeom>
          <a:solidFill>
            <a:srgbClr val="F3F5F8"/>
          </a:solidFill>
          <a:ln w="9525">
            <a:solidFill>
              <a:srgbClr val="D9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60000" y="1400000"/>
            <a:ext cx="2420000" cy="4400000"/>
          </a:xfrm>
          <a:prstGeom prst="rect">
            <a:avLst/>
          </a:prstGeom>
          <a:noFill/>
        </p:spPr>
        <p:txBody>
          <a:bodyPr wrap="square" lIns="36000" rIns="36000" tIns="0" bIns="0" anchor="t">
            <a:spAutoFit/>
          </a:bodyPr>
          <a:lstStyle/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Pacotes de trabalho de cada bloco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1.n.1  Executar obras (30 / 45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1.n.2  Obras concluídas ◆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1.n.3  Fiscalização (12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1.n.4  Cadastro EO / Integração parcial (10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1.n.5  Entrega do TCI / Integração final (15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1.n.6  Chamado / Atend. GAT – só RL (8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1.n.7  Comissionar equipamentos (15 d)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1.n.8  Equipamentos em operação ◆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1.n.9  Encerramento técnico (7 du)</a:t>
            </a:r>
          </a:p>
          <a:p>
            <a:pPr algn="l"/>
            <a:r>
              <a:rPr sz="900" b="0" i="0">
                <a:solidFill>
                  <a:srgbClr val="4D4D4D"/>
                </a:solidFill>
                <a:latin typeface="DM Sans"/>
              </a:rPr>
              <a:t>1.n.10  Encerramento contábil (3 du)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57200" y="2200000"/>
            <a:ext cx="242800" cy="0"/>
          </a:xfrm>
          <a:prstGeom prst="line">
            <a:avLst/>
          </a:prstGeom>
          <a:ln w="19050">
            <a:solidFill>
              <a:srgbClr val="1F1F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3200000"/>
            <a:ext cx="2300000" cy="1700000"/>
          </a:xfrm>
          <a:prstGeom prst="rect">
            <a:avLst/>
          </a:prstGeom>
          <a:noFill/>
        </p:spPr>
        <p:txBody>
          <a:bodyPr wrap="square" lIns="36000" rIns="36000" tIns="0" bIns="0" anchor="t">
            <a:spAutoFit/>
          </a:bodyPr>
          <a:lstStyle/>
          <a:p>
            <a:pPr algn="l"/>
            <a:r>
              <a:rPr sz="900" b="0" i="1">
                <a:solidFill>
                  <a:srgbClr val="4D4D4D"/>
                </a:solidFill>
                <a:latin typeface="DM Sans"/>
              </a:rPr>
              <a:t>Escopo do prazo: somente blocos de instalação de equipamentos especiais. Obras de rede (RD MT), projeto executivo e recebimento de material ficam fora desta WBS.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Cronograma Detalhado (1/4)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OBRAS DCMD – RL / RT</a:t>
            </a:r>
            <a:r>
              <a:rPr lang="pt-BR" sz="1100" b="1" i="0" spc="150">
                <a:solidFill>
                  <a:srgbClr val="989898"/>
                </a:solidFill>
                <a:latin typeface="DM Sans"/>
              </a:rPr>
              <a:t/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10  ·  OBRAS DCMD – RL / RT  ·  PN 2027</a:t>
            </a:r>
            <a:r>
              <a:rPr lang="pt-BR" sz="1000" b="1">
                <a:solidFill>
                  <a:srgbClr val="1F1F4C"/>
                </a:solidFill>
                <a:latin typeface="DM Sans"/>
              </a:rPr>
              <a:t/>
            </a:r>
            <a:r>
              <a:rPr sz="900" b="0" i="0">
                <a:solidFill>
                  <a:srgbClr val="989898"/>
                </a:solidFill>
                <a:latin typeface="DM Sans"/>
              </a:rPr>
              <a:t/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/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DM Sans"/>
              </a:rPr>
              <a:t>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Dur. · Início – Término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7200" y="1300000"/>
            <a:ext cx="932238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57200" y="1300000"/>
            <a:ext cx="932238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Fev/27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89438" y="1300000"/>
            <a:ext cx="1699964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9438" y="1300000"/>
            <a:ext cx="1699964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Mar/27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89403" y="1300000"/>
            <a:ext cx="1645127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9403" y="1300000"/>
            <a:ext cx="1645127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34530" y="1300000"/>
            <a:ext cx="1699964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34530" y="1300000"/>
            <a:ext cx="1699964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 1  ·  SIGCO 90811  ·  RL  —  4 RL 34,5 kV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5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7200" y="185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16/02 – 18/03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76550" y="1910000"/>
            <a:ext cx="1645127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7556677" y="191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11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7200" y="211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19/03 – 31/03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76514" y="2165000"/>
            <a:ext cx="658050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36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7200" y="236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01/04 – 11/04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9403" y="2420000"/>
            <a:ext cx="548375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62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07200" y="262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12/04 – 27/04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2616" y="2675000"/>
            <a:ext cx="822563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87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7200" y="287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8 d · 12/04 – 20/04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92616" y="2930000"/>
            <a:ext cx="438700" cy="14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13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07200" y="313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12/04 – 27/04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92616" y="3185000"/>
            <a:ext cx="822563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iamond 41"/>
          <p:cNvSpPr/>
          <p:nvPr/>
        </p:nvSpPr>
        <p:spPr>
          <a:xfrm>
            <a:off x="9750180" y="3192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38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07200" y="338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28/04 – 06/05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0017" y="3440000"/>
            <a:ext cx="438700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64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07200" y="364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07/05 – 11/05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363555" y="3695000"/>
            <a:ext cx="219350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3895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3925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3925000"/>
            <a:ext cx="11277295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 2  ·  SIGCO 90811  ·  RT  —  3 RT 34,5 kV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18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07200" y="418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16/02 – 18/03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76550" y="4235000"/>
            <a:ext cx="1645127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iamond 54"/>
          <p:cNvSpPr/>
          <p:nvPr/>
        </p:nvSpPr>
        <p:spPr>
          <a:xfrm>
            <a:off x="7556677" y="4242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43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07200" y="443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19/03 – 31/03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76514" y="4490000"/>
            <a:ext cx="658050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69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07200" y="469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01/04 – 11/04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89403" y="4745000"/>
            <a:ext cx="548375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94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07200" y="494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12/04 – 27/04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92616" y="5000000"/>
            <a:ext cx="822563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20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07200" y="520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12/04 – 27/04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92616" y="5255000"/>
            <a:ext cx="822563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9750180" y="5262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45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07200" y="545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28/04 – 06/05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70017" y="5510000"/>
            <a:ext cx="438700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71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07200" y="571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07/05 – 11/05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63555" y="5765000"/>
            <a:ext cx="219350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7200" y="5965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7200" y="6085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7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33200" y="6085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33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Fiscalização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97200" y="6085000"/>
            <a:ext cx="180000" cy="120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97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Cadastro EO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89200" y="6085000"/>
            <a:ext cx="180000" cy="120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89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TCI / Integração final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73200" y="6085000"/>
            <a:ext cx="180000" cy="120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73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GAT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89200" y="6085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89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69200" y="6085000"/>
            <a:ext cx="180000" cy="12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69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técnico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33200" y="6085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733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contábil</a:t>
            </a:r>
          </a:p>
        </p:txBody>
      </p:sp>
      <p:sp>
        <p:nvSpPr>
          <p:cNvPr id="92" name="Diamond 91"/>
          <p:cNvSpPr/>
          <p:nvPr/>
        </p:nvSpPr>
        <p:spPr>
          <a:xfrm>
            <a:off x="9769200" y="606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59200" y="6055000"/>
            <a:ext cx="2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Marcos: obra concluída / em operação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Cronograma Detalhado (2/4)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OBRAS DCMD – RL / RT</a:t>
            </a:r>
            <a:r>
              <a:rPr lang="pt-BR" sz="1100" b="1" i="0" spc="150">
                <a:solidFill>
                  <a:srgbClr val="989898"/>
                </a:solidFill>
                <a:latin typeface="DM Sans"/>
              </a:rPr>
              <a:t/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11  ·  OBRAS DCMD – RL / RT  ·  PN 2027</a:t>
            </a:r>
            <a:r>
              <a:rPr lang="pt-BR" sz="1000" b="1">
                <a:solidFill>
                  <a:srgbClr val="1F1F4C"/>
                </a:solidFill>
                <a:latin typeface="DM Sans"/>
              </a:rPr>
              <a:t/>
            </a:r>
            <a:r>
              <a:rPr sz="900" b="0" i="0">
                <a:solidFill>
                  <a:srgbClr val="989898"/>
                </a:solidFill>
                <a:latin typeface="DM Sans"/>
              </a:rPr>
              <a:t/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/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DM Sans"/>
              </a:rPr>
              <a:t>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Dur. · Início – Término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7200" y="1300000"/>
            <a:ext cx="1076990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57200" y="1300000"/>
            <a:ext cx="107699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Mar/27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4190" y="1300000"/>
            <a:ext cx="1615485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4190" y="1300000"/>
            <a:ext cx="1615485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9675" y="1300000"/>
            <a:ext cx="1669334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675" y="1300000"/>
            <a:ext cx="1669334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19009" y="1300000"/>
            <a:ext cx="1615485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19009" y="1300000"/>
            <a:ext cx="1615485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 3  ·  SIGCO 89267  ·  RT  —  2 RT 34,5 kV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5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7200" y="185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16/03 – 15/04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72598" y="1910000"/>
            <a:ext cx="1615485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7523083" y="191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11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7200" y="211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16/04 – 28/04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41932" y="2165000"/>
            <a:ext cx="646194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36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7200" y="236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29/04 – 09/05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41976" y="2420000"/>
            <a:ext cx="538495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62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07200" y="262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10/05 – 25/05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34320" y="2675000"/>
            <a:ext cx="807742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87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7200" y="287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10/05 – 25/05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34320" y="2930000"/>
            <a:ext cx="807742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9677063" y="293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13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07200" y="313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26/05 – 03/06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95912" y="3185000"/>
            <a:ext cx="430796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38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07200" y="338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04/06 – 08/06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80558" y="3440000"/>
            <a:ext cx="215398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3640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3670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670000"/>
            <a:ext cx="11277295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BLOCOS 4, 5  ·  SIGCO 91979, 92118  ·  RL  —  1 RL rural 34,5 kV + 3 TripSaver; 1 RL 13,8 kV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2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07200" y="392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16/03 – 15/04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72598" y="3980000"/>
            <a:ext cx="1615485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7523083" y="398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18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07200" y="418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16/04 – 28/04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41932" y="4235000"/>
            <a:ext cx="646194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43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07200" y="443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29/04 – 09/05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41976" y="4490000"/>
            <a:ext cx="538495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69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07200" y="469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10/05 – 25/05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34320" y="4745000"/>
            <a:ext cx="807742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94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07200" y="494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8 d · 10/05 – 18/05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34320" y="5000000"/>
            <a:ext cx="430796" cy="14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20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07200" y="520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10/05 – 25/05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34320" y="5255000"/>
            <a:ext cx="807742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9677063" y="5262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45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07200" y="545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26/05 – 03/06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795912" y="5510000"/>
            <a:ext cx="430796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71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07200" y="571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04/06 – 08/06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80558" y="5765000"/>
            <a:ext cx="215398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7200" y="5965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7200" y="6085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7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33200" y="6085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33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Fiscalização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97200" y="6085000"/>
            <a:ext cx="180000" cy="120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97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Cadastro EO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89200" y="6085000"/>
            <a:ext cx="180000" cy="120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89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TCI / Integração final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73200" y="6085000"/>
            <a:ext cx="180000" cy="120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73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GAT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89200" y="6085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89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69200" y="6085000"/>
            <a:ext cx="180000" cy="12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69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técnico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33200" y="6085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733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contábil</a:t>
            </a:r>
          </a:p>
        </p:txBody>
      </p:sp>
      <p:sp>
        <p:nvSpPr>
          <p:cNvPr id="92" name="Diamond 91"/>
          <p:cNvSpPr/>
          <p:nvPr/>
        </p:nvSpPr>
        <p:spPr>
          <a:xfrm>
            <a:off x="9769200" y="606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59200" y="6055000"/>
            <a:ext cx="2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Marcos: obra concluída / em operação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Cronograma Detalhado (3/4)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OBRAS DCMD – RL / RT</a:t>
            </a:r>
            <a:r>
              <a:rPr lang="pt-BR" sz="1100" b="1" i="0" spc="150">
                <a:solidFill>
                  <a:srgbClr val="989898"/>
                </a:solidFill>
                <a:latin typeface="DM Sans"/>
              </a:rPr>
              <a:t/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12  ·  OBRAS DCMD – RL / RT  ·  PN 2027</a:t>
            </a:r>
            <a:r>
              <a:rPr lang="pt-BR" sz="1000" b="1">
                <a:solidFill>
                  <a:srgbClr val="1F1F4C"/>
                </a:solidFill>
                <a:latin typeface="DM Sans"/>
              </a:rPr>
              <a:t/>
            </a:r>
            <a:r>
              <a:rPr sz="900" b="0" i="0">
                <a:solidFill>
                  <a:srgbClr val="989898"/>
                </a:solidFill>
                <a:latin typeface="DM Sans"/>
              </a:rPr>
              <a:t/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/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DM Sans"/>
              </a:rPr>
              <a:t>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Dur. · Início – Término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7200" y="1300000"/>
            <a:ext cx="837938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57200" y="1300000"/>
            <a:ext cx="837938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Abr/27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95138" y="1300000"/>
            <a:ext cx="1731739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5138" y="1300000"/>
            <a:ext cx="1731739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Mai/27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6878" y="1300000"/>
            <a:ext cx="1675877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6878" y="1300000"/>
            <a:ext cx="1675877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02755" y="1300000"/>
            <a:ext cx="1731739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2755" y="1300000"/>
            <a:ext cx="1731739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BLOCOS 6, 7  ·  SIGCO 70838, 70978  ·  RT  —  1 RT 34,5 kV; 1 RT 34,5 kV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5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7200" y="185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20/04 – 20/05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0650" y="1910000"/>
            <a:ext cx="1675877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7591527" y="191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11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7200" y="211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21/05 – 02/06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12389" y="2165000"/>
            <a:ext cx="670350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36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7200" y="236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03/06 – 13/06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38603" y="2420000"/>
            <a:ext cx="558625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62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07200" y="262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14/06 – 29/06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3091" y="2675000"/>
            <a:ext cx="837938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87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7200" y="287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14/06 – 29/06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3091" y="2930000"/>
            <a:ext cx="837938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9826030" y="293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13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07200" y="313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30/06 – 08/07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6892" y="3185000"/>
            <a:ext cx="446900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38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07200" y="338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09/07 – 13/07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49655" y="3440000"/>
            <a:ext cx="223450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3640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3670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670000"/>
            <a:ext cx="11277295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BLOCOS 8, 9, 10, 11  ·  SIGCO 92094, 92095, 92101, 92102  ·  RL  —  3 RL 34,5 kV; 1 RL 34,5 kV; 1 RL 13,8 kV; 1 RL 13,8 kV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2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07200" y="392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20/04 – 20/05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0650" y="3980000"/>
            <a:ext cx="1675877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7591527" y="398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18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07200" y="418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21/05 – 02/06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12389" y="4235000"/>
            <a:ext cx="670350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43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07200" y="443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03/06 – 13/06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38603" y="4490000"/>
            <a:ext cx="558625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69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07200" y="469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14/06 – 29/06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53091" y="4745000"/>
            <a:ext cx="837938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94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07200" y="494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8 d · 14/06 – 22/06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53091" y="5000000"/>
            <a:ext cx="446900" cy="14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20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07200" y="520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14/06 – 29/06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53091" y="5255000"/>
            <a:ext cx="837938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9826030" y="5262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45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07200" y="545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30/06 – 08/07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946892" y="5510000"/>
            <a:ext cx="446900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71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07200" y="571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09/07 – 13/07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49655" y="5765000"/>
            <a:ext cx="223450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7200" y="5965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7200" y="6085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7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33200" y="6085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33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Fiscalização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97200" y="6085000"/>
            <a:ext cx="180000" cy="120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97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Cadastro EO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89200" y="6085000"/>
            <a:ext cx="180000" cy="120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89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TCI / Integração final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73200" y="6085000"/>
            <a:ext cx="180000" cy="120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73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GAT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89200" y="6085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89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69200" y="6085000"/>
            <a:ext cx="180000" cy="12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69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técnico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33200" y="6085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733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contábil</a:t>
            </a:r>
          </a:p>
        </p:txBody>
      </p:sp>
      <p:sp>
        <p:nvSpPr>
          <p:cNvPr id="92" name="Diamond 91"/>
          <p:cNvSpPr/>
          <p:nvPr/>
        </p:nvSpPr>
        <p:spPr>
          <a:xfrm>
            <a:off x="9769200" y="606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59200" y="6055000"/>
            <a:ext cx="2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Marcos: obra concluída / em operação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itle 2">
            <a:extLst>
              <a:ext uri="{FF2B5EF4-FFF2-40B4-BE49-F238E27FC236}">
                <a16:creationId xmlns:a16="http://schemas.microsoft.com/office/drawing/2014/main" id="{BBAC4CB0-69CB-452A-4A56-4E4A151CF2C1}"/>
              </a:ext>
            </a:extLst>
          </p:cNvPr>
          <p:cNvSpPr txBox="1">
            <a:spLocks/>
          </p:cNvSpPr>
          <p:nvPr/>
        </p:nvSpPr>
        <p:spPr>
          <a:xfrm>
            <a:off x="457200" y="566928"/>
            <a:ext cx="7790688" cy="566928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000" b="1">
                <a:solidFill>
                  <a:srgbClr val="1F1F4C"/>
                </a:solidFill>
                <a:latin typeface="DM Sans"/>
              </a:rPr>
              <a:t>WBS – Cronograma Detalhado (4/4)</a:t>
            </a:r>
          </a:p>
        </p:txBody>
      </p:sp>
      <p:sp>
        <p:nvSpPr>
          <p:cNvPr id="7" name="Eyebrow">
            <a:extLst>
              <a:ext uri="{FF2B5EF4-FFF2-40B4-BE49-F238E27FC236}">
                <a16:creationId xmlns:a16="http://schemas.microsoft.com/office/drawing/2014/main" id="{50824C48-A21F-0B29-3A2A-0036E3CE3299}"/>
              </a:ext>
            </a:extLst>
          </p:cNvPr>
          <p:cNvSpPr txBox="1"/>
          <p:nvPr/>
        </p:nvSpPr>
        <p:spPr>
          <a:xfrm>
            <a:off x="457200" y="347472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F47B20"/>
                </a:solidFill>
                <a:latin typeface="DM Sans"/>
              </a:rPr>
              <a:t>KICKOFF MEETING</a:t>
            </a:r>
            <a:r>
              <a:rPr sz="1100" b="1" i="0" spc="150">
                <a:solidFill>
                  <a:srgbClr val="989898"/>
                </a:solidFill>
                <a:latin typeface="DM Sans"/>
              </a:rPr>
              <a:t>   |   PN 2027  ·  OBRAS DCMD – RL / RT</a:t>
            </a:r>
            <a:r>
              <a:rPr lang="pt-BR" sz="1100" b="1" i="0" spc="150">
                <a:solidFill>
                  <a:srgbClr val="989898"/>
                </a:solidFill>
                <a:latin typeface="DM Sans"/>
              </a:rPr>
              <a:t/>
            </a:r>
            <a:endParaRPr sz="1100" b="1" i="0" spc="15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8" name="Rodapé">
            <a:extLst>
              <a:ext uri="{FF2B5EF4-FFF2-40B4-BE49-F238E27FC236}">
                <a16:creationId xmlns:a16="http://schemas.microsoft.com/office/drawing/2014/main" id="{8F7B4335-BE0B-DF62-CED3-FA23D73E207F}"/>
              </a:ext>
            </a:extLst>
          </p:cNvPr>
          <p:cNvSpPr txBox="1"/>
          <p:nvPr/>
        </p:nvSpPr>
        <p:spPr>
          <a:xfrm>
            <a:off x="457200" y="6428232"/>
            <a:ext cx="73152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F1F4C"/>
                </a:solidFill>
                <a:latin typeface="DM Sans"/>
              </a:rPr>
              <a:t>13  ·  OBRAS DCMD – RL / RT  ·  PN 2027</a:t>
            </a:r>
            <a:r>
              <a:rPr lang="pt-BR" sz="1000" b="1">
                <a:solidFill>
                  <a:srgbClr val="1F1F4C"/>
                </a:solidFill>
                <a:latin typeface="DM Sans"/>
              </a:rPr>
              <a:t/>
            </a:r>
            <a:r>
              <a:rPr sz="900" b="0" i="0">
                <a:solidFill>
                  <a:srgbClr val="989898"/>
                </a:solidFill>
                <a:latin typeface="DM Sans"/>
              </a:rPr>
              <a:t/>
            </a:r>
            <a:r>
              <a:rPr lang="pt-BR" sz="900" b="0" i="0">
                <a:solidFill>
                  <a:srgbClr val="989898"/>
                </a:solidFill>
                <a:latin typeface="DM Sans"/>
              </a:rPr>
              <a:t/>
            </a:r>
            <a:endParaRPr sz="900" b="0" i="0">
              <a:solidFill>
                <a:srgbClr val="989898"/>
              </a:solidFill>
              <a:latin typeface="DM Sa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00000"/>
            <a:ext cx="36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DM Sans"/>
              </a:rPr>
              <a:t>Tarefa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7200" y="1300000"/>
            <a:ext cx="1650000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Dur. · Início – Término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7200" y="1300000"/>
            <a:ext cx="740046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57200" y="1300000"/>
            <a:ext cx="740046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Jun/27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7246" y="1300000"/>
            <a:ext cx="1764725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7246" y="1300000"/>
            <a:ext cx="1764725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Jul/27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1971" y="1300000"/>
            <a:ext cx="1764725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1971" y="1300000"/>
            <a:ext cx="1764725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Ago/27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26696" y="1300000"/>
            <a:ext cx="1707798" cy="300000"/>
          </a:xfrm>
          <a:prstGeom prst="rect">
            <a:avLst/>
          </a:prstGeom>
          <a:solidFill>
            <a:srgbClr val="1F1F4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26696" y="1300000"/>
            <a:ext cx="1707798" cy="30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DM Sans"/>
              </a:rPr>
              <a:t>Set/27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600000"/>
            <a:ext cx="11277295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 12  ·  SIGCO 89249  ·  RT  —  1 RT 34,5 kV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85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7200" y="185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22/06 – 22/07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4906" y="1910000"/>
            <a:ext cx="1707798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7627705" y="191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11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7200" y="211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23/07 – 04/08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9631" y="2165000"/>
            <a:ext cx="683119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36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7200" y="236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05/08 – 15/08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89677" y="2420000"/>
            <a:ext cx="569266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62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07200" y="262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16/08 – 31/08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15870" y="2675000"/>
            <a:ext cx="853899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87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7200" y="287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16/08 – 31/08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15870" y="2930000"/>
            <a:ext cx="853899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9904769" y="293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13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07200" y="313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01/09 – 09/09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26696" y="3185000"/>
            <a:ext cx="455412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38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07200" y="338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10/09 – 14/09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39036" y="3440000"/>
            <a:ext cx="227706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3640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3670000"/>
            <a:ext cx="11277295" cy="255000"/>
          </a:xfrm>
          <a:prstGeom prst="rect">
            <a:avLst/>
          </a:prstGeom>
          <a:solidFill>
            <a:srgbClr val="E3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670000"/>
            <a:ext cx="11277295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1" i="0">
                <a:solidFill>
                  <a:srgbClr val="1F1F4C"/>
                </a:solidFill>
                <a:latin typeface="DM Sans"/>
              </a:rPr>
              <a:t>BLOCO 13  ·  SIGCO 89307  ·  RT  —  1 RT 13,8 kV + remanejamento de 1 RL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92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Executar Obras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07200" y="392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30 d · 22/06 – 22/07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4906" y="3980000"/>
            <a:ext cx="1707798" cy="145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7627705" y="3987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418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Fiscalização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07200" y="418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12 d · 23/07 – 04/08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9631" y="4235000"/>
            <a:ext cx="683119" cy="145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43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Cadastro EO / Integração parcial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07200" y="443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10 d · 05/08 – 15/08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89677" y="4490000"/>
            <a:ext cx="569266" cy="145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69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Entrega do TCI / Integração final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07200" y="469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16/08 – 31/08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15870" y="4745000"/>
            <a:ext cx="853899" cy="145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94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Abertura de chamado / Atendimento GAT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07200" y="494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8 d · 16/08 – 24/08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15870" y="5000000"/>
            <a:ext cx="455412" cy="145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20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Comissionar Equipamentos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07200" y="520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15 d · 16/08 – 31/08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15870" y="5255000"/>
            <a:ext cx="853899" cy="145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iamond 67"/>
          <p:cNvSpPr/>
          <p:nvPr/>
        </p:nvSpPr>
        <p:spPr>
          <a:xfrm>
            <a:off x="9904769" y="5262500"/>
            <a:ext cx="130000" cy="130000"/>
          </a:xfrm>
          <a:prstGeom prst="diamond">
            <a:avLst/>
          </a:prstGeom>
          <a:solidFill>
            <a:srgbClr val="628C0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455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Técnico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07200" y="5455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7 du · 01/09 – 09/09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26696" y="5510000"/>
            <a:ext cx="455412" cy="145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710000"/>
            <a:ext cx="3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   Encerramento Contábil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07200" y="5710000"/>
            <a:ext cx="1650000" cy="255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4D4D4D"/>
                </a:solidFill>
                <a:latin typeface="DM Sans"/>
              </a:rPr>
              <a:t>3 du · 10/09 – 14/09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539036" y="5765000"/>
            <a:ext cx="227706" cy="145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7200" y="5965000"/>
            <a:ext cx="11277295" cy="6000"/>
          </a:xfrm>
          <a:prstGeom prst="rect">
            <a:avLst/>
          </a:prstGeom>
          <a:solidFill>
            <a:srgbClr val="D9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7200" y="6085000"/>
            <a:ext cx="180000" cy="12000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7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Execução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33200" y="6085000"/>
            <a:ext cx="180000" cy="120000"/>
          </a:xfrm>
          <a:prstGeom prst="rect">
            <a:avLst/>
          </a:prstGeom>
          <a:solidFill>
            <a:srgbClr val="009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33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Fiscalização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97200" y="6085000"/>
            <a:ext cx="180000" cy="120000"/>
          </a:xfrm>
          <a:prstGeom prst="rect">
            <a:avLst/>
          </a:prstGeom>
          <a:solidFill>
            <a:srgbClr val="66C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697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Cadastro EO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89200" y="6085000"/>
            <a:ext cx="180000" cy="120000"/>
          </a:xfrm>
          <a:prstGeom prst="rect">
            <a:avLst/>
          </a:prstGeom>
          <a:solidFill>
            <a:srgbClr val="0061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89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TCI / Integração final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73200" y="6085000"/>
            <a:ext cx="180000" cy="120000"/>
          </a:xfrm>
          <a:prstGeom prst="rect">
            <a:avLst/>
          </a:prstGeom>
          <a:solidFill>
            <a:srgbClr val="B5E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73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GAT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89200" y="6085000"/>
            <a:ext cx="180000" cy="120000"/>
          </a:xfrm>
          <a:prstGeom prst="rect">
            <a:avLst/>
          </a:prstGeom>
          <a:solidFill>
            <a:srgbClr val="1F1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89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Comissionamento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69200" y="6085000"/>
            <a:ext cx="180000" cy="120000"/>
          </a:xfrm>
          <a:prstGeom prst="rect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69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técnico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33200" y="6085000"/>
            <a:ext cx="180000" cy="12000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733200" y="6055000"/>
            <a:ext cx="17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Enc. contábil</a:t>
            </a:r>
          </a:p>
        </p:txBody>
      </p:sp>
      <p:sp>
        <p:nvSpPr>
          <p:cNvPr id="92" name="Diamond 91"/>
          <p:cNvSpPr/>
          <p:nvPr/>
        </p:nvSpPr>
        <p:spPr>
          <a:xfrm>
            <a:off x="9769200" y="6065000"/>
            <a:ext cx="150000" cy="150000"/>
          </a:xfrm>
          <a:prstGeom prst="diamond">
            <a:avLst/>
          </a:prstGeom>
          <a:solidFill>
            <a:srgbClr val="628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959200" y="6055000"/>
            <a:ext cx="2800000" cy="180000"/>
          </a:xfrm>
          <a:prstGeom prst="rect">
            <a:avLst/>
          </a:prstGeom>
          <a:noFill/>
        </p:spPr>
        <p:txBody>
          <a:bodyPr wrap="square" lIns="36000" rIns="3600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D4D4D"/>
                </a:solidFill>
                <a:latin typeface="DM Sans"/>
              </a:rPr>
              <a:t>Marcos: obra concluída / em operação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Editável - Energisa 120 An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2C69AF333E13E4EB919682D5E252D96" ma:contentTypeVersion="31" ma:contentTypeDescription="Crie um novo documento." ma:contentTypeScope="" ma:versionID="4a26cd6296a4657b54266c08fb602cc3">
  <xsd:schema xmlns:xsd="http://www.w3.org/2001/XMLSchema" xmlns:xs="http://www.w3.org/2001/XMLSchema" xmlns:p="http://schemas.microsoft.com/office/2006/metadata/properties" xmlns:ns2="d4b7c54a-c95c-45b1-a0ec-9f878b3f9d74" xmlns:ns3="4e1108be-d15a-485d-8259-50667f8093fa" targetNamespace="http://schemas.microsoft.com/office/2006/metadata/properties" ma:root="true" ma:fieldsID="682096db914500dae33c0deb3a2a9c7e" ns2:_="" ns3:_="">
    <xsd:import namespace="d4b7c54a-c95c-45b1-a0ec-9f878b3f9d74"/>
    <xsd:import namespace="4e1108be-d15a-485d-8259-50667f8093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3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b7c54a-c95c-45b1-a0ec-9f878b3f9d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d11c5a5-a68c-4142-b688-1663361a0bb4}" ma:internalName="TaxCatchAll" ma:showField="CatchAllData" ma:web="d4b7c54a-c95c-45b1-a0ec-9f878b3f9d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1108be-d15a-485d-8259-50667f8093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39c4b66d-fcb2-4727-8ac1-aa661c0d97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Observa_x00e7__x00e3_o" ma:index="27" nillable="true" ma:displayName="Observação" ma:internalName="Observa_x00e7__x00e3_o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b7c54a-c95c-45b1-a0ec-9f878b3f9d74" xsi:nil="true"/>
    <lcf76f155ced4ddcb4097134ff3c332f xmlns="4e1108be-d15a-485d-8259-50667f8093fa">
      <Terms xmlns="http://schemas.microsoft.com/office/infopath/2007/PartnerControls"/>
    </lcf76f155ced4ddcb4097134ff3c332f>
    <Observa_x00e7__x00e3_o xmlns="4e1108be-d15a-485d-8259-50667f8093fa" xsi:nil="true"/>
  </documentManagement>
</p:properties>
</file>

<file path=customXml/itemProps1.xml><?xml version="1.0" encoding="utf-8"?>
<ds:datastoreItem xmlns:ds="http://schemas.openxmlformats.org/officeDocument/2006/customXml" ds:itemID="{A06D46B5-83C8-4662-A8A6-08D1E4DFA1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EF19DE-7EC1-4397-9101-AEE086F22B82}"/>
</file>

<file path=customXml/itemProps3.xml><?xml version="1.0" encoding="utf-8"?>
<ds:datastoreItem xmlns:ds="http://schemas.openxmlformats.org/officeDocument/2006/customXml" ds:itemID="{16E76189-FB51-4069-A5B0-16A81CED6150}">
  <ds:schemaRefs>
    <ds:schemaRef ds:uri="8c76aea0-1c1b-4dd6-8598-495cd114ece0"/>
    <ds:schemaRef ds:uri="cb15530b-e024-45e1-8aed-b9f14f99bfb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PPT Editável - Energisa 120 Anos</vt:lpstr>
      <vt:lpstr>Personalizar design</vt:lpstr>
      <vt:lpstr>KICKOFF MEETING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Obrigado.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DPI PUBLICIDADE E EVENTOS</dc:creator>
  <cp:revision>1</cp:revision>
  <dcterms:created xsi:type="dcterms:W3CDTF">2025-01-22T19:35:09Z</dcterms:created>
  <dcterms:modified xsi:type="dcterms:W3CDTF">2026-10-22T17:24:23Z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0x01010042C69AF333E13E4EB919682D5E252D96</vt:lpwstr>
  </property>
  <property fmtid="{D5CDD505-2E9C-101B-9397-08002B2CF9AE}" pid="3" name="MediaServiceImageTags">
    <vt:lpwstr/>
  </property>
</Properties>
</file>